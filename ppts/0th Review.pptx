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74" r:id="rId3"/>
    <p:sldId id="257" r:id="rId4"/>
    <p:sldId id="258" r:id="rId5"/>
    <p:sldId id="260" r:id="rId6"/>
    <p:sldId id="281" r:id="rId7"/>
    <p:sldId id="280" r:id="rId8"/>
    <p:sldId id="263" r:id="rId9"/>
    <p:sldId id="279" r:id="rId10"/>
    <p:sldId id="270" r:id="rId11"/>
    <p:sldId id="268" r:id="rId12"/>
    <p:sldId id="262" r:id="rId13"/>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80810EF-53C0-43AC-AD82-DF72347FBF8D}">
          <p14:sldIdLst>
            <p14:sldId id="256"/>
            <p14:sldId id="274"/>
            <p14:sldId id="257"/>
            <p14:sldId id="258"/>
            <p14:sldId id="260"/>
            <p14:sldId id="281"/>
            <p14:sldId id="280"/>
            <p14:sldId id="263"/>
            <p14:sldId id="279"/>
            <p14:sldId id="270"/>
            <p14:sldId id="268"/>
            <p14:sldId id="26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56" autoAdjust="0"/>
    <p:restoredTop sz="94660"/>
  </p:normalViewPr>
  <p:slideViewPr>
    <p:cSldViewPr snapToGrid="0">
      <p:cViewPr varScale="1">
        <p:scale>
          <a:sx n="57" d="100"/>
          <a:sy n="57" d="100"/>
        </p:scale>
        <p:origin x="78" y="112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44289A0A-592F-4579-AE78-0E63EB14E26A}" type="datetimeFigureOut">
              <a:rPr lang="en-IN" smtClean="0"/>
              <a:pPr/>
              <a:t>28-09-2025</a:t>
            </a:fld>
            <a:endParaRPr lang="en-IN" dirty="0"/>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55088AB0-1C3E-4E44-AC89-1F2440C19E66}" type="slidenum">
              <a:rPr lang="en-IN" smtClean="0"/>
              <a:pPr/>
              <a:t>‹#›</a:t>
            </a:fld>
            <a:endParaRPr lang="en-IN" dirty="0"/>
          </a:p>
        </p:txBody>
      </p:sp>
    </p:spTree>
    <p:extLst>
      <p:ext uri="{BB962C8B-B14F-4D97-AF65-F5344CB8AC3E}">
        <p14:creationId xmlns:p14="http://schemas.microsoft.com/office/powerpoint/2010/main" val="41918898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5088AB0-1C3E-4E44-AC89-1F2440C19E66}" type="slidenum">
              <a:rPr lang="en-IN" smtClean="0"/>
              <a:pPr/>
              <a:t>11</a:t>
            </a:fld>
            <a:endParaRPr lang="en-IN" dirty="0"/>
          </a:p>
        </p:txBody>
      </p:sp>
    </p:spTree>
    <p:extLst>
      <p:ext uri="{BB962C8B-B14F-4D97-AF65-F5344CB8AC3E}">
        <p14:creationId xmlns:p14="http://schemas.microsoft.com/office/powerpoint/2010/main" val="1724562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2F60-AFDA-6F9D-EDFD-B6CA1F6BC5E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4B8FD2C-99F7-6E39-DE12-35A2F121D3F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C5FB768-DF2D-4119-C21B-0B4AC5E1276D}"/>
              </a:ext>
            </a:extLst>
          </p:cNvPr>
          <p:cNvSpPr>
            <a:spLocks noGrp="1"/>
          </p:cNvSpPr>
          <p:nvPr>
            <p:ph type="dt" sz="half" idx="10"/>
          </p:nvPr>
        </p:nvSpPr>
        <p:spPr/>
        <p:txBody>
          <a:bodyPr/>
          <a:lstStyle/>
          <a:p>
            <a:fld id="{87258022-64EF-452F-8D36-0822664E8985}" type="datetime1">
              <a:rPr lang="en-IN" smtClean="0"/>
              <a:pPr/>
              <a:t>28-09-2025</a:t>
            </a:fld>
            <a:endParaRPr lang="en-IN" dirty="0"/>
          </a:p>
        </p:txBody>
      </p:sp>
      <p:sp>
        <p:nvSpPr>
          <p:cNvPr id="5" name="Footer Placeholder 4">
            <a:extLst>
              <a:ext uri="{FF2B5EF4-FFF2-40B4-BE49-F238E27FC236}">
                <a16:creationId xmlns:a16="http://schemas.microsoft.com/office/drawing/2014/main" id="{BA906A2C-9C11-9CB8-3952-D6D6C855036E}"/>
              </a:ext>
            </a:extLst>
          </p:cNvPr>
          <p:cNvSpPr>
            <a:spLocks noGrp="1"/>
          </p:cNvSpPr>
          <p:nvPr>
            <p:ph type="ftr" sz="quarter" idx="11"/>
          </p:nvPr>
        </p:nvSpPr>
        <p:spPr/>
        <p:txBody>
          <a:bodyPr/>
          <a:lstStyle/>
          <a:p>
            <a:r>
              <a:rPr lang="en-IN" dirty="0"/>
              <a:t>Brain Tumor Detection</a:t>
            </a:r>
          </a:p>
        </p:txBody>
      </p:sp>
      <p:sp>
        <p:nvSpPr>
          <p:cNvPr id="6" name="Slide Number Placeholder 5">
            <a:extLst>
              <a:ext uri="{FF2B5EF4-FFF2-40B4-BE49-F238E27FC236}">
                <a16:creationId xmlns:a16="http://schemas.microsoft.com/office/drawing/2014/main" id="{C42E62E5-EA5E-5D9F-71C0-299658447EFE}"/>
              </a:ext>
            </a:extLst>
          </p:cNvPr>
          <p:cNvSpPr>
            <a:spLocks noGrp="1"/>
          </p:cNvSpPr>
          <p:nvPr>
            <p:ph type="sldNum" sz="quarter" idx="12"/>
          </p:nvPr>
        </p:nvSpPr>
        <p:spPr/>
        <p:txBody>
          <a:bodyPr/>
          <a:lstStyle/>
          <a:p>
            <a:fld id="{FFF20539-7144-4945-B20A-62B30D853D34}" type="slidenum">
              <a:rPr lang="en-IN" smtClean="0"/>
              <a:pPr/>
              <a:t>‹#›</a:t>
            </a:fld>
            <a:endParaRPr lang="en-IN" dirty="0"/>
          </a:p>
        </p:txBody>
      </p:sp>
    </p:spTree>
    <p:extLst>
      <p:ext uri="{BB962C8B-B14F-4D97-AF65-F5344CB8AC3E}">
        <p14:creationId xmlns:p14="http://schemas.microsoft.com/office/powerpoint/2010/main" val="2998770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41727-0587-C93F-0A1F-54810F2E99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DE5858B-7655-B37D-2A31-C7776A7E472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0D0B98-D37C-68E8-C29D-14D9893332DA}"/>
              </a:ext>
            </a:extLst>
          </p:cNvPr>
          <p:cNvSpPr>
            <a:spLocks noGrp="1"/>
          </p:cNvSpPr>
          <p:nvPr>
            <p:ph type="dt" sz="half" idx="10"/>
          </p:nvPr>
        </p:nvSpPr>
        <p:spPr/>
        <p:txBody>
          <a:bodyPr/>
          <a:lstStyle/>
          <a:p>
            <a:fld id="{2CC9E186-6116-4DA0-9085-C1235117DB6B}" type="datetime1">
              <a:rPr lang="en-IN" smtClean="0"/>
              <a:pPr/>
              <a:t>28-09-2025</a:t>
            </a:fld>
            <a:endParaRPr lang="en-IN" dirty="0"/>
          </a:p>
        </p:txBody>
      </p:sp>
      <p:sp>
        <p:nvSpPr>
          <p:cNvPr id="5" name="Footer Placeholder 4">
            <a:extLst>
              <a:ext uri="{FF2B5EF4-FFF2-40B4-BE49-F238E27FC236}">
                <a16:creationId xmlns:a16="http://schemas.microsoft.com/office/drawing/2014/main" id="{B9849B6F-1E25-BD8B-C408-C4B43528B0EB}"/>
              </a:ext>
            </a:extLst>
          </p:cNvPr>
          <p:cNvSpPr>
            <a:spLocks noGrp="1"/>
          </p:cNvSpPr>
          <p:nvPr>
            <p:ph type="ftr" sz="quarter" idx="11"/>
          </p:nvPr>
        </p:nvSpPr>
        <p:spPr/>
        <p:txBody>
          <a:bodyPr/>
          <a:lstStyle/>
          <a:p>
            <a:r>
              <a:rPr lang="en-IN" dirty="0"/>
              <a:t>Brain Tumor Detection</a:t>
            </a:r>
          </a:p>
        </p:txBody>
      </p:sp>
      <p:sp>
        <p:nvSpPr>
          <p:cNvPr id="6" name="Slide Number Placeholder 5">
            <a:extLst>
              <a:ext uri="{FF2B5EF4-FFF2-40B4-BE49-F238E27FC236}">
                <a16:creationId xmlns:a16="http://schemas.microsoft.com/office/drawing/2014/main" id="{0638C1E0-63BD-645C-5B4F-18218519B1EB}"/>
              </a:ext>
            </a:extLst>
          </p:cNvPr>
          <p:cNvSpPr>
            <a:spLocks noGrp="1"/>
          </p:cNvSpPr>
          <p:nvPr>
            <p:ph type="sldNum" sz="quarter" idx="12"/>
          </p:nvPr>
        </p:nvSpPr>
        <p:spPr/>
        <p:txBody>
          <a:bodyPr/>
          <a:lstStyle/>
          <a:p>
            <a:fld id="{FFF20539-7144-4945-B20A-62B30D853D34}" type="slidenum">
              <a:rPr lang="en-IN" smtClean="0"/>
              <a:pPr/>
              <a:t>‹#›</a:t>
            </a:fld>
            <a:endParaRPr lang="en-IN" dirty="0"/>
          </a:p>
        </p:txBody>
      </p:sp>
    </p:spTree>
    <p:extLst>
      <p:ext uri="{BB962C8B-B14F-4D97-AF65-F5344CB8AC3E}">
        <p14:creationId xmlns:p14="http://schemas.microsoft.com/office/powerpoint/2010/main" val="364682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8A14C-F613-7B41-7BBA-DB4F68C0B2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4E62C3A-CF0F-418D-0344-5C612DCF98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8A01DD-32EC-E22F-3176-1A1111DF0374}"/>
              </a:ext>
            </a:extLst>
          </p:cNvPr>
          <p:cNvSpPr>
            <a:spLocks noGrp="1"/>
          </p:cNvSpPr>
          <p:nvPr>
            <p:ph type="dt" sz="half" idx="10"/>
          </p:nvPr>
        </p:nvSpPr>
        <p:spPr/>
        <p:txBody>
          <a:bodyPr/>
          <a:lstStyle/>
          <a:p>
            <a:fld id="{B2E76FE1-C54F-4FDD-A6FB-58FD7630B3D2}" type="datetime1">
              <a:rPr lang="en-IN" smtClean="0"/>
              <a:pPr/>
              <a:t>28-09-2025</a:t>
            </a:fld>
            <a:endParaRPr lang="en-IN" dirty="0"/>
          </a:p>
        </p:txBody>
      </p:sp>
      <p:sp>
        <p:nvSpPr>
          <p:cNvPr id="5" name="Footer Placeholder 4">
            <a:extLst>
              <a:ext uri="{FF2B5EF4-FFF2-40B4-BE49-F238E27FC236}">
                <a16:creationId xmlns:a16="http://schemas.microsoft.com/office/drawing/2014/main" id="{2DF0E9C1-31B9-80E8-83DB-127F8E58AD0B}"/>
              </a:ext>
            </a:extLst>
          </p:cNvPr>
          <p:cNvSpPr>
            <a:spLocks noGrp="1"/>
          </p:cNvSpPr>
          <p:nvPr>
            <p:ph type="ftr" sz="quarter" idx="11"/>
          </p:nvPr>
        </p:nvSpPr>
        <p:spPr/>
        <p:txBody>
          <a:bodyPr/>
          <a:lstStyle/>
          <a:p>
            <a:r>
              <a:rPr lang="en-IN" dirty="0"/>
              <a:t>Brain Tumor Detection</a:t>
            </a:r>
          </a:p>
        </p:txBody>
      </p:sp>
      <p:sp>
        <p:nvSpPr>
          <p:cNvPr id="6" name="Slide Number Placeholder 5">
            <a:extLst>
              <a:ext uri="{FF2B5EF4-FFF2-40B4-BE49-F238E27FC236}">
                <a16:creationId xmlns:a16="http://schemas.microsoft.com/office/drawing/2014/main" id="{9A1EE83D-71AB-DBCB-DEF1-EFEBB5A8B628}"/>
              </a:ext>
            </a:extLst>
          </p:cNvPr>
          <p:cNvSpPr>
            <a:spLocks noGrp="1"/>
          </p:cNvSpPr>
          <p:nvPr>
            <p:ph type="sldNum" sz="quarter" idx="12"/>
          </p:nvPr>
        </p:nvSpPr>
        <p:spPr/>
        <p:txBody>
          <a:bodyPr/>
          <a:lstStyle/>
          <a:p>
            <a:fld id="{FFF20539-7144-4945-B20A-62B30D853D34}" type="slidenum">
              <a:rPr lang="en-IN" smtClean="0"/>
              <a:pPr/>
              <a:t>‹#›</a:t>
            </a:fld>
            <a:endParaRPr lang="en-IN" dirty="0"/>
          </a:p>
        </p:txBody>
      </p:sp>
    </p:spTree>
    <p:extLst>
      <p:ext uri="{BB962C8B-B14F-4D97-AF65-F5344CB8AC3E}">
        <p14:creationId xmlns:p14="http://schemas.microsoft.com/office/powerpoint/2010/main" val="2025152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D874E-E56D-6D38-EC46-BC49BE25FC3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3EACDC3-A16E-5C0A-9B10-889E3D376A6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1E16DEF-B047-7F93-6164-B866F372B29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6D9045-B626-01F9-A7DC-F111C05E8737}"/>
              </a:ext>
            </a:extLst>
          </p:cNvPr>
          <p:cNvSpPr>
            <a:spLocks noGrp="1"/>
          </p:cNvSpPr>
          <p:nvPr>
            <p:ph type="dt" sz="half" idx="10"/>
          </p:nvPr>
        </p:nvSpPr>
        <p:spPr/>
        <p:txBody>
          <a:bodyPr/>
          <a:lstStyle/>
          <a:p>
            <a:fld id="{BE77A854-7F67-4017-9F1B-EDC8264659C5}" type="datetime1">
              <a:rPr lang="en-IN" smtClean="0"/>
              <a:pPr/>
              <a:t>28-09-2025</a:t>
            </a:fld>
            <a:endParaRPr lang="en-IN" dirty="0"/>
          </a:p>
        </p:txBody>
      </p:sp>
      <p:sp>
        <p:nvSpPr>
          <p:cNvPr id="6" name="Footer Placeholder 5">
            <a:extLst>
              <a:ext uri="{FF2B5EF4-FFF2-40B4-BE49-F238E27FC236}">
                <a16:creationId xmlns:a16="http://schemas.microsoft.com/office/drawing/2014/main" id="{CFFE9830-2172-DF70-801D-4BCCFB0E73C3}"/>
              </a:ext>
            </a:extLst>
          </p:cNvPr>
          <p:cNvSpPr>
            <a:spLocks noGrp="1"/>
          </p:cNvSpPr>
          <p:nvPr>
            <p:ph type="ftr" sz="quarter" idx="11"/>
          </p:nvPr>
        </p:nvSpPr>
        <p:spPr/>
        <p:txBody>
          <a:bodyPr/>
          <a:lstStyle/>
          <a:p>
            <a:r>
              <a:rPr lang="en-IN" dirty="0"/>
              <a:t>Brain Tumor Detection</a:t>
            </a:r>
          </a:p>
        </p:txBody>
      </p:sp>
      <p:sp>
        <p:nvSpPr>
          <p:cNvPr id="7" name="Slide Number Placeholder 6">
            <a:extLst>
              <a:ext uri="{FF2B5EF4-FFF2-40B4-BE49-F238E27FC236}">
                <a16:creationId xmlns:a16="http://schemas.microsoft.com/office/drawing/2014/main" id="{823F35B6-178F-EB97-0198-DF2AF90B6CB4}"/>
              </a:ext>
            </a:extLst>
          </p:cNvPr>
          <p:cNvSpPr>
            <a:spLocks noGrp="1"/>
          </p:cNvSpPr>
          <p:nvPr>
            <p:ph type="sldNum" sz="quarter" idx="12"/>
          </p:nvPr>
        </p:nvSpPr>
        <p:spPr/>
        <p:txBody>
          <a:bodyPr/>
          <a:lstStyle/>
          <a:p>
            <a:fld id="{FFF20539-7144-4945-B20A-62B30D853D34}" type="slidenum">
              <a:rPr lang="en-IN" smtClean="0"/>
              <a:pPr/>
              <a:t>‹#›</a:t>
            </a:fld>
            <a:endParaRPr lang="en-IN" dirty="0"/>
          </a:p>
        </p:txBody>
      </p:sp>
    </p:spTree>
    <p:extLst>
      <p:ext uri="{BB962C8B-B14F-4D97-AF65-F5344CB8AC3E}">
        <p14:creationId xmlns:p14="http://schemas.microsoft.com/office/powerpoint/2010/main" val="22812856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3F22-0FFB-DE7A-8F99-D1ADAB84D65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440843C-3EF8-9034-0086-725C7D4D75A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8A57A3A-422B-55D8-3836-CFBCECFBD0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FF7572F-CC63-C837-C408-3E6068897B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C4691F-60A1-5FE9-5E9D-AD7C048E90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8E029D7-B0AC-DA37-76B7-39649C3F2CB5}"/>
              </a:ext>
            </a:extLst>
          </p:cNvPr>
          <p:cNvSpPr>
            <a:spLocks noGrp="1"/>
          </p:cNvSpPr>
          <p:nvPr>
            <p:ph type="dt" sz="half" idx="10"/>
          </p:nvPr>
        </p:nvSpPr>
        <p:spPr/>
        <p:txBody>
          <a:bodyPr/>
          <a:lstStyle/>
          <a:p>
            <a:fld id="{D2121448-6933-4BB0-B792-C1E582F9D1FA}" type="datetime1">
              <a:rPr lang="en-IN" smtClean="0"/>
              <a:pPr/>
              <a:t>28-09-2025</a:t>
            </a:fld>
            <a:endParaRPr lang="en-IN" dirty="0"/>
          </a:p>
        </p:txBody>
      </p:sp>
      <p:sp>
        <p:nvSpPr>
          <p:cNvPr id="8" name="Footer Placeholder 7">
            <a:extLst>
              <a:ext uri="{FF2B5EF4-FFF2-40B4-BE49-F238E27FC236}">
                <a16:creationId xmlns:a16="http://schemas.microsoft.com/office/drawing/2014/main" id="{D3332AE8-E8B4-BAEE-05A0-F28B95A4E0F4}"/>
              </a:ext>
            </a:extLst>
          </p:cNvPr>
          <p:cNvSpPr>
            <a:spLocks noGrp="1"/>
          </p:cNvSpPr>
          <p:nvPr>
            <p:ph type="ftr" sz="quarter" idx="11"/>
          </p:nvPr>
        </p:nvSpPr>
        <p:spPr/>
        <p:txBody>
          <a:bodyPr/>
          <a:lstStyle/>
          <a:p>
            <a:r>
              <a:rPr lang="en-IN" dirty="0"/>
              <a:t>Brain Tumor Detection</a:t>
            </a:r>
          </a:p>
        </p:txBody>
      </p:sp>
      <p:sp>
        <p:nvSpPr>
          <p:cNvPr id="9" name="Slide Number Placeholder 8">
            <a:extLst>
              <a:ext uri="{FF2B5EF4-FFF2-40B4-BE49-F238E27FC236}">
                <a16:creationId xmlns:a16="http://schemas.microsoft.com/office/drawing/2014/main" id="{B1D5BC1F-DF7F-B933-3AEF-F0AE9472EC15}"/>
              </a:ext>
            </a:extLst>
          </p:cNvPr>
          <p:cNvSpPr>
            <a:spLocks noGrp="1"/>
          </p:cNvSpPr>
          <p:nvPr>
            <p:ph type="sldNum" sz="quarter" idx="12"/>
          </p:nvPr>
        </p:nvSpPr>
        <p:spPr/>
        <p:txBody>
          <a:bodyPr/>
          <a:lstStyle/>
          <a:p>
            <a:fld id="{FFF20539-7144-4945-B20A-62B30D853D34}" type="slidenum">
              <a:rPr lang="en-IN" smtClean="0"/>
              <a:pPr/>
              <a:t>‹#›</a:t>
            </a:fld>
            <a:endParaRPr lang="en-IN" dirty="0"/>
          </a:p>
        </p:txBody>
      </p:sp>
    </p:spTree>
    <p:extLst>
      <p:ext uri="{BB962C8B-B14F-4D97-AF65-F5344CB8AC3E}">
        <p14:creationId xmlns:p14="http://schemas.microsoft.com/office/powerpoint/2010/main" val="189779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BD144-E72E-91CD-1D1C-6EB603DABA3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AC127F4-D84B-5E1E-AA33-B693166A8933}"/>
              </a:ext>
            </a:extLst>
          </p:cNvPr>
          <p:cNvSpPr>
            <a:spLocks noGrp="1"/>
          </p:cNvSpPr>
          <p:nvPr>
            <p:ph type="dt" sz="half" idx="10"/>
          </p:nvPr>
        </p:nvSpPr>
        <p:spPr/>
        <p:txBody>
          <a:bodyPr/>
          <a:lstStyle/>
          <a:p>
            <a:fld id="{15C10BDD-C7BF-4BEB-8E7F-F79F7321F5B8}" type="datetime1">
              <a:rPr lang="en-IN" smtClean="0"/>
              <a:pPr/>
              <a:t>28-09-2025</a:t>
            </a:fld>
            <a:endParaRPr lang="en-IN" dirty="0"/>
          </a:p>
        </p:txBody>
      </p:sp>
      <p:sp>
        <p:nvSpPr>
          <p:cNvPr id="4" name="Footer Placeholder 3">
            <a:extLst>
              <a:ext uri="{FF2B5EF4-FFF2-40B4-BE49-F238E27FC236}">
                <a16:creationId xmlns:a16="http://schemas.microsoft.com/office/drawing/2014/main" id="{9A705E8E-69F0-8211-A74B-81C22AC43EB5}"/>
              </a:ext>
            </a:extLst>
          </p:cNvPr>
          <p:cNvSpPr>
            <a:spLocks noGrp="1"/>
          </p:cNvSpPr>
          <p:nvPr>
            <p:ph type="ftr" sz="quarter" idx="11"/>
          </p:nvPr>
        </p:nvSpPr>
        <p:spPr/>
        <p:txBody>
          <a:bodyPr/>
          <a:lstStyle/>
          <a:p>
            <a:r>
              <a:rPr lang="en-IN" dirty="0"/>
              <a:t>Brain Tumor Detection</a:t>
            </a:r>
          </a:p>
        </p:txBody>
      </p:sp>
      <p:sp>
        <p:nvSpPr>
          <p:cNvPr id="5" name="Slide Number Placeholder 4">
            <a:extLst>
              <a:ext uri="{FF2B5EF4-FFF2-40B4-BE49-F238E27FC236}">
                <a16:creationId xmlns:a16="http://schemas.microsoft.com/office/drawing/2014/main" id="{ED06144E-558C-05FB-C410-409D9EF532AF}"/>
              </a:ext>
            </a:extLst>
          </p:cNvPr>
          <p:cNvSpPr>
            <a:spLocks noGrp="1"/>
          </p:cNvSpPr>
          <p:nvPr>
            <p:ph type="sldNum" sz="quarter" idx="12"/>
          </p:nvPr>
        </p:nvSpPr>
        <p:spPr/>
        <p:txBody>
          <a:bodyPr/>
          <a:lstStyle/>
          <a:p>
            <a:fld id="{FFF20539-7144-4945-B20A-62B30D853D34}" type="slidenum">
              <a:rPr lang="en-IN" smtClean="0"/>
              <a:pPr/>
              <a:t>‹#›</a:t>
            </a:fld>
            <a:endParaRPr lang="en-IN" dirty="0"/>
          </a:p>
        </p:txBody>
      </p:sp>
    </p:spTree>
    <p:extLst>
      <p:ext uri="{BB962C8B-B14F-4D97-AF65-F5344CB8AC3E}">
        <p14:creationId xmlns:p14="http://schemas.microsoft.com/office/powerpoint/2010/main" val="24054365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A810A82-FE88-69A2-CAD9-24ED8E6DAC4D}"/>
              </a:ext>
            </a:extLst>
          </p:cNvPr>
          <p:cNvSpPr>
            <a:spLocks noGrp="1"/>
          </p:cNvSpPr>
          <p:nvPr>
            <p:ph type="dt" sz="half" idx="10"/>
          </p:nvPr>
        </p:nvSpPr>
        <p:spPr/>
        <p:txBody>
          <a:bodyPr/>
          <a:lstStyle/>
          <a:p>
            <a:fld id="{D77E40BC-515D-4E09-A178-D303E1A3E17B}" type="datetime1">
              <a:rPr lang="en-IN" smtClean="0"/>
              <a:pPr/>
              <a:t>28-09-2025</a:t>
            </a:fld>
            <a:endParaRPr lang="en-IN" dirty="0"/>
          </a:p>
        </p:txBody>
      </p:sp>
      <p:sp>
        <p:nvSpPr>
          <p:cNvPr id="3" name="Footer Placeholder 2">
            <a:extLst>
              <a:ext uri="{FF2B5EF4-FFF2-40B4-BE49-F238E27FC236}">
                <a16:creationId xmlns:a16="http://schemas.microsoft.com/office/drawing/2014/main" id="{3D766B3F-1B21-9AD0-6A58-154CE32BA526}"/>
              </a:ext>
            </a:extLst>
          </p:cNvPr>
          <p:cNvSpPr>
            <a:spLocks noGrp="1"/>
          </p:cNvSpPr>
          <p:nvPr>
            <p:ph type="ftr" sz="quarter" idx="11"/>
          </p:nvPr>
        </p:nvSpPr>
        <p:spPr/>
        <p:txBody>
          <a:bodyPr/>
          <a:lstStyle/>
          <a:p>
            <a:r>
              <a:rPr lang="en-IN" dirty="0"/>
              <a:t>Brain Tumor Detection</a:t>
            </a:r>
          </a:p>
        </p:txBody>
      </p:sp>
      <p:sp>
        <p:nvSpPr>
          <p:cNvPr id="4" name="Slide Number Placeholder 3">
            <a:extLst>
              <a:ext uri="{FF2B5EF4-FFF2-40B4-BE49-F238E27FC236}">
                <a16:creationId xmlns:a16="http://schemas.microsoft.com/office/drawing/2014/main" id="{F094E1FA-83D4-5B49-CC4F-958BECFE0645}"/>
              </a:ext>
            </a:extLst>
          </p:cNvPr>
          <p:cNvSpPr>
            <a:spLocks noGrp="1"/>
          </p:cNvSpPr>
          <p:nvPr>
            <p:ph type="sldNum" sz="quarter" idx="12"/>
          </p:nvPr>
        </p:nvSpPr>
        <p:spPr/>
        <p:txBody>
          <a:bodyPr/>
          <a:lstStyle/>
          <a:p>
            <a:fld id="{FFF20539-7144-4945-B20A-62B30D853D34}" type="slidenum">
              <a:rPr lang="en-IN" smtClean="0"/>
              <a:pPr/>
              <a:t>‹#›</a:t>
            </a:fld>
            <a:endParaRPr lang="en-IN" dirty="0"/>
          </a:p>
        </p:txBody>
      </p:sp>
    </p:spTree>
    <p:extLst>
      <p:ext uri="{BB962C8B-B14F-4D97-AF65-F5344CB8AC3E}">
        <p14:creationId xmlns:p14="http://schemas.microsoft.com/office/powerpoint/2010/main" val="1360893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CD62B-AEB2-951E-3C5A-2EA8E558DD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E5CD460-19E2-CDCB-F17B-DB323CDDFA7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FACA72A-EAF4-FF30-5D30-4E983A6726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5CB9A4A-ECBE-638C-8EBD-41BA4BD0E7A4}"/>
              </a:ext>
            </a:extLst>
          </p:cNvPr>
          <p:cNvSpPr>
            <a:spLocks noGrp="1"/>
          </p:cNvSpPr>
          <p:nvPr>
            <p:ph type="dt" sz="half" idx="10"/>
          </p:nvPr>
        </p:nvSpPr>
        <p:spPr/>
        <p:txBody>
          <a:bodyPr/>
          <a:lstStyle/>
          <a:p>
            <a:fld id="{C2AF0C54-21AD-4FB5-9865-70BB251358AA}" type="datetime1">
              <a:rPr lang="en-IN" smtClean="0"/>
              <a:pPr/>
              <a:t>28-09-2025</a:t>
            </a:fld>
            <a:endParaRPr lang="en-IN" dirty="0"/>
          </a:p>
        </p:txBody>
      </p:sp>
      <p:sp>
        <p:nvSpPr>
          <p:cNvPr id="6" name="Footer Placeholder 5">
            <a:extLst>
              <a:ext uri="{FF2B5EF4-FFF2-40B4-BE49-F238E27FC236}">
                <a16:creationId xmlns:a16="http://schemas.microsoft.com/office/drawing/2014/main" id="{64684685-9F13-F5E1-33AC-3B6AA8AFEAF0}"/>
              </a:ext>
            </a:extLst>
          </p:cNvPr>
          <p:cNvSpPr>
            <a:spLocks noGrp="1"/>
          </p:cNvSpPr>
          <p:nvPr>
            <p:ph type="ftr" sz="quarter" idx="11"/>
          </p:nvPr>
        </p:nvSpPr>
        <p:spPr/>
        <p:txBody>
          <a:bodyPr/>
          <a:lstStyle/>
          <a:p>
            <a:r>
              <a:rPr lang="en-IN" dirty="0"/>
              <a:t>Brain Tumor Detection</a:t>
            </a:r>
          </a:p>
        </p:txBody>
      </p:sp>
      <p:sp>
        <p:nvSpPr>
          <p:cNvPr id="7" name="Slide Number Placeholder 6">
            <a:extLst>
              <a:ext uri="{FF2B5EF4-FFF2-40B4-BE49-F238E27FC236}">
                <a16:creationId xmlns:a16="http://schemas.microsoft.com/office/drawing/2014/main" id="{DC300E65-3B9F-0731-381E-58025D8B00D7}"/>
              </a:ext>
            </a:extLst>
          </p:cNvPr>
          <p:cNvSpPr>
            <a:spLocks noGrp="1"/>
          </p:cNvSpPr>
          <p:nvPr>
            <p:ph type="sldNum" sz="quarter" idx="12"/>
          </p:nvPr>
        </p:nvSpPr>
        <p:spPr/>
        <p:txBody>
          <a:bodyPr/>
          <a:lstStyle/>
          <a:p>
            <a:fld id="{FFF20539-7144-4945-B20A-62B30D853D34}" type="slidenum">
              <a:rPr lang="en-IN" smtClean="0"/>
              <a:pPr/>
              <a:t>‹#›</a:t>
            </a:fld>
            <a:endParaRPr lang="en-IN" dirty="0"/>
          </a:p>
        </p:txBody>
      </p:sp>
    </p:spTree>
    <p:extLst>
      <p:ext uri="{BB962C8B-B14F-4D97-AF65-F5344CB8AC3E}">
        <p14:creationId xmlns:p14="http://schemas.microsoft.com/office/powerpoint/2010/main" val="3158541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74088-8C0D-6206-B6F0-E28D68127C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BC6B9F8-A727-4F40-40F3-3718DAF96E5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A4D07272-8F1A-B142-03B4-F519D13FB4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30C2CBB-EA74-B9AE-4CD0-EB1D3120E879}"/>
              </a:ext>
            </a:extLst>
          </p:cNvPr>
          <p:cNvSpPr>
            <a:spLocks noGrp="1"/>
          </p:cNvSpPr>
          <p:nvPr>
            <p:ph type="dt" sz="half" idx="10"/>
          </p:nvPr>
        </p:nvSpPr>
        <p:spPr/>
        <p:txBody>
          <a:bodyPr/>
          <a:lstStyle/>
          <a:p>
            <a:fld id="{5018FA60-D1E1-456E-BA02-2BA934B9F55C}" type="datetime1">
              <a:rPr lang="en-IN" smtClean="0"/>
              <a:pPr/>
              <a:t>28-09-2025</a:t>
            </a:fld>
            <a:endParaRPr lang="en-IN" dirty="0"/>
          </a:p>
        </p:txBody>
      </p:sp>
      <p:sp>
        <p:nvSpPr>
          <p:cNvPr id="6" name="Footer Placeholder 5">
            <a:extLst>
              <a:ext uri="{FF2B5EF4-FFF2-40B4-BE49-F238E27FC236}">
                <a16:creationId xmlns:a16="http://schemas.microsoft.com/office/drawing/2014/main" id="{6BC07C20-C51D-BECD-4223-715BABD4D95E}"/>
              </a:ext>
            </a:extLst>
          </p:cNvPr>
          <p:cNvSpPr>
            <a:spLocks noGrp="1"/>
          </p:cNvSpPr>
          <p:nvPr>
            <p:ph type="ftr" sz="quarter" idx="11"/>
          </p:nvPr>
        </p:nvSpPr>
        <p:spPr/>
        <p:txBody>
          <a:bodyPr/>
          <a:lstStyle/>
          <a:p>
            <a:r>
              <a:rPr lang="en-IN" dirty="0"/>
              <a:t>Brain Tumor Detection</a:t>
            </a:r>
          </a:p>
        </p:txBody>
      </p:sp>
      <p:sp>
        <p:nvSpPr>
          <p:cNvPr id="7" name="Slide Number Placeholder 6">
            <a:extLst>
              <a:ext uri="{FF2B5EF4-FFF2-40B4-BE49-F238E27FC236}">
                <a16:creationId xmlns:a16="http://schemas.microsoft.com/office/drawing/2014/main" id="{F2E5AAAB-CCAB-8479-414C-E2BF302F2F4D}"/>
              </a:ext>
            </a:extLst>
          </p:cNvPr>
          <p:cNvSpPr>
            <a:spLocks noGrp="1"/>
          </p:cNvSpPr>
          <p:nvPr>
            <p:ph type="sldNum" sz="quarter" idx="12"/>
          </p:nvPr>
        </p:nvSpPr>
        <p:spPr/>
        <p:txBody>
          <a:bodyPr/>
          <a:lstStyle/>
          <a:p>
            <a:fld id="{FFF20539-7144-4945-B20A-62B30D853D34}" type="slidenum">
              <a:rPr lang="en-IN" smtClean="0"/>
              <a:pPr/>
              <a:t>‹#›</a:t>
            </a:fld>
            <a:endParaRPr lang="en-IN" dirty="0"/>
          </a:p>
        </p:txBody>
      </p:sp>
    </p:spTree>
    <p:extLst>
      <p:ext uri="{BB962C8B-B14F-4D97-AF65-F5344CB8AC3E}">
        <p14:creationId xmlns:p14="http://schemas.microsoft.com/office/powerpoint/2010/main" val="15686909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1A792-18D1-A836-F5A5-E70E3F7E7AF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6BAE985-1BC7-55DE-C90E-2709E0FE0E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B97E7D-824B-6D0D-7C29-A02640178A4D}"/>
              </a:ext>
            </a:extLst>
          </p:cNvPr>
          <p:cNvSpPr>
            <a:spLocks noGrp="1"/>
          </p:cNvSpPr>
          <p:nvPr>
            <p:ph type="dt" sz="half" idx="10"/>
          </p:nvPr>
        </p:nvSpPr>
        <p:spPr/>
        <p:txBody>
          <a:bodyPr/>
          <a:lstStyle/>
          <a:p>
            <a:fld id="{56912B54-1760-41F2-8318-530517A222A4}" type="datetime1">
              <a:rPr lang="en-IN" smtClean="0"/>
              <a:pPr/>
              <a:t>28-09-2025</a:t>
            </a:fld>
            <a:endParaRPr lang="en-IN" dirty="0"/>
          </a:p>
        </p:txBody>
      </p:sp>
      <p:sp>
        <p:nvSpPr>
          <p:cNvPr id="5" name="Footer Placeholder 4">
            <a:extLst>
              <a:ext uri="{FF2B5EF4-FFF2-40B4-BE49-F238E27FC236}">
                <a16:creationId xmlns:a16="http://schemas.microsoft.com/office/drawing/2014/main" id="{D985E4CD-49AC-7897-6730-1408663AE41F}"/>
              </a:ext>
            </a:extLst>
          </p:cNvPr>
          <p:cNvSpPr>
            <a:spLocks noGrp="1"/>
          </p:cNvSpPr>
          <p:nvPr>
            <p:ph type="ftr" sz="quarter" idx="11"/>
          </p:nvPr>
        </p:nvSpPr>
        <p:spPr/>
        <p:txBody>
          <a:bodyPr/>
          <a:lstStyle/>
          <a:p>
            <a:r>
              <a:rPr lang="en-IN" dirty="0"/>
              <a:t>Brain Tumor Detection</a:t>
            </a:r>
          </a:p>
        </p:txBody>
      </p:sp>
      <p:sp>
        <p:nvSpPr>
          <p:cNvPr id="6" name="Slide Number Placeholder 5">
            <a:extLst>
              <a:ext uri="{FF2B5EF4-FFF2-40B4-BE49-F238E27FC236}">
                <a16:creationId xmlns:a16="http://schemas.microsoft.com/office/drawing/2014/main" id="{BE182C68-6057-D205-9E55-AD8D09C9CC91}"/>
              </a:ext>
            </a:extLst>
          </p:cNvPr>
          <p:cNvSpPr>
            <a:spLocks noGrp="1"/>
          </p:cNvSpPr>
          <p:nvPr>
            <p:ph type="sldNum" sz="quarter" idx="12"/>
          </p:nvPr>
        </p:nvSpPr>
        <p:spPr/>
        <p:txBody>
          <a:bodyPr/>
          <a:lstStyle/>
          <a:p>
            <a:fld id="{FFF20539-7144-4945-B20A-62B30D853D34}" type="slidenum">
              <a:rPr lang="en-IN" smtClean="0"/>
              <a:pPr/>
              <a:t>‹#›</a:t>
            </a:fld>
            <a:endParaRPr lang="en-IN" dirty="0"/>
          </a:p>
        </p:txBody>
      </p:sp>
    </p:spTree>
    <p:extLst>
      <p:ext uri="{BB962C8B-B14F-4D97-AF65-F5344CB8AC3E}">
        <p14:creationId xmlns:p14="http://schemas.microsoft.com/office/powerpoint/2010/main" val="30624755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3F2B124-768F-395F-C031-DA5912C201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7B30FA-8240-E267-DEFA-1D263117A0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9C639B-A0CB-0BD4-E72D-0EE7C4E37986}"/>
              </a:ext>
            </a:extLst>
          </p:cNvPr>
          <p:cNvSpPr>
            <a:spLocks noGrp="1"/>
          </p:cNvSpPr>
          <p:nvPr>
            <p:ph type="dt" sz="half" idx="10"/>
          </p:nvPr>
        </p:nvSpPr>
        <p:spPr/>
        <p:txBody>
          <a:bodyPr/>
          <a:lstStyle/>
          <a:p>
            <a:fld id="{8E1F4FCE-2F2D-4C01-ACCD-36BE74E81988}" type="datetime1">
              <a:rPr lang="en-IN" smtClean="0"/>
              <a:pPr/>
              <a:t>28-09-2025</a:t>
            </a:fld>
            <a:endParaRPr lang="en-IN" dirty="0"/>
          </a:p>
        </p:txBody>
      </p:sp>
      <p:sp>
        <p:nvSpPr>
          <p:cNvPr id="5" name="Footer Placeholder 4">
            <a:extLst>
              <a:ext uri="{FF2B5EF4-FFF2-40B4-BE49-F238E27FC236}">
                <a16:creationId xmlns:a16="http://schemas.microsoft.com/office/drawing/2014/main" id="{EC7AB932-A650-3506-C695-B72532FEB7B4}"/>
              </a:ext>
            </a:extLst>
          </p:cNvPr>
          <p:cNvSpPr>
            <a:spLocks noGrp="1"/>
          </p:cNvSpPr>
          <p:nvPr>
            <p:ph type="ftr" sz="quarter" idx="11"/>
          </p:nvPr>
        </p:nvSpPr>
        <p:spPr/>
        <p:txBody>
          <a:bodyPr/>
          <a:lstStyle/>
          <a:p>
            <a:r>
              <a:rPr lang="en-IN" dirty="0"/>
              <a:t>Brain Tumor Detection</a:t>
            </a:r>
          </a:p>
        </p:txBody>
      </p:sp>
      <p:sp>
        <p:nvSpPr>
          <p:cNvPr id="6" name="Slide Number Placeholder 5">
            <a:extLst>
              <a:ext uri="{FF2B5EF4-FFF2-40B4-BE49-F238E27FC236}">
                <a16:creationId xmlns:a16="http://schemas.microsoft.com/office/drawing/2014/main" id="{97F9C298-D994-7F9B-79E7-F46B57B248F5}"/>
              </a:ext>
            </a:extLst>
          </p:cNvPr>
          <p:cNvSpPr>
            <a:spLocks noGrp="1"/>
          </p:cNvSpPr>
          <p:nvPr>
            <p:ph type="sldNum" sz="quarter" idx="12"/>
          </p:nvPr>
        </p:nvSpPr>
        <p:spPr/>
        <p:txBody>
          <a:bodyPr/>
          <a:lstStyle/>
          <a:p>
            <a:fld id="{FFF20539-7144-4945-B20A-62B30D853D34}" type="slidenum">
              <a:rPr lang="en-IN" smtClean="0"/>
              <a:pPr/>
              <a:t>‹#›</a:t>
            </a:fld>
            <a:endParaRPr lang="en-IN" dirty="0"/>
          </a:p>
        </p:txBody>
      </p:sp>
    </p:spTree>
    <p:extLst>
      <p:ext uri="{BB962C8B-B14F-4D97-AF65-F5344CB8AC3E}">
        <p14:creationId xmlns:p14="http://schemas.microsoft.com/office/powerpoint/2010/main" val="2883229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0C0EE-FE7D-7D3B-7EF9-D34804D738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D785E00-6403-6214-F030-5ECD5896529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69D3DE-9799-EE6D-B837-E93E6865AE7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451571-2412-45EA-922C-E514E61E09A6}" type="datetime1">
              <a:rPr lang="en-IN" smtClean="0"/>
              <a:pPr/>
              <a:t>28-09-2025</a:t>
            </a:fld>
            <a:endParaRPr lang="en-IN" dirty="0"/>
          </a:p>
        </p:txBody>
      </p:sp>
      <p:sp>
        <p:nvSpPr>
          <p:cNvPr id="5" name="Footer Placeholder 4">
            <a:extLst>
              <a:ext uri="{FF2B5EF4-FFF2-40B4-BE49-F238E27FC236}">
                <a16:creationId xmlns:a16="http://schemas.microsoft.com/office/drawing/2014/main" id="{69F92753-DD29-6192-AF9C-98B2017025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dirty="0"/>
              <a:t>Brain Tumor Detection</a:t>
            </a:r>
          </a:p>
        </p:txBody>
      </p:sp>
      <p:sp>
        <p:nvSpPr>
          <p:cNvPr id="6" name="Slide Number Placeholder 5">
            <a:extLst>
              <a:ext uri="{FF2B5EF4-FFF2-40B4-BE49-F238E27FC236}">
                <a16:creationId xmlns:a16="http://schemas.microsoft.com/office/drawing/2014/main" id="{B5E5E367-EE42-3716-6960-6F5DBF23E0C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F20539-7144-4945-B20A-62B30D853D34}" type="slidenum">
              <a:rPr lang="en-IN" smtClean="0"/>
              <a:pPr/>
              <a:t>‹#›</a:t>
            </a:fld>
            <a:endParaRPr lang="en-IN" dirty="0"/>
          </a:p>
        </p:txBody>
      </p:sp>
    </p:spTree>
    <p:extLst>
      <p:ext uri="{BB962C8B-B14F-4D97-AF65-F5344CB8AC3E}">
        <p14:creationId xmlns:p14="http://schemas.microsoft.com/office/powerpoint/2010/main" val="33444771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ieeexplore.ieee.org/document/8981960/?utm_source=chatgpt.com"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ieeexplore.ieee.org/document/8981960/?utm_source=chatgpt.com"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2D54ABCD-813C-C929-4EDB-66B1AEF26A6B}"/>
              </a:ext>
            </a:extLst>
          </p:cNvPr>
          <p:cNvSpPr>
            <a:spLocks noGrp="1"/>
          </p:cNvSpPr>
          <p:nvPr>
            <p:ph type="sldNum" sz="quarter" idx="12"/>
          </p:nvPr>
        </p:nvSpPr>
        <p:spPr/>
        <p:txBody>
          <a:bodyPr/>
          <a:lstStyle/>
          <a:p>
            <a:fld id="{FFF20539-7144-4945-B20A-62B30D853D34}" type="slidenum">
              <a:rPr lang="en-IN" smtClean="0"/>
              <a:pPr/>
              <a:t>1</a:t>
            </a:fld>
            <a:endParaRPr lang="en-IN" dirty="0"/>
          </a:p>
        </p:txBody>
      </p:sp>
      <p:pic>
        <p:nvPicPr>
          <p:cNvPr id="7" name="Picture 6" descr="C:\Users\STAFFS\Desktop\MCET LOGO NEW_1 (1).jpg">
            <a:extLst>
              <a:ext uri="{FF2B5EF4-FFF2-40B4-BE49-F238E27FC236}">
                <a16:creationId xmlns:a16="http://schemas.microsoft.com/office/drawing/2014/main" id="{5AF28D87-2CCB-A06A-A65D-1B0650C6D701}"/>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96219" y="394883"/>
            <a:ext cx="1584960" cy="762000"/>
          </a:xfrm>
          <a:prstGeom prst="rect">
            <a:avLst/>
          </a:prstGeom>
          <a:noFill/>
          <a:ln>
            <a:noFill/>
          </a:ln>
        </p:spPr>
      </p:pic>
      <p:sp>
        <p:nvSpPr>
          <p:cNvPr id="8" name="Rectangle 7">
            <a:extLst>
              <a:ext uri="{FF2B5EF4-FFF2-40B4-BE49-F238E27FC236}">
                <a16:creationId xmlns:a16="http://schemas.microsoft.com/office/drawing/2014/main" id="{A38E22EC-708E-8A41-C406-4B9ACB0A32CB}"/>
              </a:ext>
            </a:extLst>
          </p:cNvPr>
          <p:cNvSpPr/>
          <p:nvPr/>
        </p:nvSpPr>
        <p:spPr>
          <a:xfrm>
            <a:off x="1821543" y="399002"/>
            <a:ext cx="8534400" cy="2554545"/>
          </a:xfrm>
          <a:prstGeom prst="rect">
            <a:avLst/>
          </a:prstGeom>
        </p:spPr>
        <p:txBody>
          <a:bodyPr>
            <a:spAutoFit/>
          </a:bodyPr>
          <a:lstStyle/>
          <a:p>
            <a:pPr algn="ctr" fontAlgn="auto">
              <a:spcBef>
                <a:spcPts val="0"/>
              </a:spcBef>
              <a:spcAft>
                <a:spcPts val="0"/>
              </a:spcAft>
              <a:defRPr/>
            </a:pPr>
            <a:r>
              <a:rPr lang="en-IN" sz="2000" b="1" dirty="0">
                <a:solidFill>
                  <a:schemeClr val="tx1">
                    <a:lumMod val="95000"/>
                    <a:lumOff val="5000"/>
                  </a:schemeClr>
                </a:solidFill>
                <a:latin typeface="Times New Roman" pitchFamily="18" charset="0"/>
                <a:cs typeface="Times New Roman" pitchFamily="18" charset="0"/>
              </a:rPr>
              <a:t>Dr.Mahalingam College of Engineering &amp; Technology</a:t>
            </a:r>
          </a:p>
          <a:p>
            <a:pPr algn="ctr" fontAlgn="auto">
              <a:spcBef>
                <a:spcPts val="0"/>
              </a:spcBef>
              <a:spcAft>
                <a:spcPts val="0"/>
              </a:spcAft>
              <a:defRPr/>
            </a:pPr>
            <a:r>
              <a:rPr lang="en-IN" sz="2000" b="1" dirty="0">
                <a:solidFill>
                  <a:schemeClr val="tx1">
                    <a:lumMod val="95000"/>
                    <a:lumOff val="5000"/>
                  </a:schemeClr>
                </a:solidFill>
                <a:latin typeface="Times New Roman" pitchFamily="18" charset="0"/>
                <a:cs typeface="Times New Roman" pitchFamily="18" charset="0"/>
              </a:rPr>
              <a:t>Department of Artificial Intelligence &amp; Data Science </a:t>
            </a:r>
          </a:p>
          <a:p>
            <a:pPr algn="ctr" fontAlgn="auto">
              <a:spcBef>
                <a:spcPts val="0"/>
              </a:spcBef>
              <a:spcAft>
                <a:spcPts val="0"/>
              </a:spcAft>
              <a:defRPr/>
            </a:pPr>
            <a:r>
              <a:rPr lang="en-IN" sz="2000" b="1" dirty="0">
                <a:solidFill>
                  <a:srgbClr val="FF0000"/>
                </a:solidFill>
                <a:latin typeface="Times New Roman" pitchFamily="18" charset="0"/>
                <a:cs typeface="Times New Roman" pitchFamily="18" charset="0"/>
              </a:rPr>
              <a:t>19ADPN6601 – Innovative and Creative Project</a:t>
            </a:r>
          </a:p>
          <a:p>
            <a:pPr algn="ctr" fontAlgn="auto">
              <a:spcBef>
                <a:spcPts val="0"/>
              </a:spcBef>
              <a:spcAft>
                <a:spcPts val="2400"/>
              </a:spcAft>
              <a:defRPr/>
            </a:pPr>
            <a:r>
              <a:rPr lang="en-IN" sz="2000" b="1" dirty="0">
                <a:solidFill>
                  <a:srgbClr val="FF0000"/>
                </a:solidFill>
                <a:latin typeface="Times New Roman" pitchFamily="18" charset="0"/>
                <a:cs typeface="Times New Roman" pitchFamily="18" charset="0"/>
              </a:rPr>
              <a:t>Zeroth Review</a:t>
            </a:r>
          </a:p>
          <a:p>
            <a:pPr algn="ctr">
              <a:defRPr/>
            </a:pPr>
            <a:r>
              <a:rPr lang="en-IN" sz="2000" dirty="0">
                <a:solidFill>
                  <a:srgbClr val="FF0000"/>
                </a:solidFill>
                <a:latin typeface="Times New Roman" pitchFamily="18" charset="0"/>
                <a:cs typeface="Times New Roman" pitchFamily="18" charset="0"/>
              </a:rPr>
              <a:t>Title</a:t>
            </a:r>
            <a:r>
              <a:rPr lang="en-IN" sz="2000" dirty="0">
                <a:latin typeface="Times New Roman" pitchFamily="18" charset="0"/>
                <a:cs typeface="Times New Roman" pitchFamily="18" charset="0"/>
              </a:rPr>
              <a:t>: </a:t>
            </a:r>
            <a:r>
              <a:rPr lang="en-US" sz="2000" b="1" dirty="0">
                <a:latin typeface="Times New Roman" pitchFamily="18" charset="0"/>
                <a:cs typeface="Times New Roman" pitchFamily="18" charset="0"/>
              </a:rPr>
              <a:t>AI Based Coding Support System for Differently-Abled People</a:t>
            </a:r>
          </a:p>
          <a:p>
            <a:pPr algn="ctr">
              <a:defRPr/>
            </a:pPr>
            <a:endParaRPr lang="en-US" sz="2000" b="1" dirty="0">
              <a:latin typeface="Times New Roman" pitchFamily="18" charset="0"/>
              <a:cs typeface="Times New Roman" pitchFamily="18" charset="0"/>
            </a:endParaRPr>
          </a:p>
          <a:p>
            <a:pPr algn="ctr" fontAlgn="auto">
              <a:spcBef>
                <a:spcPts val="0"/>
              </a:spcBef>
              <a:spcAft>
                <a:spcPts val="0"/>
              </a:spcAft>
              <a:defRPr/>
            </a:pPr>
            <a:endParaRPr lang="en-IN" sz="2000" dirty="0">
              <a:solidFill>
                <a:srgbClr val="FF0000"/>
              </a:solidFill>
              <a:latin typeface="Times New Roman" pitchFamily="18" charset="0"/>
              <a:cs typeface="Times New Roman" pitchFamily="18" charset="0"/>
            </a:endParaRPr>
          </a:p>
        </p:txBody>
      </p:sp>
      <p:sp>
        <p:nvSpPr>
          <p:cNvPr id="9" name="Content Placeholder 4">
            <a:extLst>
              <a:ext uri="{FF2B5EF4-FFF2-40B4-BE49-F238E27FC236}">
                <a16:creationId xmlns:a16="http://schemas.microsoft.com/office/drawing/2014/main" id="{46ACD962-78D8-948E-0E31-48FC33FA7792}"/>
              </a:ext>
            </a:extLst>
          </p:cNvPr>
          <p:cNvSpPr txBox="1">
            <a:spLocks/>
          </p:cNvSpPr>
          <p:nvPr/>
        </p:nvSpPr>
        <p:spPr>
          <a:xfrm>
            <a:off x="1088571" y="4023360"/>
            <a:ext cx="9152709" cy="2435638"/>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274320" indent="-274320" algn="l">
              <a:lnSpc>
                <a:spcPct val="100000"/>
              </a:lnSpc>
              <a:spcBef>
                <a:spcPts val="0"/>
              </a:spcBef>
              <a:defRPr/>
            </a:pPr>
            <a:endParaRPr lang="en-IN" dirty="0">
              <a:solidFill>
                <a:schemeClr val="tx1">
                  <a:lumMod val="95000"/>
                  <a:lumOff val="5000"/>
                </a:schemeClr>
              </a:solidFill>
              <a:latin typeface="Times New Roman" pitchFamily="18" charset="0"/>
              <a:cs typeface="Times New Roman" pitchFamily="18" charset="0"/>
            </a:endParaRPr>
          </a:p>
        </p:txBody>
      </p:sp>
      <p:graphicFrame>
        <p:nvGraphicFramePr>
          <p:cNvPr id="10" name="Table 9">
            <a:extLst>
              <a:ext uri="{FF2B5EF4-FFF2-40B4-BE49-F238E27FC236}">
                <a16:creationId xmlns:a16="http://schemas.microsoft.com/office/drawing/2014/main" id="{83524808-9876-BDCE-FE55-311189F0E27C}"/>
              </a:ext>
            </a:extLst>
          </p:cNvPr>
          <p:cNvGraphicFramePr>
            <a:graphicFrameLocks noGrp="1"/>
          </p:cNvGraphicFramePr>
          <p:nvPr>
            <p:extLst>
              <p:ext uri="{D42A27DB-BD31-4B8C-83A1-F6EECF244321}">
                <p14:modId xmlns:p14="http://schemas.microsoft.com/office/powerpoint/2010/main" val="1006776380"/>
              </p:ext>
            </p:extLst>
          </p:nvPr>
        </p:nvGraphicFramePr>
        <p:xfrm>
          <a:off x="1829527" y="2489454"/>
          <a:ext cx="8411754" cy="3840480"/>
        </p:xfrm>
        <a:graphic>
          <a:graphicData uri="http://schemas.openxmlformats.org/drawingml/2006/table">
            <a:tbl>
              <a:tblPr firstRow="1" bandRow="1">
                <a:tableStyleId>{5C22544A-7EE6-4342-B048-85BDC9FD1C3A}</a:tableStyleId>
              </a:tblPr>
              <a:tblGrid>
                <a:gridCol w="4412840">
                  <a:extLst>
                    <a:ext uri="{9D8B030D-6E8A-4147-A177-3AD203B41FA5}">
                      <a16:colId xmlns:a16="http://schemas.microsoft.com/office/drawing/2014/main" val="1367809450"/>
                    </a:ext>
                  </a:extLst>
                </a:gridCol>
                <a:gridCol w="3998914">
                  <a:extLst>
                    <a:ext uri="{9D8B030D-6E8A-4147-A177-3AD203B41FA5}">
                      <a16:colId xmlns:a16="http://schemas.microsoft.com/office/drawing/2014/main" val="3429446376"/>
                    </a:ext>
                  </a:extLst>
                </a:gridCol>
              </a:tblGrid>
              <a:tr h="3457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0" dirty="0">
                          <a:solidFill>
                            <a:srgbClr val="FF0000"/>
                          </a:solidFill>
                          <a:latin typeface="Times New Roman" pitchFamily="18" charset="0"/>
                          <a:cs typeface="Times New Roman" pitchFamily="18" charset="0"/>
                        </a:rPr>
                        <a:t>Batch Number    </a:t>
                      </a:r>
                      <a:r>
                        <a:rPr lang="en-IN" b="1" dirty="0">
                          <a:solidFill>
                            <a:schemeClr val="tx1">
                              <a:lumMod val="95000"/>
                              <a:lumOff val="5000"/>
                            </a:schemeClr>
                          </a:solidFill>
                          <a:latin typeface="Times New Roman" pitchFamily="18" charset="0"/>
                          <a:cs typeface="Times New Roman" pitchFamily="18" charset="0"/>
                        </a:rPr>
                        <a:t>: 15</a:t>
                      </a:r>
                      <a:endParaRPr lang="en-IN" dirty="0">
                        <a:solidFill>
                          <a:srgbClr val="FF0000"/>
                        </a:solidFill>
                        <a:latin typeface="Times New Roman" pitchFamily="18" charset="0"/>
                        <a:cs typeface="Times New Roman" pitchFamily="18" charset="0"/>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dirty="0">
                        <a:solidFill>
                          <a:srgbClr val="FF0000"/>
                        </a:solidFill>
                        <a:latin typeface="Times New Roman" pitchFamily="18" charset="0"/>
                        <a:cs typeface="Times New Roman" pitchFamily="18" charset="0"/>
                      </a:endParaRPr>
                    </a:p>
                  </a:txBody>
                  <a:tcPr>
                    <a:noFill/>
                  </a:tcPr>
                </a:tc>
                <a:extLst>
                  <a:ext uri="{0D108BD9-81ED-4DB2-BD59-A6C34878D82A}">
                    <a16:rowId xmlns:a16="http://schemas.microsoft.com/office/drawing/2014/main" val="556542073"/>
                  </a:ext>
                </a:extLst>
              </a:tr>
              <a:tr h="3457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latin typeface="Times New Roman" pitchFamily="18" charset="0"/>
                          <a:cs typeface="Times New Roman" pitchFamily="18" charset="0"/>
                        </a:rPr>
                        <a:t>Team Name        </a:t>
                      </a:r>
                      <a:r>
                        <a:rPr lang="en-IN" b="1" dirty="0">
                          <a:solidFill>
                            <a:schemeClr val="tx1">
                              <a:lumMod val="95000"/>
                              <a:lumOff val="5000"/>
                            </a:schemeClr>
                          </a:solidFill>
                          <a:latin typeface="Times New Roman" pitchFamily="18" charset="0"/>
                          <a:cs typeface="Times New Roman" pitchFamily="18" charset="0"/>
                        </a:rPr>
                        <a:t>: 23BADA15</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a:solidFill>
                          <a:schemeClr val="tx1">
                            <a:lumMod val="95000"/>
                            <a:lumOff val="5000"/>
                          </a:schemeClr>
                        </a:solidFill>
                        <a:latin typeface="Times New Roman" pitchFamily="18" charset="0"/>
                        <a:cs typeface="Times New Roman" pitchFamily="18" charset="0"/>
                      </a:endParaRPr>
                    </a:p>
                  </a:txBody>
                  <a:tcPr>
                    <a:noFill/>
                  </a:tcPr>
                </a:tc>
                <a:extLst>
                  <a:ext uri="{0D108BD9-81ED-4DB2-BD59-A6C34878D82A}">
                    <a16:rowId xmlns:a16="http://schemas.microsoft.com/office/drawing/2014/main" val="3577827993"/>
                  </a:ext>
                </a:extLst>
              </a:tr>
              <a:tr h="3457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latin typeface="Times New Roman" pitchFamily="18" charset="0"/>
                          <a:cs typeface="Times New Roman" pitchFamily="18" charset="0"/>
                        </a:rPr>
                        <a:t>Domain	           </a:t>
                      </a:r>
                      <a:r>
                        <a:rPr lang="en-IN" b="1" dirty="0">
                          <a:solidFill>
                            <a:schemeClr val="tx1">
                              <a:lumMod val="95000"/>
                              <a:lumOff val="5000"/>
                            </a:schemeClr>
                          </a:solidFill>
                          <a:latin typeface="Times New Roman" pitchFamily="18" charset="0"/>
                          <a:cs typeface="Times New Roman" pitchFamily="18" charset="0"/>
                        </a:rPr>
                        <a:t>: Agriculture / Foodtech</a:t>
                      </a:r>
                    </a:p>
                  </a:txBody>
                  <a:tcP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b="1" dirty="0">
                        <a:solidFill>
                          <a:schemeClr val="tx1">
                            <a:lumMod val="95000"/>
                            <a:lumOff val="5000"/>
                          </a:schemeClr>
                        </a:solidFill>
                        <a:latin typeface="Times New Roman" pitchFamily="18" charset="0"/>
                        <a:cs typeface="Times New Roman" pitchFamily="18" charset="0"/>
                      </a:endParaRPr>
                    </a:p>
                  </a:txBody>
                  <a:tcPr>
                    <a:noFill/>
                  </a:tcPr>
                </a:tc>
                <a:extLst>
                  <a:ext uri="{0D108BD9-81ED-4DB2-BD59-A6C34878D82A}">
                    <a16:rowId xmlns:a16="http://schemas.microsoft.com/office/drawing/2014/main" val="2607469581"/>
                  </a:ext>
                </a:extLst>
              </a:tr>
              <a:tr h="345727">
                <a:tc>
                  <a:txBody>
                    <a:bodyPr/>
                    <a:lstStyle/>
                    <a:p>
                      <a:endParaRPr lang="en-IN" dirty="0"/>
                    </a:p>
                  </a:txBody>
                  <a:tcPr>
                    <a:noFill/>
                  </a:tcPr>
                </a:tc>
                <a:tc>
                  <a:txBody>
                    <a:bodyPr/>
                    <a:lstStyle/>
                    <a:p>
                      <a:endParaRPr lang="en-IN" dirty="0"/>
                    </a:p>
                  </a:txBody>
                  <a:tcPr>
                    <a:noFill/>
                  </a:tcPr>
                </a:tc>
                <a:extLst>
                  <a:ext uri="{0D108BD9-81ED-4DB2-BD59-A6C34878D82A}">
                    <a16:rowId xmlns:a16="http://schemas.microsoft.com/office/drawing/2014/main" val="2316631882"/>
                  </a:ext>
                </a:extLst>
              </a:tr>
              <a:tr h="3457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latin typeface="Times New Roman" pitchFamily="18" charset="0"/>
                          <a:cs typeface="Times New Roman" pitchFamily="18" charset="0"/>
                        </a:rPr>
                        <a:t>Team Members</a:t>
                      </a:r>
                      <a:endParaRPr lang="en-IN" dirty="0">
                        <a:solidFill>
                          <a:schemeClr val="tx1">
                            <a:lumMod val="95000"/>
                            <a:lumOff val="5000"/>
                          </a:schemeClr>
                        </a:solidFill>
                        <a:latin typeface="Times New Roman" pitchFamily="18" charset="0"/>
                        <a:cs typeface="Times New Roman" pitchFamily="18" charset="0"/>
                      </a:endParaRPr>
                    </a:p>
                  </a:txBody>
                  <a:tcPr>
                    <a:noFill/>
                  </a:tcPr>
                </a:tc>
                <a:tc>
                  <a:txBody>
                    <a:bodyPr/>
                    <a:lstStyle/>
                    <a:p>
                      <a:endParaRPr lang="en-IN"/>
                    </a:p>
                  </a:txBody>
                  <a:tcPr>
                    <a:noFill/>
                  </a:tcPr>
                </a:tc>
                <a:extLst>
                  <a:ext uri="{0D108BD9-81ED-4DB2-BD59-A6C34878D82A}">
                    <a16:rowId xmlns:a16="http://schemas.microsoft.com/office/drawing/2014/main" val="408762537"/>
                  </a:ext>
                </a:extLst>
              </a:tr>
              <a:tr h="3457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IN" b="1" dirty="0">
                          <a:solidFill>
                            <a:schemeClr val="tx1">
                              <a:lumMod val="95000"/>
                              <a:lumOff val="5000"/>
                            </a:schemeClr>
                          </a:solidFill>
                          <a:latin typeface="Times New Roman" pitchFamily="18" charset="0"/>
                          <a:cs typeface="Times New Roman" pitchFamily="18" charset="0"/>
                        </a:rPr>
                        <a:t>        1. Sharanya T 		</a:t>
                      </a:r>
                      <a:endParaRPr lang="x-none" altLang="en-IN" dirty="0">
                        <a:solidFill>
                          <a:schemeClr val="tx1">
                            <a:lumMod val="95000"/>
                            <a:lumOff val="5000"/>
                          </a:schemeClr>
                        </a:solidFill>
                        <a:latin typeface="Times New Roman" pitchFamily="18" charset="0"/>
                        <a:cs typeface="Times New Roman" pitchFamily="18" charset="0"/>
                      </a:endParaRPr>
                    </a:p>
                  </a:txBody>
                  <a:tcPr>
                    <a:noFill/>
                  </a:tcPr>
                </a:tc>
                <a:tc>
                  <a:txBody>
                    <a:bodyPr/>
                    <a:lstStyle/>
                    <a:p>
                      <a:r>
                        <a:rPr lang="en-US" altLang="en-IN" dirty="0">
                          <a:solidFill>
                            <a:schemeClr val="tx1">
                              <a:lumMod val="95000"/>
                              <a:lumOff val="5000"/>
                            </a:schemeClr>
                          </a:solidFill>
                          <a:latin typeface="Times New Roman" pitchFamily="18" charset="0"/>
                          <a:cs typeface="Times New Roman" pitchFamily="18" charset="0"/>
                        </a:rPr>
                        <a:t>(727622BAD007)</a:t>
                      </a:r>
                      <a:endParaRPr lang="en-IN" dirty="0"/>
                    </a:p>
                  </a:txBody>
                  <a:tcPr>
                    <a:noFill/>
                  </a:tcPr>
                </a:tc>
                <a:extLst>
                  <a:ext uri="{0D108BD9-81ED-4DB2-BD59-A6C34878D82A}">
                    <a16:rowId xmlns:a16="http://schemas.microsoft.com/office/drawing/2014/main" val="1442310873"/>
                  </a:ext>
                </a:extLst>
              </a:tr>
              <a:tr h="34572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IN" b="1" dirty="0">
                          <a:solidFill>
                            <a:schemeClr val="tx1">
                              <a:lumMod val="95000"/>
                              <a:lumOff val="5000"/>
                            </a:schemeClr>
                          </a:solidFill>
                          <a:latin typeface="Times New Roman" pitchFamily="18" charset="0"/>
                          <a:cs typeface="Times New Roman" pitchFamily="18" charset="0"/>
                        </a:rPr>
                        <a:t>        2. </a:t>
                      </a:r>
                      <a:r>
                        <a:rPr lang="en-IN" b="1" dirty="0">
                          <a:solidFill>
                            <a:srgbClr val="0C0C0C"/>
                          </a:solidFill>
                          <a:latin typeface="Times New Roman" pitchFamily="18" charset="0"/>
                          <a:ea typeface="Times New Roman"/>
                          <a:cs typeface="Times New Roman" pitchFamily="18" charset="0"/>
                          <a:sym typeface="Times New Roman"/>
                        </a:rPr>
                        <a:t>Santhosh S</a:t>
                      </a:r>
                      <a:endParaRPr lang="en-IN" dirty="0"/>
                    </a:p>
                  </a:txBody>
                  <a:tcPr>
                    <a:noFill/>
                  </a:tcPr>
                </a:tc>
                <a:tc>
                  <a:txBody>
                    <a:bodyPr/>
                    <a:lstStyle/>
                    <a:p>
                      <a:r>
                        <a:rPr lang="en-US" altLang="en-IN" dirty="0">
                          <a:solidFill>
                            <a:schemeClr val="tx1">
                              <a:lumMod val="95000"/>
                              <a:lumOff val="5000"/>
                            </a:schemeClr>
                          </a:solidFill>
                          <a:latin typeface="Times New Roman" pitchFamily="18" charset="0"/>
                          <a:cs typeface="Times New Roman" pitchFamily="18" charset="0"/>
                        </a:rPr>
                        <a:t>(727622BAD073)</a:t>
                      </a:r>
                      <a:endParaRPr lang="en-IN" dirty="0"/>
                    </a:p>
                  </a:txBody>
                  <a:tcPr>
                    <a:noFill/>
                  </a:tcPr>
                </a:tc>
                <a:extLst>
                  <a:ext uri="{0D108BD9-81ED-4DB2-BD59-A6C34878D82A}">
                    <a16:rowId xmlns:a16="http://schemas.microsoft.com/office/drawing/2014/main" val="2397885448"/>
                  </a:ext>
                </a:extLst>
              </a:tr>
              <a:tr h="5967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altLang="en-IN" b="1" dirty="0">
                          <a:solidFill>
                            <a:srgbClr val="0C0C0C"/>
                          </a:solidFill>
                          <a:latin typeface="Times New Roman" pitchFamily="18" charset="0"/>
                          <a:cs typeface="Times New Roman" pitchFamily="18" charset="0"/>
                          <a:sym typeface="Times New Roman"/>
                        </a:rPr>
                        <a:t>        3. Aashif Shadin K N</a:t>
                      </a:r>
                      <a:endParaRPr lang="en-IN" dirty="0">
                        <a:solidFill>
                          <a:srgbClr val="0C0C0C"/>
                        </a:solidFill>
                        <a:latin typeface="Times New Roman" pitchFamily="18" charset="0"/>
                        <a:ea typeface="Times New Roman"/>
                        <a:cs typeface="Times New Roman" pitchFamily="18" charset="0"/>
                        <a:sym typeface="Times New Roman"/>
                      </a:endParaRPr>
                    </a:p>
                    <a:p>
                      <a:endParaRPr lang="en-IN" dirty="0"/>
                    </a:p>
                  </a:txBody>
                  <a:tcPr>
                    <a:noFill/>
                  </a:tcPr>
                </a:tc>
                <a:tc>
                  <a:txBody>
                    <a:bodyPr/>
                    <a:lstStyle/>
                    <a:p>
                      <a:r>
                        <a:rPr lang="en-US" altLang="en-IN" dirty="0">
                          <a:solidFill>
                            <a:schemeClr val="tx1">
                              <a:lumMod val="95000"/>
                              <a:lumOff val="5000"/>
                            </a:schemeClr>
                          </a:solidFill>
                          <a:latin typeface="Times New Roman" pitchFamily="18" charset="0"/>
                          <a:cs typeface="Times New Roman" pitchFamily="18" charset="0"/>
                        </a:rPr>
                        <a:t>(727622BAD099)</a:t>
                      </a:r>
                      <a:endParaRPr lang="en-IN" dirty="0"/>
                    </a:p>
                  </a:txBody>
                  <a:tcPr>
                    <a:noFill/>
                  </a:tcPr>
                </a:tc>
                <a:extLst>
                  <a:ext uri="{0D108BD9-81ED-4DB2-BD59-A6C34878D82A}">
                    <a16:rowId xmlns:a16="http://schemas.microsoft.com/office/drawing/2014/main" val="3067605031"/>
                  </a:ext>
                </a:extLst>
              </a:tr>
              <a:tr h="59673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dirty="0">
                          <a:solidFill>
                            <a:srgbClr val="FF0000"/>
                          </a:solidFill>
                          <a:latin typeface="Times New Roman" pitchFamily="18" charset="0"/>
                          <a:cs typeface="Times New Roman" pitchFamily="18" charset="0"/>
                        </a:rPr>
                        <a:t>Guide</a:t>
                      </a:r>
                      <a:r>
                        <a:rPr lang="en-IN" dirty="0">
                          <a:solidFill>
                            <a:schemeClr val="tx1">
                              <a:lumMod val="95000"/>
                              <a:lumOff val="5000"/>
                            </a:schemeClr>
                          </a:solidFill>
                          <a:latin typeface="Times New Roman" pitchFamily="18" charset="0"/>
                          <a:cs typeface="Times New Roman" pitchFamily="18" charset="0"/>
                        </a:rPr>
                        <a:t>: </a:t>
                      </a:r>
                      <a:r>
                        <a:rPr lang="en-IN" b="1" dirty="0">
                          <a:solidFill>
                            <a:srgbClr val="0C0C0C"/>
                          </a:solidFill>
                          <a:latin typeface="Times New Roman" pitchFamily="18" charset="0"/>
                          <a:cs typeface="Times New Roman" pitchFamily="18" charset="0"/>
                          <a:sym typeface="Times New Roman"/>
                        </a:rPr>
                        <a:t>Ms. M. Rajalakshmi</a:t>
                      </a:r>
                      <a:r>
                        <a:rPr lang="en-IN" dirty="0">
                          <a:solidFill>
                            <a:srgbClr val="0C0C0C"/>
                          </a:solidFill>
                          <a:latin typeface="Times New Roman" pitchFamily="18" charset="0"/>
                          <a:ea typeface="Times New Roman"/>
                          <a:cs typeface="Times New Roman" pitchFamily="18" charset="0"/>
                          <a:sym typeface="Times New Roman"/>
                        </a:rPr>
                        <a:t>, AP/AI&amp;DS</a:t>
                      </a:r>
                      <a:endParaRPr lang="en-IN" dirty="0">
                        <a:solidFill>
                          <a:schemeClr val="tx1">
                            <a:lumMod val="95000"/>
                            <a:lumOff val="5000"/>
                          </a:schemeClr>
                        </a:solidFill>
                        <a:latin typeface="Helvetica" panose="020B0604020202020204" pitchFamily="34" charset="0"/>
                        <a:cs typeface="Helvetica" panose="020B0604020202020204" pitchFamily="34" charset="0"/>
                      </a:endParaRPr>
                    </a:p>
                    <a:p>
                      <a:endParaRPr lang="en-IN" dirty="0"/>
                    </a:p>
                  </a:txBody>
                  <a:tcPr>
                    <a:noFill/>
                  </a:tcPr>
                </a:tc>
                <a:tc>
                  <a:txBody>
                    <a:bodyPr/>
                    <a:lstStyle/>
                    <a:p>
                      <a:endParaRPr lang="en-IN" dirty="0"/>
                    </a:p>
                  </a:txBody>
                  <a:tcPr>
                    <a:noFill/>
                  </a:tcPr>
                </a:tc>
                <a:extLst>
                  <a:ext uri="{0D108BD9-81ED-4DB2-BD59-A6C34878D82A}">
                    <a16:rowId xmlns:a16="http://schemas.microsoft.com/office/drawing/2014/main" val="4000202894"/>
                  </a:ext>
                </a:extLst>
              </a:tr>
            </a:tbl>
          </a:graphicData>
        </a:graphic>
      </p:graphicFrame>
    </p:spTree>
    <p:extLst>
      <p:ext uri="{BB962C8B-B14F-4D97-AF65-F5344CB8AC3E}">
        <p14:creationId xmlns:p14="http://schemas.microsoft.com/office/powerpoint/2010/main" val="4163992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2E8AB2D-9CB4-7AB9-52A5-A55D0D761644}"/>
              </a:ext>
            </a:extLst>
          </p:cNvPr>
          <p:cNvSpPr>
            <a:spLocks noGrp="1"/>
          </p:cNvSpPr>
          <p:nvPr>
            <p:ph type="ftr" sz="quarter" idx="11"/>
          </p:nvPr>
        </p:nvSpPr>
        <p:spPr/>
        <p:txBody>
          <a:bodyPr/>
          <a:lstStyle/>
          <a:p>
            <a:r>
              <a:rPr lang="en-IN"/>
              <a:t>Brain Tumor Detection</a:t>
            </a:r>
            <a:endParaRPr lang="en-IN" dirty="0"/>
          </a:p>
        </p:txBody>
      </p:sp>
      <p:sp>
        <p:nvSpPr>
          <p:cNvPr id="3" name="Slide Number Placeholder 2">
            <a:extLst>
              <a:ext uri="{FF2B5EF4-FFF2-40B4-BE49-F238E27FC236}">
                <a16:creationId xmlns:a16="http://schemas.microsoft.com/office/drawing/2014/main" id="{E4202109-2ACC-95D3-ADFD-EBE1DF5015AE}"/>
              </a:ext>
            </a:extLst>
          </p:cNvPr>
          <p:cNvSpPr>
            <a:spLocks noGrp="1"/>
          </p:cNvSpPr>
          <p:nvPr>
            <p:ph type="sldNum" sz="quarter" idx="12"/>
          </p:nvPr>
        </p:nvSpPr>
        <p:spPr/>
        <p:txBody>
          <a:bodyPr/>
          <a:lstStyle/>
          <a:p>
            <a:fld id="{FFF20539-7144-4945-B20A-62B30D853D34}" type="slidenum">
              <a:rPr lang="en-IN" smtClean="0"/>
              <a:pPr/>
              <a:t>2</a:t>
            </a:fld>
            <a:endParaRPr lang="en-IN" dirty="0"/>
          </a:p>
        </p:txBody>
      </p:sp>
      <p:sp>
        <p:nvSpPr>
          <p:cNvPr id="5" name="TextBox 4">
            <a:extLst>
              <a:ext uri="{FF2B5EF4-FFF2-40B4-BE49-F238E27FC236}">
                <a16:creationId xmlns:a16="http://schemas.microsoft.com/office/drawing/2014/main" id="{2F420F2C-DB9D-2787-6AEB-201D857EC2DB}"/>
              </a:ext>
            </a:extLst>
          </p:cNvPr>
          <p:cNvSpPr txBox="1"/>
          <p:nvPr/>
        </p:nvSpPr>
        <p:spPr>
          <a:xfrm>
            <a:off x="1959673" y="2932325"/>
            <a:ext cx="8272653" cy="1077218"/>
          </a:xfrm>
          <a:prstGeom prst="rect">
            <a:avLst/>
          </a:prstGeom>
          <a:noFill/>
        </p:spPr>
        <p:txBody>
          <a:bodyPr wrap="square">
            <a:spAutoFit/>
          </a:bodyPr>
          <a:lstStyle/>
          <a:p>
            <a:pPr algn="ctr">
              <a:defRPr/>
            </a:pPr>
            <a:r>
              <a:rPr lang="en-US" sz="3200" dirty="0">
                <a:latin typeface="Times New Roman" pitchFamily="18" charset="0"/>
                <a:cs typeface="Times New Roman" pitchFamily="18" charset="0"/>
              </a:rPr>
              <a:t>AI Based Coding Support System for Differently-Abled People</a:t>
            </a:r>
          </a:p>
        </p:txBody>
      </p:sp>
      <p:sp>
        <p:nvSpPr>
          <p:cNvPr id="7" name="TextBox 6">
            <a:extLst>
              <a:ext uri="{FF2B5EF4-FFF2-40B4-BE49-F238E27FC236}">
                <a16:creationId xmlns:a16="http://schemas.microsoft.com/office/drawing/2014/main" id="{C36AC4C3-A7A5-9A77-A792-B4799CB90802}"/>
              </a:ext>
            </a:extLst>
          </p:cNvPr>
          <p:cNvSpPr txBox="1"/>
          <p:nvPr/>
        </p:nvSpPr>
        <p:spPr>
          <a:xfrm>
            <a:off x="3048762" y="2204151"/>
            <a:ext cx="6094476" cy="523220"/>
          </a:xfrm>
          <a:prstGeom prst="rect">
            <a:avLst/>
          </a:prstGeom>
          <a:noFill/>
        </p:spPr>
        <p:txBody>
          <a:bodyPr wrap="square">
            <a:spAutoFit/>
          </a:bodyPr>
          <a:lstStyle/>
          <a:p>
            <a:pPr algn="ctr">
              <a:defRPr/>
            </a:pPr>
            <a:r>
              <a:rPr lang="en-IN" sz="2800" dirty="0">
                <a:solidFill>
                  <a:srgbClr val="FF0000"/>
                </a:solidFill>
                <a:latin typeface="Times New Roman" pitchFamily="18" charset="0"/>
                <a:cs typeface="Times New Roman" pitchFamily="18" charset="0"/>
              </a:rPr>
              <a:t>Title</a:t>
            </a:r>
            <a:endParaRPr lang="en-US"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677345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2">
            <a:extLst>
              <a:ext uri="{FF2B5EF4-FFF2-40B4-BE49-F238E27FC236}">
                <a16:creationId xmlns:a16="http://schemas.microsoft.com/office/drawing/2014/main" id="{027A181D-EBAD-0414-FD4D-6B59F6DB7DCD}"/>
              </a:ext>
            </a:extLst>
          </p:cNvPr>
          <p:cNvSpPr txBox="1">
            <a:spLocks noGrp="1"/>
          </p:cNvSpPr>
          <p:nvPr>
            <p:ph type="title"/>
          </p:nvPr>
        </p:nvSpPr>
        <p:spPr>
          <a:xfrm>
            <a:off x="675944" y="677637"/>
            <a:ext cx="2766706" cy="506549"/>
          </a:xfrm>
          <a:prstGeom prst="rect">
            <a:avLst/>
          </a:prstGeom>
        </p:spPr>
        <p:txBody>
          <a:bodyPr vert="horz" wrap="square" lIns="0" tIns="13970" rIns="0" bIns="0" rtlCol="0">
            <a:spAutoFit/>
          </a:bodyPr>
          <a:lstStyle/>
          <a:p>
            <a:pPr marL="12700">
              <a:lnSpc>
                <a:spcPct val="100000"/>
              </a:lnSpc>
              <a:spcBef>
                <a:spcPts val="110"/>
              </a:spcBef>
            </a:pPr>
            <a:r>
              <a:rPr sz="3200" b="1" spc="-10" dirty="0">
                <a:solidFill>
                  <a:srgbClr val="FF0000"/>
                </a:solidFill>
                <a:latin typeface="Times New Roman" pitchFamily="18" charset="0"/>
                <a:cs typeface="Times New Roman" pitchFamily="18" charset="0"/>
              </a:rPr>
              <a:t>Conte</a:t>
            </a:r>
            <a:r>
              <a:rPr lang="en-US" sz="3200" b="1" spc="-10" dirty="0">
                <a:solidFill>
                  <a:srgbClr val="FF0000"/>
                </a:solidFill>
                <a:latin typeface="Times New Roman" pitchFamily="18" charset="0"/>
                <a:cs typeface="Times New Roman" pitchFamily="18" charset="0"/>
              </a:rPr>
              <a:t>nt</a:t>
            </a:r>
            <a:r>
              <a:rPr sz="3200" b="1" spc="-10" dirty="0">
                <a:solidFill>
                  <a:srgbClr val="FF0000"/>
                </a:solidFill>
                <a:latin typeface="Times New Roman" pitchFamily="18" charset="0"/>
                <a:cs typeface="Times New Roman" pitchFamily="18" charset="0"/>
              </a:rPr>
              <a:t>s</a:t>
            </a:r>
          </a:p>
        </p:txBody>
      </p:sp>
      <p:sp>
        <p:nvSpPr>
          <p:cNvPr id="6" name="object 3">
            <a:extLst>
              <a:ext uri="{FF2B5EF4-FFF2-40B4-BE49-F238E27FC236}">
                <a16:creationId xmlns:a16="http://schemas.microsoft.com/office/drawing/2014/main" id="{3556A106-A493-7A7B-A32A-55F5FB1FA223}"/>
              </a:ext>
            </a:extLst>
          </p:cNvPr>
          <p:cNvSpPr txBox="1"/>
          <p:nvPr/>
        </p:nvSpPr>
        <p:spPr>
          <a:xfrm>
            <a:off x="1271489" y="1291492"/>
            <a:ext cx="6455868" cy="4275016"/>
          </a:xfrm>
          <a:prstGeom prst="rect">
            <a:avLst/>
          </a:prstGeom>
        </p:spPr>
        <p:txBody>
          <a:bodyPr vert="horz" wrap="square" lIns="0" tIns="88900" rIns="0" bIns="0" rtlCol="0">
            <a:spAutoFit/>
          </a:bodyPr>
          <a:lstStyle/>
          <a:p>
            <a:pPr marL="356870" indent="-344805">
              <a:lnSpc>
                <a:spcPct val="150000"/>
              </a:lnSpc>
              <a:spcBef>
                <a:spcPts val="700"/>
              </a:spcBef>
              <a:buSzPct val="45000"/>
              <a:buFont typeface="Segoe UI Symbol"/>
              <a:buChar char="⚫"/>
              <a:tabLst>
                <a:tab pos="356870" algn="l"/>
                <a:tab pos="357505" algn="l"/>
              </a:tabLst>
            </a:pPr>
            <a:r>
              <a:rPr sz="2800" dirty="0">
                <a:latin typeface="Times New Roman" pitchFamily="18" charset="0"/>
                <a:cs typeface="Times New Roman" pitchFamily="18" charset="0"/>
              </a:rPr>
              <a:t>Problem</a:t>
            </a:r>
            <a:r>
              <a:rPr sz="2800" spc="-65" dirty="0">
                <a:latin typeface="Times New Roman" pitchFamily="18" charset="0"/>
                <a:cs typeface="Times New Roman" pitchFamily="18" charset="0"/>
              </a:rPr>
              <a:t> </a:t>
            </a:r>
            <a:r>
              <a:rPr sz="2800" spc="-10" dirty="0">
                <a:latin typeface="Times New Roman" pitchFamily="18" charset="0"/>
                <a:cs typeface="Times New Roman" pitchFamily="18" charset="0"/>
              </a:rPr>
              <a:t>Statement</a:t>
            </a:r>
            <a:endParaRPr sz="2800" dirty="0">
              <a:latin typeface="Times New Roman" pitchFamily="18" charset="0"/>
              <a:cs typeface="Times New Roman" pitchFamily="18" charset="0"/>
            </a:endParaRPr>
          </a:p>
          <a:p>
            <a:pPr marL="356870" indent="-344805">
              <a:lnSpc>
                <a:spcPct val="150000"/>
              </a:lnSpc>
              <a:spcBef>
                <a:spcPts val="605"/>
              </a:spcBef>
              <a:buSzPct val="45000"/>
              <a:buFont typeface="Segoe UI Symbol"/>
              <a:buChar char="⚫"/>
              <a:tabLst>
                <a:tab pos="356870" algn="l"/>
                <a:tab pos="357505" algn="l"/>
              </a:tabLst>
            </a:pPr>
            <a:r>
              <a:rPr sz="2800" dirty="0">
                <a:latin typeface="Times New Roman" pitchFamily="18" charset="0"/>
                <a:cs typeface="Times New Roman" pitchFamily="18" charset="0"/>
              </a:rPr>
              <a:t>Literature</a:t>
            </a:r>
            <a:r>
              <a:rPr sz="2800" spc="-70" dirty="0">
                <a:latin typeface="Times New Roman" pitchFamily="18" charset="0"/>
                <a:cs typeface="Times New Roman" pitchFamily="18" charset="0"/>
              </a:rPr>
              <a:t> </a:t>
            </a:r>
            <a:r>
              <a:rPr sz="2800" dirty="0">
                <a:latin typeface="Times New Roman" pitchFamily="18" charset="0"/>
                <a:cs typeface="Times New Roman" pitchFamily="18" charset="0"/>
              </a:rPr>
              <a:t>Identified</a:t>
            </a:r>
            <a:r>
              <a:rPr sz="2800" spc="-70" dirty="0">
                <a:latin typeface="Times New Roman" pitchFamily="18" charset="0"/>
                <a:cs typeface="Times New Roman" pitchFamily="18" charset="0"/>
              </a:rPr>
              <a:t> </a:t>
            </a:r>
            <a:r>
              <a:rPr sz="2800" dirty="0">
                <a:latin typeface="Times New Roman" pitchFamily="18" charset="0"/>
                <a:cs typeface="Times New Roman" pitchFamily="18" charset="0"/>
              </a:rPr>
              <a:t>and</a:t>
            </a:r>
            <a:r>
              <a:rPr sz="2800" spc="-65" dirty="0">
                <a:latin typeface="Times New Roman" pitchFamily="18" charset="0"/>
                <a:cs typeface="Times New Roman" pitchFamily="18" charset="0"/>
              </a:rPr>
              <a:t> </a:t>
            </a:r>
            <a:r>
              <a:rPr sz="2800" spc="-10" dirty="0">
                <a:latin typeface="Times New Roman" pitchFamily="18" charset="0"/>
                <a:cs typeface="Times New Roman" pitchFamily="18" charset="0"/>
              </a:rPr>
              <a:t>Findings</a:t>
            </a:r>
            <a:endParaRPr lang="en-IN" sz="2800" spc="-10" dirty="0">
              <a:latin typeface="Times New Roman" pitchFamily="18" charset="0"/>
              <a:cs typeface="Times New Roman" pitchFamily="18" charset="0"/>
            </a:endParaRPr>
          </a:p>
          <a:p>
            <a:pPr marL="356870" indent="-344805">
              <a:lnSpc>
                <a:spcPct val="150000"/>
              </a:lnSpc>
              <a:spcBef>
                <a:spcPts val="605"/>
              </a:spcBef>
              <a:buSzPct val="45000"/>
              <a:buFont typeface="Segoe UI Symbol"/>
              <a:buChar char="⚫"/>
              <a:tabLst>
                <a:tab pos="356870" algn="l"/>
                <a:tab pos="357505" algn="l"/>
              </a:tabLst>
            </a:pPr>
            <a:r>
              <a:rPr lang="en-IN" sz="2800" spc="-10" dirty="0">
                <a:latin typeface="Times New Roman" pitchFamily="18" charset="0"/>
                <a:cs typeface="Times New Roman" pitchFamily="18" charset="0"/>
              </a:rPr>
              <a:t>Objective</a:t>
            </a:r>
            <a:endParaRPr sz="2800" dirty="0">
              <a:latin typeface="Times New Roman" pitchFamily="18" charset="0"/>
              <a:cs typeface="Times New Roman" pitchFamily="18" charset="0"/>
            </a:endParaRPr>
          </a:p>
          <a:p>
            <a:pPr marL="356870" indent="-344805">
              <a:lnSpc>
                <a:spcPct val="150000"/>
              </a:lnSpc>
              <a:spcBef>
                <a:spcPts val="600"/>
              </a:spcBef>
              <a:buSzPct val="45000"/>
              <a:buFont typeface="Segoe UI Symbol"/>
              <a:buChar char="⚫"/>
              <a:tabLst>
                <a:tab pos="356870" algn="l"/>
                <a:tab pos="357505" algn="l"/>
              </a:tabLst>
            </a:pPr>
            <a:r>
              <a:rPr sz="2800" dirty="0">
                <a:latin typeface="Times New Roman" pitchFamily="18" charset="0"/>
                <a:cs typeface="Times New Roman" pitchFamily="18" charset="0"/>
              </a:rPr>
              <a:t>Software</a:t>
            </a:r>
            <a:r>
              <a:rPr sz="2800" spc="-50" dirty="0">
                <a:latin typeface="Times New Roman" pitchFamily="18" charset="0"/>
                <a:cs typeface="Times New Roman" pitchFamily="18" charset="0"/>
              </a:rPr>
              <a:t> </a:t>
            </a:r>
            <a:r>
              <a:rPr sz="2800" spc="-10" dirty="0">
                <a:latin typeface="Times New Roman" pitchFamily="18" charset="0"/>
                <a:cs typeface="Times New Roman" pitchFamily="18" charset="0"/>
              </a:rPr>
              <a:t>Requirements</a:t>
            </a:r>
            <a:endParaRPr sz="2800" dirty="0">
              <a:latin typeface="Times New Roman" pitchFamily="18" charset="0"/>
              <a:cs typeface="Times New Roman" pitchFamily="18" charset="0"/>
            </a:endParaRPr>
          </a:p>
          <a:p>
            <a:pPr marL="356870" indent="-344805">
              <a:lnSpc>
                <a:spcPct val="150000"/>
              </a:lnSpc>
              <a:spcBef>
                <a:spcPts val="600"/>
              </a:spcBef>
              <a:buSzPct val="45000"/>
              <a:buFont typeface="Segoe UI Symbol"/>
              <a:buChar char="⚫"/>
              <a:tabLst>
                <a:tab pos="356870" algn="l"/>
                <a:tab pos="357505" algn="l"/>
              </a:tabLst>
            </a:pPr>
            <a:r>
              <a:rPr sz="2800" spc="-10" dirty="0">
                <a:latin typeface="Times New Roman" pitchFamily="18" charset="0"/>
                <a:cs typeface="Times New Roman" pitchFamily="18" charset="0"/>
              </a:rPr>
              <a:t>References</a:t>
            </a:r>
            <a:endParaRPr lang="en-IN" sz="2800" spc="-10" dirty="0">
              <a:latin typeface="Times New Roman" pitchFamily="18" charset="0"/>
              <a:cs typeface="Times New Roman" pitchFamily="18" charset="0"/>
            </a:endParaRPr>
          </a:p>
          <a:p>
            <a:pPr marL="356870" indent="-344805">
              <a:lnSpc>
                <a:spcPct val="150000"/>
              </a:lnSpc>
              <a:spcBef>
                <a:spcPts val="600"/>
              </a:spcBef>
              <a:buSzPct val="45000"/>
              <a:buFont typeface="Segoe UI Symbol"/>
              <a:buChar char="⚫"/>
              <a:tabLst>
                <a:tab pos="356870" algn="l"/>
                <a:tab pos="357505" algn="l"/>
              </a:tabLst>
            </a:pPr>
            <a:r>
              <a:rPr lang="en-IN" sz="2800" spc="-10" dirty="0">
                <a:latin typeface="Times New Roman" pitchFamily="18" charset="0"/>
                <a:cs typeface="Times New Roman" pitchFamily="18" charset="0"/>
              </a:rPr>
              <a:t>Certification</a:t>
            </a:r>
            <a:endParaRPr sz="2800" dirty="0">
              <a:latin typeface="Times New Roman" pitchFamily="18" charset="0"/>
              <a:cs typeface="Times New Roman" pitchFamily="18" charset="0"/>
            </a:endParaRPr>
          </a:p>
        </p:txBody>
      </p:sp>
      <p:sp>
        <p:nvSpPr>
          <p:cNvPr id="8" name="Slide Number Placeholder 7">
            <a:extLst>
              <a:ext uri="{FF2B5EF4-FFF2-40B4-BE49-F238E27FC236}">
                <a16:creationId xmlns:a16="http://schemas.microsoft.com/office/drawing/2014/main" id="{44311EEA-C58B-85F5-DDDC-15D3AFA00E7F}"/>
              </a:ext>
            </a:extLst>
          </p:cNvPr>
          <p:cNvSpPr>
            <a:spLocks noGrp="1"/>
          </p:cNvSpPr>
          <p:nvPr>
            <p:ph type="sldNum" sz="quarter" idx="12"/>
          </p:nvPr>
        </p:nvSpPr>
        <p:spPr/>
        <p:txBody>
          <a:bodyPr/>
          <a:lstStyle/>
          <a:p>
            <a:fld id="{FFF20539-7144-4945-B20A-62B30D853D34}" type="slidenum">
              <a:rPr lang="en-IN" smtClean="0"/>
              <a:pPr/>
              <a:t>3</a:t>
            </a:fld>
            <a:endParaRPr lang="en-IN" dirty="0"/>
          </a:p>
        </p:txBody>
      </p:sp>
    </p:spTree>
    <p:extLst>
      <p:ext uri="{BB962C8B-B14F-4D97-AF65-F5344CB8AC3E}">
        <p14:creationId xmlns:p14="http://schemas.microsoft.com/office/powerpoint/2010/main" val="2435358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F5F69DD-0C9C-702F-E1F3-E90AD22F74FB}"/>
              </a:ext>
            </a:extLst>
          </p:cNvPr>
          <p:cNvSpPr>
            <a:spLocks noChangeArrowheads="1"/>
          </p:cNvSpPr>
          <p:nvPr/>
        </p:nvSpPr>
        <p:spPr bwMode="auto">
          <a:xfrm>
            <a:off x="1340611" y="2438023"/>
            <a:ext cx="9510777" cy="19819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eaLnBrk="0" fontAlgn="base" hangingPunct="0">
              <a:lnSpc>
                <a:spcPct val="150000"/>
              </a:lnSpc>
              <a:spcBef>
                <a:spcPct val="0"/>
              </a:spcBef>
              <a:spcAft>
                <a:spcPct val="0"/>
              </a:spcAf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lang="en-US" sz="2000" dirty="0"/>
              <a:t>This project aims to build a voice-based coding assistant for differently-abled individuals, particularly those who are blind or lack hand mobility. It allows them to write, compile, and understand code through verbal commands. The system reduces dependency and promotes accessibility in technical education and programming careers.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503E94D-5775-6AE8-3EE8-D05099A99259}"/>
              </a:ext>
            </a:extLst>
          </p:cNvPr>
          <p:cNvSpPr txBox="1"/>
          <p:nvPr/>
        </p:nvSpPr>
        <p:spPr>
          <a:xfrm>
            <a:off x="581025" y="628134"/>
            <a:ext cx="6140450" cy="584775"/>
          </a:xfrm>
          <a:prstGeom prst="rect">
            <a:avLst/>
          </a:prstGeom>
          <a:noFill/>
        </p:spPr>
        <p:txBody>
          <a:bodyPr wrap="square">
            <a:spAutoFit/>
          </a:bodyPr>
          <a:lstStyle/>
          <a:p>
            <a:r>
              <a:rPr lang="en-IN" sz="3200" b="1" dirty="0">
                <a:solidFill>
                  <a:srgbClr val="FF0000"/>
                </a:solidFill>
                <a:latin typeface="Times New Roman" panose="02020603050405020304" pitchFamily="18" charset="0"/>
                <a:cs typeface="Times New Roman" panose="02020603050405020304" pitchFamily="18" charset="0"/>
              </a:rPr>
              <a:t>Problem Statement</a:t>
            </a:r>
          </a:p>
        </p:txBody>
      </p:sp>
    </p:spTree>
    <p:extLst>
      <p:ext uri="{BB962C8B-B14F-4D97-AF65-F5344CB8AC3E}">
        <p14:creationId xmlns:p14="http://schemas.microsoft.com/office/powerpoint/2010/main" val="39124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0">
            <a:extLst>
              <a:ext uri="{FF2B5EF4-FFF2-40B4-BE49-F238E27FC236}">
                <a16:creationId xmlns:a16="http://schemas.microsoft.com/office/drawing/2014/main" id="{A1B29FE0-0C10-A1F5-80FE-21AA886CCA9D}"/>
              </a:ext>
            </a:extLst>
          </p:cNvPr>
          <p:cNvSpPr>
            <a:spLocks noGrp="1"/>
          </p:cNvSpPr>
          <p:nvPr>
            <p:ph type="title"/>
          </p:nvPr>
        </p:nvSpPr>
        <p:spPr>
          <a:xfrm>
            <a:off x="698500" y="428625"/>
            <a:ext cx="10575415" cy="981075"/>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Literatures Identified and Findings</a:t>
            </a:r>
            <a:endParaRPr lang="en-IN" sz="3200" dirty="0">
              <a:solidFill>
                <a:srgbClr val="FF0000"/>
              </a:solidFill>
            </a:endParaRPr>
          </a:p>
        </p:txBody>
      </p:sp>
      <p:sp>
        <p:nvSpPr>
          <p:cNvPr id="17" name="TextBox 16">
            <a:extLst>
              <a:ext uri="{FF2B5EF4-FFF2-40B4-BE49-F238E27FC236}">
                <a16:creationId xmlns:a16="http://schemas.microsoft.com/office/drawing/2014/main" id="{4C0A241C-C18B-AD87-BF63-E0CA3A9919CB}"/>
              </a:ext>
            </a:extLst>
          </p:cNvPr>
          <p:cNvSpPr txBox="1"/>
          <p:nvPr/>
        </p:nvSpPr>
        <p:spPr>
          <a:xfrm>
            <a:off x="1505139" y="1409700"/>
            <a:ext cx="8962136" cy="4653646"/>
          </a:xfrm>
          <a:prstGeom prst="rect">
            <a:avLst/>
          </a:prstGeom>
          <a:noFill/>
        </p:spPr>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“Agricultural Commodity Price Prediction Model: A Machine Learning Framework”(2023) Manas Kumar Mohanty, Parag Kumar Guha </a:t>
            </a:r>
            <a:r>
              <a:rPr lang="en-US" sz="2000" b="1" dirty="0" err="1">
                <a:latin typeface="Times New Roman" panose="02020603050405020304" pitchFamily="18" charset="0"/>
                <a:cs typeface="Times New Roman" panose="02020603050405020304" pitchFamily="18" charset="0"/>
              </a:rPr>
              <a:t>Thakurta</a:t>
            </a:r>
            <a:r>
              <a:rPr lang="en-US" sz="2000" b="1" dirty="0">
                <a:latin typeface="Times New Roman" panose="02020603050405020304" pitchFamily="18" charset="0"/>
                <a:cs typeface="Times New Roman" panose="02020603050405020304" pitchFamily="18" charset="0"/>
              </a:rPr>
              <a:t>, Samarjit Kar</a:t>
            </a:r>
          </a:p>
          <a:p>
            <a:pPr>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Time Series Algorithms : </a:t>
            </a:r>
            <a:r>
              <a:rPr lang="en-US" sz="2000" dirty="0">
                <a:latin typeface="Times New Roman" panose="02020603050405020304" pitchFamily="18" charset="0"/>
                <a:cs typeface="Times New Roman" panose="02020603050405020304" pitchFamily="18" charset="0"/>
              </a:rPr>
              <a:t>This paper presents a machine learning framework designed to predict crop prices by integrating factors such as crop yield, supply, and demand. The study employs various time series algorithms and identifies the decision tree regressor as the most effective model for price prediction. The framework aims to assist farmers in making informed decisions regarding their produce by providing accurate price forecasts.</a:t>
            </a:r>
          </a:p>
        </p:txBody>
      </p:sp>
    </p:spTree>
    <p:extLst>
      <p:ext uri="{BB962C8B-B14F-4D97-AF65-F5344CB8AC3E}">
        <p14:creationId xmlns:p14="http://schemas.microsoft.com/office/powerpoint/2010/main" val="7900804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BAC5D-C024-8969-47C4-E6A37AAF43F9}"/>
            </a:ext>
          </a:extLst>
        </p:cNvPr>
        <p:cNvGrpSpPr/>
        <p:nvPr/>
      </p:nvGrpSpPr>
      <p:grpSpPr>
        <a:xfrm>
          <a:off x="0" y="0"/>
          <a:ext cx="0" cy="0"/>
          <a:chOff x="0" y="0"/>
          <a:chExt cx="0" cy="0"/>
        </a:xfrm>
      </p:grpSpPr>
      <p:sp>
        <p:nvSpPr>
          <p:cNvPr id="16" name="Title 10">
            <a:extLst>
              <a:ext uri="{FF2B5EF4-FFF2-40B4-BE49-F238E27FC236}">
                <a16:creationId xmlns:a16="http://schemas.microsoft.com/office/drawing/2014/main" id="{B3A69334-7004-5A91-2995-851090224006}"/>
              </a:ext>
            </a:extLst>
          </p:cNvPr>
          <p:cNvSpPr>
            <a:spLocks noGrp="1"/>
          </p:cNvSpPr>
          <p:nvPr>
            <p:ph type="title"/>
          </p:nvPr>
        </p:nvSpPr>
        <p:spPr>
          <a:xfrm>
            <a:off x="698500" y="428625"/>
            <a:ext cx="10575415" cy="981075"/>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Literatures Identified and Findings</a:t>
            </a:r>
            <a:endParaRPr lang="en-IN" sz="3200" dirty="0">
              <a:solidFill>
                <a:srgbClr val="FF0000"/>
              </a:solidFill>
            </a:endParaRPr>
          </a:p>
        </p:txBody>
      </p:sp>
      <p:sp>
        <p:nvSpPr>
          <p:cNvPr id="17" name="TextBox 16">
            <a:extLst>
              <a:ext uri="{FF2B5EF4-FFF2-40B4-BE49-F238E27FC236}">
                <a16:creationId xmlns:a16="http://schemas.microsoft.com/office/drawing/2014/main" id="{46D7D84F-4E4F-093F-C224-5618BBDE1AE3}"/>
              </a:ext>
            </a:extLst>
          </p:cNvPr>
          <p:cNvSpPr txBox="1"/>
          <p:nvPr/>
        </p:nvSpPr>
        <p:spPr>
          <a:xfrm>
            <a:off x="1505139" y="1409700"/>
            <a:ext cx="8962136" cy="4191981"/>
          </a:xfrm>
          <a:prstGeom prst="rect">
            <a:avLst/>
          </a:prstGeom>
          <a:noFill/>
        </p:spPr>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"Forecasting Agricultural Commodity Prices Using Model Selection Framework With Time Series Features and Forecast Horizons" (2020) </a:t>
            </a:r>
            <a:r>
              <a:rPr lang="en-US" sz="2000" b="1" dirty="0" err="1">
                <a:latin typeface="Times New Roman" panose="02020603050405020304" pitchFamily="18" charset="0"/>
                <a:cs typeface="Times New Roman" panose="02020603050405020304" pitchFamily="18" charset="0"/>
              </a:rPr>
              <a:t>Dabin</a:t>
            </a:r>
            <a:r>
              <a:rPr lang="en-US" sz="2000" b="1" dirty="0">
                <a:latin typeface="Times New Roman" panose="02020603050405020304" pitchFamily="18" charset="0"/>
                <a:cs typeface="Times New Roman" panose="02020603050405020304" pitchFamily="18" charset="0"/>
              </a:rPr>
              <a:t> Zhang, </a:t>
            </a:r>
            <a:r>
              <a:rPr lang="en-US" sz="2000" b="1" dirty="0" err="1">
                <a:latin typeface="Times New Roman" panose="02020603050405020304" pitchFamily="18" charset="0"/>
                <a:cs typeface="Times New Roman" panose="02020603050405020304" pitchFamily="18" charset="0"/>
              </a:rPr>
              <a:t>Shanying</a:t>
            </a:r>
            <a:r>
              <a:rPr lang="en-US" sz="2000" b="1" dirty="0">
                <a:latin typeface="Times New Roman" panose="02020603050405020304" pitchFamily="18" charset="0"/>
                <a:cs typeface="Times New Roman" panose="02020603050405020304" pitchFamily="18" charset="0"/>
              </a:rPr>
              <a:t> Chen, </a:t>
            </a:r>
            <a:r>
              <a:rPr lang="en-US" sz="2000" b="1" dirty="0" err="1">
                <a:latin typeface="Times New Roman" panose="02020603050405020304" pitchFamily="18" charset="0"/>
                <a:cs typeface="Times New Roman" panose="02020603050405020304" pitchFamily="18" charset="0"/>
              </a:rPr>
              <a:t>Liwen</a:t>
            </a:r>
            <a:r>
              <a:rPr lang="en-US" sz="2000" b="1" dirty="0">
                <a:latin typeface="Times New Roman" panose="02020603050405020304" pitchFamily="18" charset="0"/>
                <a:cs typeface="Times New Roman" panose="02020603050405020304" pitchFamily="18" charset="0"/>
              </a:rPr>
              <a:t> Ling, Qiang Xia</a:t>
            </a:r>
          </a:p>
          <a:p>
            <a:pPr>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b="1" dirty="0">
                <a:latin typeface="Times New Roman" panose="02020603050405020304" pitchFamily="18" charset="0"/>
                <a:cs typeface="Times New Roman" panose="02020603050405020304" pitchFamily="18" charset="0"/>
              </a:rPr>
              <a:t>Model Selection Framework:</a:t>
            </a:r>
            <a:r>
              <a:rPr lang="en-US" sz="2000" dirty="0">
                <a:latin typeface="Times New Roman" panose="02020603050405020304" pitchFamily="18" charset="0"/>
                <a:cs typeface="Times New Roman" panose="02020603050405020304" pitchFamily="18" charset="0"/>
              </a:rPr>
              <a:t> The study introduces a novel framework that selects the optimal forecasting model based on specific time series features and forecast horizons. This approach tailors the model choice to the unique characteristics of the data and the desired prediction timeframe, enhancing forecasting accuracy. </a:t>
            </a:r>
            <a:r>
              <a:rPr lang="en-US" sz="2000" dirty="0">
                <a:latin typeface="Times New Roman" panose="02020603050405020304" pitchFamily="18" charset="0"/>
                <a:cs typeface="Times New Roman" panose="02020603050405020304" pitchFamily="18" charset="0"/>
                <a:hlinkClick r:id="rId2"/>
              </a:rPr>
              <a:t>IEEE Xplore</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201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B5B4B-25FB-28AC-94BC-068A8D01F422}"/>
            </a:ext>
          </a:extLst>
        </p:cNvPr>
        <p:cNvGrpSpPr/>
        <p:nvPr/>
      </p:nvGrpSpPr>
      <p:grpSpPr>
        <a:xfrm>
          <a:off x="0" y="0"/>
          <a:ext cx="0" cy="0"/>
          <a:chOff x="0" y="0"/>
          <a:chExt cx="0" cy="0"/>
        </a:xfrm>
      </p:grpSpPr>
      <p:sp>
        <p:nvSpPr>
          <p:cNvPr id="16" name="Title 10">
            <a:extLst>
              <a:ext uri="{FF2B5EF4-FFF2-40B4-BE49-F238E27FC236}">
                <a16:creationId xmlns:a16="http://schemas.microsoft.com/office/drawing/2014/main" id="{A12B3E1D-0360-DA8A-431F-3F19F79D43B0}"/>
              </a:ext>
            </a:extLst>
          </p:cNvPr>
          <p:cNvSpPr>
            <a:spLocks noGrp="1"/>
          </p:cNvSpPr>
          <p:nvPr>
            <p:ph type="title"/>
          </p:nvPr>
        </p:nvSpPr>
        <p:spPr>
          <a:xfrm>
            <a:off x="698500" y="428625"/>
            <a:ext cx="10575415" cy="981075"/>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Literatures Identified and Findings</a:t>
            </a:r>
            <a:endParaRPr lang="en-IN" sz="3200" dirty="0">
              <a:solidFill>
                <a:srgbClr val="FF0000"/>
              </a:solidFill>
            </a:endParaRPr>
          </a:p>
        </p:txBody>
      </p:sp>
      <p:sp>
        <p:nvSpPr>
          <p:cNvPr id="17" name="TextBox 16">
            <a:extLst>
              <a:ext uri="{FF2B5EF4-FFF2-40B4-BE49-F238E27FC236}">
                <a16:creationId xmlns:a16="http://schemas.microsoft.com/office/drawing/2014/main" id="{D5C2718B-5951-095C-631F-B147D9FFA8C2}"/>
              </a:ext>
            </a:extLst>
          </p:cNvPr>
          <p:cNvSpPr txBox="1"/>
          <p:nvPr/>
        </p:nvSpPr>
        <p:spPr>
          <a:xfrm>
            <a:off x="1505139" y="1409700"/>
            <a:ext cx="8962136" cy="4401205"/>
          </a:xfrm>
          <a:prstGeom prst="rect">
            <a:avLst/>
          </a:prstGeom>
          <a:noFill/>
        </p:spPr>
        <p:txBody>
          <a:bodyPr wrap="square">
            <a:spAutoFit/>
          </a:bodyPr>
          <a:lstStyle/>
          <a:p>
            <a:pPr algn="ctr">
              <a:lnSpc>
                <a:spcPct val="150000"/>
              </a:lnSpc>
            </a:pPr>
            <a:r>
              <a:rPr lang="en-US" sz="2000" b="1" dirty="0">
                <a:latin typeface="Times New Roman" panose="02020603050405020304" pitchFamily="18" charset="0"/>
                <a:cs typeface="Times New Roman" panose="02020603050405020304" pitchFamily="18" charset="0"/>
              </a:rPr>
              <a:t>"Forecasting Agricultural Commodity Prices Using Model Selection Framework With Time Series Features and Forecast Horizons" (2020) </a:t>
            </a:r>
            <a:r>
              <a:rPr lang="en-US" sz="2000" b="1" dirty="0" err="1">
                <a:latin typeface="Times New Roman" panose="02020603050405020304" pitchFamily="18" charset="0"/>
                <a:cs typeface="Times New Roman" panose="02020603050405020304" pitchFamily="18" charset="0"/>
              </a:rPr>
              <a:t>Dabin</a:t>
            </a:r>
            <a:r>
              <a:rPr lang="en-US" sz="2000" b="1" dirty="0">
                <a:latin typeface="Times New Roman" panose="02020603050405020304" pitchFamily="18" charset="0"/>
                <a:cs typeface="Times New Roman" panose="02020603050405020304" pitchFamily="18" charset="0"/>
              </a:rPr>
              <a:t> Zhang, </a:t>
            </a:r>
            <a:r>
              <a:rPr lang="en-US" sz="2000" b="1" dirty="0" err="1">
                <a:latin typeface="Times New Roman" panose="02020603050405020304" pitchFamily="18" charset="0"/>
                <a:cs typeface="Times New Roman" panose="02020603050405020304" pitchFamily="18" charset="0"/>
              </a:rPr>
              <a:t>Shanying</a:t>
            </a:r>
            <a:r>
              <a:rPr lang="en-US" sz="2000" b="1" dirty="0">
                <a:latin typeface="Times New Roman" panose="02020603050405020304" pitchFamily="18" charset="0"/>
                <a:cs typeface="Times New Roman" panose="02020603050405020304" pitchFamily="18" charset="0"/>
              </a:rPr>
              <a:t> Chen, </a:t>
            </a:r>
            <a:r>
              <a:rPr lang="en-US" sz="2000" b="1" dirty="0" err="1">
                <a:latin typeface="Times New Roman" panose="02020603050405020304" pitchFamily="18" charset="0"/>
                <a:cs typeface="Times New Roman" panose="02020603050405020304" pitchFamily="18" charset="0"/>
              </a:rPr>
              <a:t>Liwen</a:t>
            </a:r>
            <a:r>
              <a:rPr lang="en-US" sz="2000" b="1" dirty="0">
                <a:latin typeface="Times New Roman" panose="02020603050405020304" pitchFamily="18" charset="0"/>
                <a:cs typeface="Times New Roman" panose="02020603050405020304" pitchFamily="18" charset="0"/>
              </a:rPr>
              <a:t> Ling, Qiang Xia</a:t>
            </a:r>
          </a:p>
          <a:p>
            <a:pPr>
              <a:lnSpc>
                <a:spcPct val="150000"/>
              </a:lnSpc>
            </a:pPr>
            <a:endParaRPr lang="en-US" sz="2000" dirty="0">
              <a:latin typeface="Times New Roman" panose="02020603050405020304" pitchFamily="18" charset="0"/>
              <a:cs typeface="Times New Roman" panose="02020603050405020304" pitchFamily="18" charset="0"/>
            </a:endParaRPr>
          </a:p>
          <a:p>
            <a:pPr algn="just">
              <a:buClr>
                <a:schemeClr val="bg1"/>
              </a:buClr>
            </a:pPr>
            <a:r>
              <a:rPr lang="en-US" sz="2000" b="1" dirty="0">
                <a:latin typeface="Times New Roman" panose="02020603050405020304" pitchFamily="18" charset="0"/>
                <a:cs typeface="Times New Roman" panose="02020603050405020304" pitchFamily="18" charset="0"/>
              </a:rPr>
              <a:t>Feature Reduction:</a:t>
            </a:r>
            <a:r>
              <a:rPr lang="en-US" sz="2000" dirty="0">
                <a:latin typeface="Times New Roman" panose="02020603050405020304" pitchFamily="18" charset="0"/>
                <a:cs typeface="Times New Roman" panose="02020603050405020304" pitchFamily="18" charset="0"/>
              </a:rPr>
              <a:t> The research employs the Minimum Redundancy Maximum Relevance (MRMR) method to reduce feature redundancy. This technique selects the most informative features, improving the performance of the forecasting models by eliminating irrelevant or redundant data. </a:t>
            </a:r>
            <a:r>
              <a:rPr lang="en-US" sz="2000" dirty="0">
                <a:latin typeface="Times New Roman" panose="02020603050405020304" pitchFamily="18" charset="0"/>
                <a:cs typeface="Times New Roman" panose="02020603050405020304" pitchFamily="18" charset="0"/>
                <a:hlinkClick r:id="rId2"/>
              </a:rPr>
              <a:t>IEEE Xplore</a:t>
            </a:r>
            <a:endParaRPr lang="en-US" sz="2000" dirty="0">
              <a:latin typeface="Times New Roman" panose="02020603050405020304" pitchFamily="18" charset="0"/>
              <a:cs typeface="Times New Roman" panose="02020603050405020304" pitchFamily="18" charset="0"/>
            </a:endParaRPr>
          </a:p>
          <a:p>
            <a:pPr algn="just"/>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Integrating these insights can enhance the precision of commodity price predictions by ensuring that the most suitable models and features are utilized for each forecasting scenario.</a:t>
            </a:r>
          </a:p>
        </p:txBody>
      </p:sp>
    </p:spTree>
    <p:extLst>
      <p:ext uri="{BB962C8B-B14F-4D97-AF65-F5344CB8AC3E}">
        <p14:creationId xmlns:p14="http://schemas.microsoft.com/office/powerpoint/2010/main" val="20254756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8BD8D89C-1E54-32BD-94D2-919FC3948193}"/>
              </a:ext>
            </a:extLst>
          </p:cNvPr>
          <p:cNvSpPr>
            <a:spLocks noGrp="1"/>
          </p:cNvSpPr>
          <p:nvPr>
            <p:ph type="sldNum" sz="quarter" idx="12"/>
          </p:nvPr>
        </p:nvSpPr>
        <p:spPr/>
        <p:txBody>
          <a:bodyPr/>
          <a:lstStyle/>
          <a:p>
            <a:fld id="{FFF20539-7144-4945-B20A-62B30D853D34}" type="slidenum">
              <a:rPr lang="en-IN" smtClean="0"/>
              <a:pPr/>
              <a:t>8</a:t>
            </a:fld>
            <a:endParaRPr lang="en-IN" dirty="0"/>
          </a:p>
        </p:txBody>
      </p:sp>
      <p:sp>
        <p:nvSpPr>
          <p:cNvPr id="6" name="object 2">
            <a:extLst>
              <a:ext uri="{FF2B5EF4-FFF2-40B4-BE49-F238E27FC236}">
                <a16:creationId xmlns:a16="http://schemas.microsoft.com/office/drawing/2014/main" id="{DE51D3FA-CA01-EDE3-D38E-0351AA8EDAD1}"/>
              </a:ext>
            </a:extLst>
          </p:cNvPr>
          <p:cNvSpPr txBox="1">
            <a:spLocks/>
          </p:cNvSpPr>
          <p:nvPr/>
        </p:nvSpPr>
        <p:spPr>
          <a:xfrm>
            <a:off x="651052" y="581654"/>
            <a:ext cx="4377690" cy="506549"/>
          </a:xfrm>
          <a:prstGeom prst="rect">
            <a:avLst/>
          </a:prstGeom>
        </p:spPr>
        <p:txBody>
          <a:bodyPr vert="horz" wrap="square" lIns="0" tIns="13970" rIns="0" bIns="0" rtlCol="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12700">
              <a:lnSpc>
                <a:spcPct val="100000"/>
              </a:lnSpc>
              <a:spcBef>
                <a:spcPts val="110"/>
              </a:spcBef>
            </a:pPr>
            <a:r>
              <a:rPr lang="en-IN" sz="3200" b="1" spc="-10" dirty="0">
                <a:solidFill>
                  <a:srgbClr val="FF0000"/>
                </a:solidFill>
                <a:latin typeface="Times New Roman" pitchFamily="18" charset="0"/>
                <a:cs typeface="Times New Roman" pitchFamily="18" charset="0"/>
              </a:rPr>
              <a:t>Objective</a:t>
            </a:r>
            <a:endParaRPr lang="en-IN" sz="2800" b="1" spc="-10" dirty="0">
              <a:solidFill>
                <a:srgbClr val="FF0000"/>
              </a:solidFill>
              <a:latin typeface="Times New Roman" pitchFamily="18" charset="0"/>
              <a:cs typeface="Times New Roman" pitchFamily="18" charset="0"/>
            </a:endParaRPr>
          </a:p>
        </p:txBody>
      </p:sp>
      <p:sp>
        <p:nvSpPr>
          <p:cNvPr id="7" name="object 3">
            <a:extLst>
              <a:ext uri="{FF2B5EF4-FFF2-40B4-BE49-F238E27FC236}">
                <a16:creationId xmlns:a16="http://schemas.microsoft.com/office/drawing/2014/main" id="{4A161AE3-B4FC-D9B5-BAA0-934443F4D245}"/>
              </a:ext>
            </a:extLst>
          </p:cNvPr>
          <p:cNvSpPr txBox="1"/>
          <p:nvPr/>
        </p:nvSpPr>
        <p:spPr>
          <a:xfrm>
            <a:off x="419100" y="1787702"/>
            <a:ext cx="11353800" cy="3739935"/>
          </a:xfrm>
          <a:prstGeom prst="rect">
            <a:avLst/>
          </a:prstGeom>
        </p:spPr>
        <p:txBody>
          <a:bodyPr vert="horz" wrap="square" lIns="0" tIns="12065" rIns="0" bIns="0" rtlCol="0">
            <a:spAutoFit/>
          </a:bodyPr>
          <a:lstStyle/>
          <a:p>
            <a:pPr marL="12700" marR="5080" algn="just">
              <a:lnSpc>
                <a:spcPct val="150100"/>
              </a:lnSpc>
              <a:spcBef>
                <a:spcPts val="95"/>
              </a:spcBef>
            </a:pPr>
            <a:r>
              <a:rPr lang="en-US" sz="2000" dirty="0">
                <a:latin typeface="Times New Roman" panose="02020603050405020304" pitchFamily="18" charset="0"/>
                <a:cs typeface="Times New Roman" panose="02020603050405020304" pitchFamily="18" charset="0"/>
              </a:rPr>
              <a:t>1. Develop a speech-to-code system that enables users to write and edit code using voice commands.</a:t>
            </a:r>
          </a:p>
          <a:p>
            <a:pPr marL="12700" marR="5080" algn="just">
              <a:lnSpc>
                <a:spcPct val="150100"/>
              </a:lnSpc>
              <a:spcBef>
                <a:spcPts val="95"/>
              </a:spcBef>
            </a:pPr>
            <a:r>
              <a:rPr lang="en-US" sz="2000" dirty="0">
                <a:latin typeface="Times New Roman" panose="02020603050405020304" pitchFamily="18" charset="0"/>
                <a:cs typeface="Times New Roman" panose="02020603050405020304" pitchFamily="18" charset="0"/>
              </a:rPr>
              <a:t>2. Integrate audio-based output to convey code results and error messages through text-to-speech synthesis.</a:t>
            </a:r>
          </a:p>
          <a:p>
            <a:pPr marL="12700" marR="5080" algn="just">
              <a:lnSpc>
                <a:spcPct val="150100"/>
              </a:lnSpc>
              <a:spcBef>
                <a:spcPts val="95"/>
              </a:spcBef>
            </a:pPr>
            <a:r>
              <a:rPr lang="en-US" sz="2000" dirty="0">
                <a:latin typeface="Times New Roman" panose="02020603050405020304" pitchFamily="18" charset="0"/>
                <a:cs typeface="Times New Roman" panose="02020603050405020304" pitchFamily="18" charset="0"/>
              </a:rPr>
              <a:t>3. Support multiple programming languages (Python, Java, HTML) in the initial release for broader usability.</a:t>
            </a:r>
          </a:p>
          <a:p>
            <a:pPr marL="12700" marR="5080" algn="just">
              <a:lnSpc>
                <a:spcPct val="150100"/>
              </a:lnSpc>
              <a:spcBef>
                <a:spcPts val="95"/>
              </a:spcBef>
            </a:pPr>
            <a:r>
              <a:rPr lang="en-US" sz="2000" dirty="0">
                <a:latin typeface="Times New Roman" panose="02020603050405020304" pitchFamily="18" charset="0"/>
                <a:cs typeface="Times New Roman" panose="02020603050405020304" pitchFamily="18" charset="0"/>
              </a:rPr>
              <a:t>4. Implement real-time code execution and result handling from the voice interface without manual actions.</a:t>
            </a:r>
          </a:p>
          <a:p>
            <a:pPr marL="12700" marR="5080" algn="just">
              <a:lnSpc>
                <a:spcPct val="150100"/>
              </a:lnSpc>
              <a:spcBef>
                <a:spcPts val="95"/>
              </a:spcBef>
            </a:pPr>
            <a:r>
              <a:rPr lang="en-US" sz="2000" dirty="0">
                <a:latin typeface="Times New Roman" panose="02020603050405020304" pitchFamily="18" charset="0"/>
                <a:cs typeface="Times New Roman" panose="02020603050405020304" pitchFamily="18" charset="0"/>
              </a:rPr>
              <a:t>5. Build a hands-free navigation system for compiling, saving, and reviewing code through spoken instructions.</a:t>
            </a:r>
          </a:p>
          <a:p>
            <a:pPr marL="12700" marR="5080" algn="just">
              <a:lnSpc>
                <a:spcPct val="150100"/>
              </a:lnSpc>
              <a:spcBef>
                <a:spcPts val="95"/>
              </a:spcBef>
            </a:pPr>
            <a:r>
              <a:rPr lang="en-US" sz="2000" dirty="0">
                <a:latin typeface="Times New Roman" panose="02020603050405020304" pitchFamily="18" charset="0"/>
                <a:cs typeface="Times New Roman" panose="02020603050405020304" pitchFamily="18" charset="0"/>
              </a:rPr>
              <a:t>6. Include essential error handling mechanisms to manage voice misinterpretation and code failures effectively.</a:t>
            </a:r>
          </a:p>
          <a:p>
            <a:pPr marL="12700" marR="5080" algn="just">
              <a:lnSpc>
                <a:spcPct val="150100"/>
              </a:lnSpc>
              <a:spcBef>
                <a:spcPts val="95"/>
              </a:spcBef>
            </a:pPr>
            <a:r>
              <a:rPr lang="en-US" sz="2000" dirty="0">
                <a:latin typeface="Times New Roman" panose="02020603050405020304" pitchFamily="18" charset="0"/>
                <a:cs typeface="Times New Roman" panose="02020603050405020304" pitchFamily="18" charset="0"/>
              </a:rPr>
              <a:t>7. Follow a modular design to allow iterative testing, feature isolation, and streamlined updates.</a:t>
            </a:r>
          </a:p>
          <a:p>
            <a:pPr marL="12700" marR="5080" algn="just">
              <a:lnSpc>
                <a:spcPct val="150100"/>
              </a:lnSpc>
              <a:spcBef>
                <a:spcPts val="95"/>
              </a:spcBef>
            </a:pPr>
            <a:r>
              <a:rPr lang="en-US" sz="2000" dirty="0">
                <a:latin typeface="Times New Roman" panose="02020603050405020304" pitchFamily="18" charset="0"/>
                <a:cs typeface="Times New Roman" panose="02020603050405020304" pitchFamily="18" charset="0"/>
              </a:rPr>
              <a:t>8. Create a deployable solution usable on low-spec systems, with optional support for offline environments.</a:t>
            </a:r>
            <a:endParaRPr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642245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BF2FD-F890-BF82-FB16-E4C896A6A08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BE4EE86-D90E-CEF0-581F-DD16242BAB46}"/>
              </a:ext>
            </a:extLst>
          </p:cNvPr>
          <p:cNvSpPr/>
          <p:nvPr/>
        </p:nvSpPr>
        <p:spPr>
          <a:xfrm>
            <a:off x="562320" y="551192"/>
            <a:ext cx="5396606" cy="584775"/>
          </a:xfrm>
          <a:prstGeom prst="rect">
            <a:avLst/>
          </a:prstGeom>
        </p:spPr>
        <p:txBody>
          <a:bodyPr wrap="none">
            <a:spAutoFit/>
          </a:bodyPr>
          <a:lstStyle/>
          <a:p>
            <a:r>
              <a:rPr lang="en-US" sz="3200" b="1" dirty="0">
                <a:solidFill>
                  <a:srgbClr val="FF0000"/>
                </a:solidFill>
                <a:latin typeface="Times New Roman" panose="02020603050405020304" pitchFamily="18" charset="0"/>
                <a:cs typeface="Times New Roman" panose="02020603050405020304" pitchFamily="18" charset="0"/>
              </a:rPr>
              <a:t>Proposed System Flow Chart </a:t>
            </a:r>
            <a:endParaRPr lang="en-US" sz="3200" dirty="0">
              <a:solidFill>
                <a:srgbClr val="FF0000"/>
              </a:solidFill>
              <a:latin typeface="Times New Roman" panose="02020603050405020304" pitchFamily="18" charset="0"/>
              <a:cs typeface="Times New Roman" panose="02020603050405020304" pitchFamily="18" charset="0"/>
            </a:endParaRPr>
          </a:p>
        </p:txBody>
      </p:sp>
      <p:sp>
        <p:nvSpPr>
          <p:cNvPr id="8" name="Rectangle 7">
            <a:extLst>
              <a:ext uri="{FF2B5EF4-FFF2-40B4-BE49-F238E27FC236}">
                <a16:creationId xmlns:a16="http://schemas.microsoft.com/office/drawing/2014/main" id="{3AAED777-23DA-EAD9-0BF5-A51FE1A18C9F}"/>
              </a:ext>
            </a:extLst>
          </p:cNvPr>
          <p:cNvSpPr/>
          <p:nvPr/>
        </p:nvSpPr>
        <p:spPr>
          <a:xfrm>
            <a:off x="8922508" y="3191537"/>
            <a:ext cx="1986412" cy="880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Time Series Prediction</a:t>
            </a:r>
            <a:endParaRPr lang="en-IN" dirty="0"/>
          </a:p>
        </p:txBody>
      </p:sp>
      <p:sp>
        <p:nvSpPr>
          <p:cNvPr id="20" name="Rectangle 19">
            <a:extLst>
              <a:ext uri="{FF2B5EF4-FFF2-40B4-BE49-F238E27FC236}">
                <a16:creationId xmlns:a16="http://schemas.microsoft.com/office/drawing/2014/main" id="{37208574-6D2D-2B89-9CD5-4BA80E993980}"/>
              </a:ext>
            </a:extLst>
          </p:cNvPr>
          <p:cNvSpPr/>
          <p:nvPr/>
        </p:nvSpPr>
        <p:spPr>
          <a:xfrm>
            <a:off x="5627626" y="4527638"/>
            <a:ext cx="2208780" cy="880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Input Parsing </a:t>
            </a:r>
            <a:endParaRPr lang="en-IN" dirty="0"/>
          </a:p>
        </p:txBody>
      </p:sp>
      <p:sp>
        <p:nvSpPr>
          <p:cNvPr id="21" name="Rectangle 20">
            <a:extLst>
              <a:ext uri="{FF2B5EF4-FFF2-40B4-BE49-F238E27FC236}">
                <a16:creationId xmlns:a16="http://schemas.microsoft.com/office/drawing/2014/main" id="{8D4A7A60-C902-A3B6-B3EA-3932859FF606}"/>
              </a:ext>
            </a:extLst>
          </p:cNvPr>
          <p:cNvSpPr/>
          <p:nvPr/>
        </p:nvSpPr>
        <p:spPr>
          <a:xfrm>
            <a:off x="5627626" y="1850008"/>
            <a:ext cx="2208780" cy="880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 Building</a:t>
            </a:r>
            <a:endParaRPr lang="en-IN" dirty="0"/>
          </a:p>
        </p:txBody>
      </p:sp>
      <p:sp>
        <p:nvSpPr>
          <p:cNvPr id="25" name="Rectangle 24">
            <a:extLst>
              <a:ext uri="{FF2B5EF4-FFF2-40B4-BE49-F238E27FC236}">
                <a16:creationId xmlns:a16="http://schemas.microsoft.com/office/drawing/2014/main" id="{A223D244-A6F6-41AB-B1B7-D4F90FA75121}"/>
              </a:ext>
            </a:extLst>
          </p:cNvPr>
          <p:cNvSpPr/>
          <p:nvPr/>
        </p:nvSpPr>
        <p:spPr>
          <a:xfrm>
            <a:off x="1705318" y="1425708"/>
            <a:ext cx="2367150" cy="880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Integration</a:t>
            </a:r>
            <a:endParaRPr lang="en-IN" dirty="0"/>
          </a:p>
        </p:txBody>
      </p:sp>
      <p:sp>
        <p:nvSpPr>
          <p:cNvPr id="27" name="Rectangle 26">
            <a:extLst>
              <a:ext uri="{FF2B5EF4-FFF2-40B4-BE49-F238E27FC236}">
                <a16:creationId xmlns:a16="http://schemas.microsoft.com/office/drawing/2014/main" id="{289ACAB9-5572-830A-A047-DF1B140E91E2}"/>
              </a:ext>
            </a:extLst>
          </p:cNvPr>
          <p:cNvSpPr/>
          <p:nvPr/>
        </p:nvSpPr>
        <p:spPr>
          <a:xfrm>
            <a:off x="1697996" y="3837111"/>
            <a:ext cx="2372904" cy="880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Raw Data</a:t>
            </a:r>
            <a:endParaRPr lang="en-IN" dirty="0"/>
          </a:p>
        </p:txBody>
      </p:sp>
      <p:sp>
        <p:nvSpPr>
          <p:cNvPr id="31" name="Rectangle 30">
            <a:extLst>
              <a:ext uri="{FF2B5EF4-FFF2-40B4-BE49-F238E27FC236}">
                <a16:creationId xmlns:a16="http://schemas.microsoft.com/office/drawing/2014/main" id="{740D25C0-A59E-FAF9-CA5D-863814C0E2B7}"/>
              </a:ext>
            </a:extLst>
          </p:cNvPr>
          <p:cNvSpPr/>
          <p:nvPr/>
        </p:nvSpPr>
        <p:spPr>
          <a:xfrm>
            <a:off x="1705320" y="2642621"/>
            <a:ext cx="2367150" cy="880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Preprocessing</a:t>
            </a:r>
            <a:endParaRPr lang="en-IN" dirty="0"/>
          </a:p>
        </p:txBody>
      </p:sp>
      <p:cxnSp>
        <p:nvCxnSpPr>
          <p:cNvPr id="35" name="Straight Arrow Connector 34">
            <a:extLst>
              <a:ext uri="{FF2B5EF4-FFF2-40B4-BE49-F238E27FC236}">
                <a16:creationId xmlns:a16="http://schemas.microsoft.com/office/drawing/2014/main" id="{5091A7A1-C0FF-4C9B-6491-E8B4BFA257EC}"/>
              </a:ext>
            </a:extLst>
          </p:cNvPr>
          <p:cNvCxnSpPr>
            <a:cxnSpLocks/>
            <a:stCxn id="27" idx="2"/>
            <a:endCxn id="31" idx="0"/>
          </p:cNvCxnSpPr>
          <p:nvPr/>
        </p:nvCxnSpPr>
        <p:spPr>
          <a:xfrm flipV="1">
            <a:off x="2884448" y="2642621"/>
            <a:ext cx="4447" cy="20750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EFC138DC-C887-5F4D-D5C0-374276530435}"/>
              </a:ext>
            </a:extLst>
          </p:cNvPr>
          <p:cNvCxnSpPr>
            <a:cxnSpLocks/>
            <a:stCxn id="31" idx="2"/>
            <a:endCxn id="25" idx="0"/>
          </p:cNvCxnSpPr>
          <p:nvPr/>
        </p:nvCxnSpPr>
        <p:spPr>
          <a:xfrm flipH="1" flipV="1">
            <a:off x="2888893" y="1425708"/>
            <a:ext cx="2" cy="209744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C590BC35-9DAF-027C-DA73-FCA7A0FA2F43}"/>
              </a:ext>
            </a:extLst>
          </p:cNvPr>
          <p:cNvCxnSpPr>
            <a:cxnSpLocks/>
            <a:stCxn id="25" idx="3"/>
            <a:endCxn id="21" idx="1"/>
          </p:cNvCxnSpPr>
          <p:nvPr/>
        </p:nvCxnSpPr>
        <p:spPr>
          <a:xfrm>
            <a:off x="4072468" y="1865975"/>
            <a:ext cx="1555158" cy="42430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47" name="Rectangle 46">
            <a:extLst>
              <a:ext uri="{FF2B5EF4-FFF2-40B4-BE49-F238E27FC236}">
                <a16:creationId xmlns:a16="http://schemas.microsoft.com/office/drawing/2014/main" id="{F3274E6C-1D50-AD13-9004-775031624A76}"/>
              </a:ext>
            </a:extLst>
          </p:cNvPr>
          <p:cNvSpPr/>
          <p:nvPr/>
        </p:nvSpPr>
        <p:spPr>
          <a:xfrm>
            <a:off x="1705318" y="5029808"/>
            <a:ext cx="2367150" cy="880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Unseen Data</a:t>
            </a:r>
            <a:endParaRPr lang="en-IN" dirty="0"/>
          </a:p>
        </p:txBody>
      </p:sp>
      <p:cxnSp>
        <p:nvCxnSpPr>
          <p:cNvPr id="49" name="Connector: Elbow 48">
            <a:extLst>
              <a:ext uri="{FF2B5EF4-FFF2-40B4-BE49-F238E27FC236}">
                <a16:creationId xmlns:a16="http://schemas.microsoft.com/office/drawing/2014/main" id="{4BA43B74-0965-1BD1-04F0-C26D57392D9B}"/>
              </a:ext>
            </a:extLst>
          </p:cNvPr>
          <p:cNvCxnSpPr>
            <a:cxnSpLocks/>
            <a:stCxn id="47" idx="3"/>
            <a:endCxn id="20" idx="1"/>
          </p:cNvCxnSpPr>
          <p:nvPr/>
        </p:nvCxnSpPr>
        <p:spPr>
          <a:xfrm flipV="1">
            <a:off x="4072468" y="4967905"/>
            <a:ext cx="1555158" cy="502170"/>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9EF0B3B-AEF8-E972-1683-E28E846151AC}"/>
              </a:ext>
            </a:extLst>
          </p:cNvPr>
          <p:cNvCxnSpPr>
            <a:cxnSpLocks/>
            <a:endCxn id="47" idx="1"/>
          </p:cNvCxnSpPr>
          <p:nvPr/>
        </p:nvCxnSpPr>
        <p:spPr>
          <a:xfrm>
            <a:off x="429768" y="5470074"/>
            <a:ext cx="127555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E22B313-567B-9425-7757-BB35E332E367}"/>
              </a:ext>
            </a:extLst>
          </p:cNvPr>
          <p:cNvCxnSpPr>
            <a:cxnSpLocks/>
          </p:cNvCxnSpPr>
          <p:nvPr/>
        </p:nvCxnSpPr>
        <p:spPr>
          <a:xfrm>
            <a:off x="429768" y="4278307"/>
            <a:ext cx="127555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7773022A-1722-9DF4-439C-27CA0A266E86}"/>
              </a:ext>
            </a:extLst>
          </p:cNvPr>
          <p:cNvSpPr txBox="1"/>
          <p:nvPr/>
        </p:nvSpPr>
        <p:spPr>
          <a:xfrm>
            <a:off x="274320" y="5118950"/>
            <a:ext cx="1322432" cy="313273"/>
          </a:xfrm>
          <a:prstGeom prst="rect">
            <a:avLst/>
          </a:prstGeom>
          <a:noFill/>
        </p:spPr>
        <p:txBody>
          <a:bodyPr wrap="square">
            <a:spAutoFit/>
          </a:bodyPr>
          <a:lstStyle/>
          <a:p>
            <a:r>
              <a:rPr lang="en-IN" sz="1400" b="1" dirty="0"/>
              <a:t>2. Prediction</a:t>
            </a:r>
          </a:p>
        </p:txBody>
      </p:sp>
      <p:sp>
        <p:nvSpPr>
          <p:cNvPr id="66" name="TextBox 65">
            <a:extLst>
              <a:ext uri="{FF2B5EF4-FFF2-40B4-BE49-F238E27FC236}">
                <a16:creationId xmlns:a16="http://schemas.microsoft.com/office/drawing/2014/main" id="{B6A54AF1-DD4B-F690-CF6F-4010EB9179D2}"/>
              </a:ext>
            </a:extLst>
          </p:cNvPr>
          <p:cNvSpPr txBox="1"/>
          <p:nvPr/>
        </p:nvSpPr>
        <p:spPr>
          <a:xfrm>
            <a:off x="274320" y="3920463"/>
            <a:ext cx="1419570" cy="307777"/>
          </a:xfrm>
          <a:prstGeom prst="rect">
            <a:avLst/>
          </a:prstGeom>
          <a:noFill/>
        </p:spPr>
        <p:txBody>
          <a:bodyPr wrap="square">
            <a:spAutoFit/>
          </a:bodyPr>
          <a:lstStyle/>
          <a:p>
            <a:r>
              <a:rPr lang="en-IN" sz="1400" b="1" dirty="0"/>
              <a:t>1. Preprocessing</a:t>
            </a:r>
          </a:p>
        </p:txBody>
      </p:sp>
      <p:cxnSp>
        <p:nvCxnSpPr>
          <p:cNvPr id="70" name="Connector: Elbow 69">
            <a:extLst>
              <a:ext uri="{FF2B5EF4-FFF2-40B4-BE49-F238E27FC236}">
                <a16:creationId xmlns:a16="http://schemas.microsoft.com/office/drawing/2014/main" id="{434B6C23-0A41-29A0-C9E4-91B14C6DED89}"/>
              </a:ext>
            </a:extLst>
          </p:cNvPr>
          <p:cNvCxnSpPr>
            <a:cxnSpLocks/>
            <a:stCxn id="76" idx="3"/>
            <a:endCxn id="8" idx="1"/>
          </p:cNvCxnSpPr>
          <p:nvPr/>
        </p:nvCxnSpPr>
        <p:spPr>
          <a:xfrm>
            <a:off x="7836406" y="3629090"/>
            <a:ext cx="1086102" cy="2714"/>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sp>
        <p:nvSpPr>
          <p:cNvPr id="76" name="Rectangle 75">
            <a:extLst>
              <a:ext uri="{FF2B5EF4-FFF2-40B4-BE49-F238E27FC236}">
                <a16:creationId xmlns:a16="http://schemas.microsoft.com/office/drawing/2014/main" id="{94886290-67C6-E8EB-3CF3-93A392A964D5}"/>
              </a:ext>
            </a:extLst>
          </p:cNvPr>
          <p:cNvSpPr/>
          <p:nvPr/>
        </p:nvSpPr>
        <p:spPr>
          <a:xfrm>
            <a:off x="5627626" y="3188823"/>
            <a:ext cx="2208780" cy="88053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Trained Model</a:t>
            </a:r>
            <a:endParaRPr lang="en-IN" dirty="0"/>
          </a:p>
        </p:txBody>
      </p:sp>
      <p:cxnSp>
        <p:nvCxnSpPr>
          <p:cNvPr id="78" name="Straight Arrow Connector 77">
            <a:extLst>
              <a:ext uri="{FF2B5EF4-FFF2-40B4-BE49-F238E27FC236}">
                <a16:creationId xmlns:a16="http://schemas.microsoft.com/office/drawing/2014/main" id="{8608CF60-3F15-6C98-6F2B-8F15F98123CC}"/>
              </a:ext>
            </a:extLst>
          </p:cNvPr>
          <p:cNvCxnSpPr>
            <a:stCxn id="20" idx="0"/>
            <a:endCxn id="76" idx="2"/>
          </p:cNvCxnSpPr>
          <p:nvPr/>
        </p:nvCxnSpPr>
        <p:spPr>
          <a:xfrm flipV="1">
            <a:off x="6732016" y="4069356"/>
            <a:ext cx="0" cy="458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0" name="Straight Arrow Connector 79">
            <a:extLst>
              <a:ext uri="{FF2B5EF4-FFF2-40B4-BE49-F238E27FC236}">
                <a16:creationId xmlns:a16="http://schemas.microsoft.com/office/drawing/2014/main" id="{A5582C81-D90E-6CB8-1F7B-C0CFC3A16A85}"/>
              </a:ext>
            </a:extLst>
          </p:cNvPr>
          <p:cNvCxnSpPr>
            <a:stCxn id="21" idx="2"/>
            <a:endCxn id="76" idx="0"/>
          </p:cNvCxnSpPr>
          <p:nvPr/>
        </p:nvCxnSpPr>
        <p:spPr>
          <a:xfrm>
            <a:off x="6732016" y="2730541"/>
            <a:ext cx="0" cy="458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98140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6900" y="185836"/>
            <a:ext cx="10515600" cy="1325563"/>
          </a:xfrm>
        </p:spPr>
        <p:txBody>
          <a:bodyPr>
            <a:normAutofit/>
          </a:bodyPr>
          <a:lstStyle/>
          <a:p>
            <a:r>
              <a:rPr lang="en-US" sz="3200" b="1" dirty="0">
                <a:solidFill>
                  <a:srgbClr val="FF0000"/>
                </a:solidFill>
                <a:latin typeface="Times New Roman" pitchFamily="18" charset="0"/>
                <a:cs typeface="Times New Roman" pitchFamily="18" charset="0"/>
              </a:rPr>
              <a:t>Software Requirements</a:t>
            </a:r>
            <a:endParaRPr lang="en-IN" sz="3200" b="1" dirty="0">
              <a:solidFill>
                <a:srgbClr val="FF0000"/>
              </a:solidFill>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FFF20539-7144-4945-B20A-62B30D853D34}" type="slidenum">
              <a:rPr lang="en-IN" smtClean="0"/>
              <a:pPr/>
              <a:t>10</a:t>
            </a:fld>
            <a:endParaRPr lang="en-IN" dirty="0"/>
          </a:p>
        </p:txBody>
      </p:sp>
      <p:graphicFrame>
        <p:nvGraphicFramePr>
          <p:cNvPr id="6" name="Table 5">
            <a:extLst>
              <a:ext uri="{FF2B5EF4-FFF2-40B4-BE49-F238E27FC236}">
                <a16:creationId xmlns:a16="http://schemas.microsoft.com/office/drawing/2014/main" id="{E2D333AA-ADFB-BA08-7C43-16B78EA70E6E}"/>
              </a:ext>
            </a:extLst>
          </p:cNvPr>
          <p:cNvGraphicFramePr>
            <a:graphicFrameLocks noGrp="1"/>
          </p:cNvGraphicFramePr>
          <p:nvPr>
            <p:extLst>
              <p:ext uri="{D42A27DB-BD31-4B8C-83A1-F6EECF244321}">
                <p14:modId xmlns:p14="http://schemas.microsoft.com/office/powerpoint/2010/main" val="3594898653"/>
              </p:ext>
            </p:extLst>
          </p:nvPr>
        </p:nvGraphicFramePr>
        <p:xfrm>
          <a:off x="1355344" y="2496502"/>
          <a:ext cx="10147808" cy="2502049"/>
        </p:xfrm>
        <a:graphic>
          <a:graphicData uri="http://schemas.openxmlformats.org/drawingml/2006/table">
            <a:tbl>
              <a:tblPr firstRow="1" bandRow="1">
                <a:tableStyleId>{5C22544A-7EE6-4342-B048-85BDC9FD1C3A}</a:tableStyleId>
              </a:tblPr>
              <a:tblGrid>
                <a:gridCol w="3088640">
                  <a:extLst>
                    <a:ext uri="{9D8B030D-6E8A-4147-A177-3AD203B41FA5}">
                      <a16:colId xmlns:a16="http://schemas.microsoft.com/office/drawing/2014/main" val="3014000744"/>
                    </a:ext>
                  </a:extLst>
                </a:gridCol>
                <a:gridCol w="7059168">
                  <a:extLst>
                    <a:ext uri="{9D8B030D-6E8A-4147-A177-3AD203B41FA5}">
                      <a16:colId xmlns:a16="http://schemas.microsoft.com/office/drawing/2014/main" val="2310553014"/>
                    </a:ext>
                  </a:extLst>
                </a:gridCol>
              </a:tblGrid>
              <a:tr h="532159">
                <a:tc>
                  <a:txBody>
                    <a:bodyPr/>
                    <a:lstStyle/>
                    <a:p>
                      <a:r>
                        <a:rPr lang="en-US" altLang="en-US" sz="1800" b="1" dirty="0">
                          <a:solidFill>
                            <a:schemeClr val="tx1"/>
                          </a:solidFill>
                          <a:latin typeface="Times New Roman" panose="02020603050405020304" pitchFamily="18" charset="0"/>
                          <a:cs typeface="Times New Roman" panose="02020603050405020304" pitchFamily="18" charset="0"/>
                        </a:rPr>
                        <a:t>1. Operating System</a:t>
                      </a:r>
                      <a:r>
                        <a:rPr lang="en-US" altLang="en-US" sz="1800" dirty="0">
                          <a:solidFill>
                            <a:schemeClr val="tx1"/>
                          </a:solidFill>
                          <a:latin typeface="Times New Roman" panose="02020603050405020304" pitchFamily="18" charset="0"/>
                          <a:cs typeface="Times New Roman" panose="02020603050405020304" pitchFamily="18" charset="0"/>
                        </a:rPr>
                        <a:t> </a:t>
                      </a:r>
                      <a:endParaRPr lang="en-IN" dirty="0">
                        <a:solidFill>
                          <a:schemeClr val="tx1"/>
                        </a:solidFill>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800" b="0" dirty="0">
                          <a:solidFill>
                            <a:schemeClr val="tx1"/>
                          </a:solidFill>
                          <a:latin typeface="Times New Roman" panose="02020603050405020304" pitchFamily="18" charset="0"/>
                          <a:cs typeface="Times New Roman" panose="02020603050405020304" pitchFamily="18" charset="0"/>
                        </a:rPr>
                        <a:t>Windows 11</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73628433"/>
                  </a:ext>
                </a:extLst>
              </a:tr>
              <a:tr h="519211">
                <a:tc>
                  <a:txBody>
                    <a:bodyPr/>
                    <a:lstStyle/>
                    <a:p>
                      <a:r>
                        <a:rPr lang="en-IN" sz="1800" b="1" dirty="0">
                          <a:solidFill>
                            <a:schemeClr val="tx1"/>
                          </a:solidFill>
                          <a:latin typeface="Times New Roman" panose="02020603050405020304" pitchFamily="18" charset="0"/>
                          <a:cs typeface="Times New Roman" panose="02020603050405020304" pitchFamily="18" charset="0"/>
                        </a:rPr>
                        <a:t>2. Programming Languages</a:t>
                      </a:r>
                      <a:endParaRPr lang="en-IN" dirty="0">
                        <a:solidFill>
                          <a:schemeClr val="tx1"/>
                        </a:solidFill>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solidFill>
                            <a:schemeClr val="tx1"/>
                          </a:solidFill>
                          <a:latin typeface="Times New Roman" panose="02020603050405020304" pitchFamily="18" charset="0"/>
                          <a:cs typeface="Times New Roman" panose="02020603050405020304" pitchFamily="18" charset="0"/>
                        </a:rPr>
                        <a:t>Python (Pandas, NumPy)</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44659522"/>
                  </a:ext>
                </a:extLst>
              </a:tr>
              <a:tr h="532159">
                <a:tc>
                  <a:txBody>
                    <a:bodyPr/>
                    <a:lstStyle/>
                    <a:p>
                      <a:r>
                        <a:rPr lang="en-IN" sz="1800" b="1" dirty="0">
                          <a:solidFill>
                            <a:schemeClr val="tx1"/>
                          </a:solidFill>
                          <a:latin typeface="Times New Roman" panose="02020603050405020304" pitchFamily="18" charset="0"/>
                          <a:cs typeface="Times New Roman" panose="02020603050405020304" pitchFamily="18" charset="0"/>
                        </a:rPr>
                        <a:t>3. Data Processing</a:t>
                      </a:r>
                      <a:endParaRPr lang="en-IN"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MS Excel, Pandas</a:t>
                      </a:r>
                      <a:endParaRPr lang="en-IN"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5513598"/>
                  </a:ext>
                </a:extLst>
              </a:tr>
              <a:tr h="918520">
                <a:tc>
                  <a:txBody>
                    <a:bodyPr/>
                    <a:lstStyle/>
                    <a:p>
                      <a:r>
                        <a:rPr lang="en-IN" sz="1800" b="1" dirty="0">
                          <a:solidFill>
                            <a:schemeClr val="tx1"/>
                          </a:solidFill>
                          <a:latin typeface="Times New Roman" panose="02020603050405020304" pitchFamily="18" charset="0"/>
                          <a:cs typeface="Times New Roman" panose="02020603050405020304" pitchFamily="18" charset="0"/>
                        </a:rPr>
                        <a:t>4. ML/DL Frameworks</a:t>
                      </a:r>
                      <a:endParaRPr lang="en-IN"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IN" sz="1800" dirty="0">
                          <a:solidFill>
                            <a:schemeClr val="tx1"/>
                          </a:solidFill>
                          <a:latin typeface="Times New Roman" panose="02020603050405020304" pitchFamily="18" charset="0"/>
                          <a:cs typeface="Times New Roman" panose="02020603050405020304" pitchFamily="18" charset="0"/>
                        </a:rPr>
                        <a:t>Scikit-learn</a:t>
                      </a:r>
                      <a:endParaRPr lang="en-IN" dirty="0">
                        <a:solidFill>
                          <a:schemeClr val="tx1"/>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55255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2">
            <a:extLst>
              <a:ext uri="{FF2B5EF4-FFF2-40B4-BE49-F238E27FC236}">
                <a16:creationId xmlns:a16="http://schemas.microsoft.com/office/drawing/2014/main" id="{87F0D56A-B436-E3CA-1F45-D65738FDB6FA}"/>
              </a:ext>
            </a:extLst>
          </p:cNvPr>
          <p:cNvSpPr txBox="1">
            <a:spLocks noGrp="1"/>
          </p:cNvSpPr>
          <p:nvPr>
            <p:ph type="title"/>
          </p:nvPr>
        </p:nvSpPr>
        <p:spPr>
          <a:xfrm>
            <a:off x="993444" y="661769"/>
            <a:ext cx="4377690" cy="568104"/>
          </a:xfrm>
          <a:prstGeom prst="rect">
            <a:avLst/>
          </a:prstGeom>
        </p:spPr>
        <p:txBody>
          <a:bodyPr vert="horz" wrap="square" lIns="0" tIns="13970" rIns="0" bIns="0" rtlCol="0">
            <a:spAutoFit/>
          </a:bodyPr>
          <a:lstStyle/>
          <a:p>
            <a:pPr marL="12700">
              <a:lnSpc>
                <a:spcPct val="100000"/>
              </a:lnSpc>
              <a:spcBef>
                <a:spcPts val="110"/>
              </a:spcBef>
            </a:pPr>
            <a:r>
              <a:rPr sz="3600" b="1" spc="-10" dirty="0">
                <a:solidFill>
                  <a:srgbClr val="FF0000"/>
                </a:solidFill>
                <a:latin typeface="Times New Roman" panose="02020603050405020304" pitchFamily="18" charset="0"/>
                <a:cs typeface="Times New Roman" panose="02020603050405020304" pitchFamily="18" charset="0"/>
              </a:rPr>
              <a:t>References</a:t>
            </a:r>
          </a:p>
        </p:txBody>
      </p:sp>
      <p:sp>
        <p:nvSpPr>
          <p:cNvPr id="7" name="object 3">
            <a:extLst>
              <a:ext uri="{FF2B5EF4-FFF2-40B4-BE49-F238E27FC236}">
                <a16:creationId xmlns:a16="http://schemas.microsoft.com/office/drawing/2014/main" id="{1D59E875-7953-705B-5CB6-8202EFF7E5BC}"/>
              </a:ext>
            </a:extLst>
          </p:cNvPr>
          <p:cNvSpPr txBox="1"/>
          <p:nvPr/>
        </p:nvSpPr>
        <p:spPr>
          <a:xfrm flipV="1">
            <a:off x="2640476" y="4183354"/>
            <a:ext cx="5953722" cy="45719"/>
          </a:xfrm>
          <a:prstGeom prst="rect">
            <a:avLst/>
          </a:prstGeom>
        </p:spPr>
        <p:txBody>
          <a:bodyPr vert="horz" wrap="square" lIns="0" tIns="88265" rIns="0" bIns="0" rtlCol="0">
            <a:spAutoFit/>
          </a:bodyPr>
          <a:lstStyle/>
          <a:p>
            <a:pPr marL="356870" indent="-344805">
              <a:lnSpc>
                <a:spcPct val="100000"/>
              </a:lnSpc>
              <a:spcBef>
                <a:spcPts val="695"/>
              </a:spcBef>
              <a:buClr>
                <a:srgbClr val="D24717"/>
              </a:buClr>
              <a:buSzPct val="93750"/>
              <a:buFont typeface="Segoe UI Symbol"/>
              <a:buChar char="⚫"/>
              <a:tabLst>
                <a:tab pos="356870" algn="l"/>
                <a:tab pos="357505" algn="l"/>
              </a:tabLst>
            </a:pPr>
            <a:endParaRPr sz="2000" dirty="0">
              <a:solidFill>
                <a:srgbClr val="0070C0"/>
              </a:solidFill>
              <a:latin typeface="Arial MT"/>
              <a:cs typeface="Arial MT"/>
            </a:endParaRPr>
          </a:p>
        </p:txBody>
      </p:sp>
      <p:sp>
        <p:nvSpPr>
          <p:cNvPr id="8" name="Rectangle 3">
            <a:extLst>
              <a:ext uri="{FF2B5EF4-FFF2-40B4-BE49-F238E27FC236}">
                <a16:creationId xmlns:a16="http://schemas.microsoft.com/office/drawing/2014/main" id="{9CBBDDFB-2F41-ACA5-69D3-A7CE2DC39106}"/>
              </a:ext>
            </a:extLst>
          </p:cNvPr>
          <p:cNvSpPr>
            <a:spLocks noChangeArrowheads="1"/>
          </p:cNvSpPr>
          <p:nvPr/>
        </p:nvSpPr>
        <p:spPr bwMode="auto">
          <a:xfrm>
            <a:off x="877875" y="1818446"/>
            <a:ext cx="9965588" cy="38472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Artificial Intelligence Technology in the Agricultural Sector: A Systematic Literature Review (2022)</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Ersin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Elbasi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Nour Mostafa, Zakwan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Alarnaout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et al., IEEE</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AgTech</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Volatility Prediction for Agricultural Commodity Exchange Trading Applied Deep Learning (2024)</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Ngoc-Bao-Van Le, Yeong-Seok Seo, Jun-Ho Huh, IEEE</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Forecasting Agricultural Commodity Prices Using Model Selection Framework With Time Series Features and Forecast Horizons (2020)</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Dabin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Zhang,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Shanying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Chen,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Liwen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Ling, Qiang Xia, IEEE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377574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88,300+ Thank You Text Stock Photos, Pictures &amp; Royalty-Free Images -  iStock | Thank you text vector, Thank you text message, Thank you text  bubble">
            <a:extLst>
              <a:ext uri="{FF2B5EF4-FFF2-40B4-BE49-F238E27FC236}">
                <a16:creationId xmlns:a16="http://schemas.microsoft.com/office/drawing/2014/main" id="{CD097646-4982-404C-3523-5BA849C017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81350" y="1876425"/>
            <a:ext cx="5829300" cy="3105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922645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1496</TotalTime>
  <Words>761</Words>
  <Application>Microsoft Office PowerPoint</Application>
  <PresentationFormat>Widescreen</PresentationFormat>
  <Paragraphs>83</Paragraphs>
  <Slides>12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Arial MT</vt:lpstr>
      <vt:lpstr>Calibri</vt:lpstr>
      <vt:lpstr>Calibri Light</vt:lpstr>
      <vt:lpstr>Helvetica</vt:lpstr>
      <vt:lpstr>Segoe UI Symbol</vt:lpstr>
      <vt:lpstr>Times New Roman</vt:lpstr>
      <vt:lpstr>Office Theme</vt:lpstr>
      <vt:lpstr>PowerPoint Presentation</vt:lpstr>
      <vt:lpstr>PowerPoint Presentation</vt:lpstr>
      <vt:lpstr>Contents</vt:lpstr>
      <vt:lpstr>PowerPoint Presentation</vt:lpstr>
      <vt:lpstr>Literatures Identified and Findings</vt:lpstr>
      <vt:lpstr>Literatures Identified and Findings</vt:lpstr>
      <vt:lpstr>Literatures Identified and Findings</vt:lpstr>
      <vt:lpstr>PowerPoint Presentation</vt:lpstr>
      <vt:lpstr>PowerPoint Presentation</vt:lpstr>
      <vt:lpstr>Software Requirements</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m.santheepkumar107@gmail.com</dc:creator>
  <cp:lastModifiedBy>Aashif AK</cp:lastModifiedBy>
  <cp:revision>61</cp:revision>
  <dcterms:created xsi:type="dcterms:W3CDTF">2023-03-16T08:45:29Z</dcterms:created>
  <dcterms:modified xsi:type="dcterms:W3CDTF">2025-09-28T12:03:53Z</dcterms:modified>
</cp:coreProperties>
</file>
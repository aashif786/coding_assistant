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7" r:id="rId5"/>
    <p:sldId id="380" r:id="rId6"/>
    <p:sldId id="403" r:id="rId7"/>
    <p:sldId id="421" r:id="rId8"/>
    <p:sldId id="401" r:id="rId9"/>
    <p:sldId id="419" r:id="rId10"/>
    <p:sldId id="418" r:id="rId11"/>
    <p:sldId id="416" r:id="rId12"/>
    <p:sldId id="420" r:id="rId13"/>
    <p:sldId id="392" r:id="rId14"/>
    <p:sldId id="405" r:id="rId15"/>
    <p:sldId id="422" r:id="rId16"/>
    <p:sldId id="408" r:id="rId17"/>
    <p:sldId id="415" r:id="rId18"/>
    <p:sldId id="410" r:id="rId19"/>
    <p:sldId id="411" r:id="rId20"/>
    <p:sldId id="262" r:id="rId21"/>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52">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p:cViewPr varScale="1">
        <p:scale>
          <a:sx n="57" d="100"/>
          <a:sy n="57" d="100"/>
        </p:scale>
        <p:origin x="78" y="1128"/>
      </p:cViewPr>
      <p:guideLst>
        <p:guide orient="horz" pos="2152"/>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1809279E-E194-4655-9FBE-994C699C558E}" type="datetimeFigureOut">
              <a:rPr lang="en-US"/>
              <a:pPr>
                <a:defRPr/>
              </a:pPr>
              <a:t>2/12/2026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221C618D-A98A-4909-A2EE-8C783DD270CA}" type="slidenum">
              <a:rPr lang="en-IN" altLang="en-US"/>
              <a:pPr/>
              <a:t>‹#›</a:t>
            </a:fld>
            <a:endParaRPr lang="en-IN" altLang="en-US"/>
          </a:p>
        </p:txBody>
      </p:sp>
    </p:spTree>
    <p:extLst>
      <p:ext uri="{BB962C8B-B14F-4D97-AF65-F5344CB8AC3E}">
        <p14:creationId xmlns:p14="http://schemas.microsoft.com/office/powerpoint/2010/main" val="4412204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18E1B47B-9C44-4AC9-B119-A0460EF7361C}" type="slidenum">
              <a:rPr lang="en-US" altLang="en-US"/>
              <a:pPr/>
              <a:t>‹#›</a:t>
            </a:fld>
            <a:endParaRPr lang="en-US" altLang="en-US"/>
          </a:p>
        </p:txBody>
      </p:sp>
    </p:spTree>
    <p:extLst>
      <p:ext uri="{BB962C8B-B14F-4D97-AF65-F5344CB8AC3E}">
        <p14:creationId xmlns:p14="http://schemas.microsoft.com/office/powerpoint/2010/main" val="203548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3E551D33-6C23-4D2F-A8D2-3F053F0433EC}" type="slidenum">
              <a:rPr lang="en-US" altLang="en-US"/>
              <a:pPr/>
              <a:t>‹#›</a:t>
            </a:fld>
            <a:endParaRPr lang="en-US" altLang="en-US"/>
          </a:p>
        </p:txBody>
      </p:sp>
    </p:spTree>
    <p:extLst>
      <p:ext uri="{BB962C8B-B14F-4D97-AF65-F5344CB8AC3E}">
        <p14:creationId xmlns:p14="http://schemas.microsoft.com/office/powerpoint/2010/main" val="593579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6147E61B-0ED8-45E0-AB73-13FCB227E385}" type="slidenum">
              <a:rPr lang="en-US" altLang="en-US"/>
              <a:pPr/>
              <a:t>‹#›</a:t>
            </a:fld>
            <a:endParaRPr lang="en-US" altLang="en-US"/>
          </a:p>
        </p:txBody>
      </p:sp>
    </p:spTree>
    <p:extLst>
      <p:ext uri="{BB962C8B-B14F-4D97-AF65-F5344CB8AC3E}">
        <p14:creationId xmlns:p14="http://schemas.microsoft.com/office/powerpoint/2010/main" val="2339394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3CEAD12F-3A88-447C-B047-005ECA07DCFF}" type="slidenum">
              <a:rPr lang="en-US" altLang="en-US"/>
              <a:pPr/>
              <a:t>‹#›</a:t>
            </a:fld>
            <a:endParaRPr lang="en-US" altLang="en-US"/>
          </a:p>
        </p:txBody>
      </p:sp>
    </p:spTree>
    <p:extLst>
      <p:ext uri="{BB962C8B-B14F-4D97-AF65-F5344CB8AC3E}">
        <p14:creationId xmlns:p14="http://schemas.microsoft.com/office/powerpoint/2010/main" val="493741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9" name="Slide Number Placeholder 5"/>
          <p:cNvSpPr>
            <a:spLocks noGrp="1"/>
          </p:cNvSpPr>
          <p:nvPr>
            <p:ph type="sldNum" sz="quarter" idx="12"/>
          </p:nvPr>
        </p:nvSpPr>
        <p:spPr/>
        <p:txBody>
          <a:bodyPr/>
          <a:lstStyle>
            <a:lvl1pPr>
              <a:defRPr/>
            </a:lvl1pPr>
          </a:lstStyle>
          <a:p>
            <a:fld id="{9E33177C-8057-4FB2-B3F1-1E0BC536E598}" type="slidenum">
              <a:rPr lang="en-US" altLang="en-US"/>
              <a:pPr/>
              <a:t>‹#›</a:t>
            </a:fld>
            <a:endParaRPr lang="en-US" altLang="en-US"/>
          </a:p>
        </p:txBody>
      </p:sp>
    </p:spTree>
    <p:extLst>
      <p:ext uri="{BB962C8B-B14F-4D97-AF65-F5344CB8AC3E}">
        <p14:creationId xmlns:p14="http://schemas.microsoft.com/office/powerpoint/2010/main" val="110783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5" name="Slide Number Placeholder 5"/>
          <p:cNvSpPr>
            <a:spLocks noGrp="1"/>
          </p:cNvSpPr>
          <p:nvPr>
            <p:ph type="sldNum" sz="quarter" idx="12"/>
          </p:nvPr>
        </p:nvSpPr>
        <p:spPr/>
        <p:txBody>
          <a:bodyPr/>
          <a:lstStyle>
            <a:lvl1pPr>
              <a:defRPr/>
            </a:lvl1pPr>
          </a:lstStyle>
          <a:p>
            <a:fld id="{E16BD4C8-7A3A-4858-82D0-E0A831AA5E04}" type="slidenum">
              <a:rPr lang="en-US" altLang="en-US"/>
              <a:pPr/>
              <a:t>‹#›</a:t>
            </a:fld>
            <a:endParaRPr lang="en-US" altLang="en-US"/>
          </a:p>
        </p:txBody>
      </p:sp>
    </p:spTree>
    <p:extLst>
      <p:ext uri="{BB962C8B-B14F-4D97-AF65-F5344CB8AC3E}">
        <p14:creationId xmlns:p14="http://schemas.microsoft.com/office/powerpoint/2010/main" val="1744784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4" name="Slide Number Placeholder 5"/>
          <p:cNvSpPr>
            <a:spLocks noGrp="1"/>
          </p:cNvSpPr>
          <p:nvPr>
            <p:ph type="sldNum" sz="quarter" idx="12"/>
          </p:nvPr>
        </p:nvSpPr>
        <p:spPr/>
        <p:txBody>
          <a:bodyPr/>
          <a:lstStyle>
            <a:lvl1pPr>
              <a:defRPr/>
            </a:lvl1pPr>
          </a:lstStyle>
          <a:p>
            <a:fld id="{0A3BEB76-F0BF-4335-95A7-A56E5DA81A6F}" type="slidenum">
              <a:rPr lang="en-US" altLang="en-US"/>
              <a:pPr/>
              <a:t>‹#›</a:t>
            </a:fld>
            <a:endParaRPr lang="en-US" altLang="en-US"/>
          </a:p>
        </p:txBody>
      </p:sp>
    </p:spTree>
    <p:extLst>
      <p:ext uri="{BB962C8B-B14F-4D97-AF65-F5344CB8AC3E}">
        <p14:creationId xmlns:p14="http://schemas.microsoft.com/office/powerpoint/2010/main" val="45476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48AFD6FE-7F23-464E-801E-1E8922D0E062}" type="slidenum">
              <a:rPr lang="en-US" altLang="en-US"/>
              <a:pPr/>
              <a:t>‹#›</a:t>
            </a:fld>
            <a:endParaRPr lang="en-US" altLang="en-US"/>
          </a:p>
        </p:txBody>
      </p:sp>
    </p:spTree>
    <p:extLst>
      <p:ext uri="{BB962C8B-B14F-4D97-AF65-F5344CB8AC3E}">
        <p14:creationId xmlns:p14="http://schemas.microsoft.com/office/powerpoint/2010/main" val="4201417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7" name="Slide Number Placeholder 5"/>
          <p:cNvSpPr>
            <a:spLocks noGrp="1"/>
          </p:cNvSpPr>
          <p:nvPr>
            <p:ph type="sldNum" sz="quarter" idx="12"/>
          </p:nvPr>
        </p:nvSpPr>
        <p:spPr/>
        <p:txBody>
          <a:bodyPr/>
          <a:lstStyle>
            <a:lvl1pPr>
              <a:defRPr/>
            </a:lvl1pPr>
          </a:lstStyle>
          <a:p>
            <a:fld id="{CCBB0EFB-19FD-40A0-8B6D-1FB40EF79594}" type="slidenum">
              <a:rPr lang="en-US" altLang="en-US"/>
              <a:pPr/>
              <a:t>‹#›</a:t>
            </a:fld>
            <a:endParaRPr lang="en-US" altLang="en-US"/>
          </a:p>
        </p:txBody>
      </p:sp>
    </p:spTree>
    <p:extLst>
      <p:ext uri="{BB962C8B-B14F-4D97-AF65-F5344CB8AC3E}">
        <p14:creationId xmlns:p14="http://schemas.microsoft.com/office/powerpoint/2010/main" val="2680424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DFF58B55-0404-40B7-A20E-4BAD599F4A94}" type="slidenum">
              <a:rPr lang="en-US" altLang="en-US"/>
              <a:pPr/>
              <a:t>‹#›</a:t>
            </a:fld>
            <a:endParaRPr lang="en-US" altLang="en-US"/>
          </a:p>
        </p:txBody>
      </p:sp>
    </p:spTree>
    <p:extLst>
      <p:ext uri="{BB962C8B-B14F-4D97-AF65-F5344CB8AC3E}">
        <p14:creationId xmlns:p14="http://schemas.microsoft.com/office/powerpoint/2010/main" val="2996415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Cancer Prediction Web application </a:t>
            </a:r>
          </a:p>
        </p:txBody>
      </p:sp>
      <p:sp>
        <p:nvSpPr>
          <p:cNvPr id="6" name="Slide Number Placeholder 5"/>
          <p:cNvSpPr>
            <a:spLocks noGrp="1"/>
          </p:cNvSpPr>
          <p:nvPr>
            <p:ph type="sldNum" sz="quarter" idx="12"/>
          </p:nvPr>
        </p:nvSpPr>
        <p:spPr/>
        <p:txBody>
          <a:bodyPr/>
          <a:lstStyle>
            <a:lvl1pPr>
              <a:defRPr/>
            </a:lvl1pPr>
          </a:lstStyle>
          <a:p>
            <a:fld id="{3ED92588-0AD1-4A0B-BC67-3C805E967B44}" type="slidenum">
              <a:rPr lang="en-US" altLang="en-US"/>
              <a:pPr/>
              <a:t>‹#›</a:t>
            </a:fld>
            <a:endParaRPr lang="en-US" altLang="en-US"/>
          </a:p>
        </p:txBody>
      </p:sp>
    </p:spTree>
    <p:extLst>
      <p:ext uri="{BB962C8B-B14F-4D97-AF65-F5344CB8AC3E}">
        <p14:creationId xmlns:p14="http://schemas.microsoft.com/office/powerpoint/2010/main" val="3566760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Cancer Prediction Web application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2ED4C59E-866E-44A2-A721-0E3AC13482A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458200" cy="609600"/>
          </a:xfrm>
        </p:spPr>
        <p:txBody>
          <a:bodyPr rtlCol="0">
            <a:normAutofit fontScale="90000"/>
          </a:bodyPr>
          <a:lstStyle/>
          <a:p>
            <a:pPr eaLnBrk="1" fontAlgn="auto" hangingPunct="1">
              <a:spcAft>
                <a:spcPts val="0"/>
              </a:spcAft>
              <a:defRPr/>
            </a:pP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2209800" y="41275"/>
            <a:ext cx="8763000" cy="1322388"/>
          </a:xfrm>
          <a:prstGeom prst="rect">
            <a:avLst/>
          </a:prstGeom>
        </p:spPr>
        <p:txBody>
          <a:bodyPr>
            <a:spAutoFit/>
          </a:bodyPr>
          <a:lstStyle/>
          <a:p>
            <a:pPr algn="ctr" fontAlgn="auto">
              <a:spcBef>
                <a:spcPts val="0"/>
              </a:spcBef>
              <a:spcAft>
                <a:spcPts val="0"/>
              </a:spcAft>
              <a:defRPr/>
            </a:pPr>
            <a:r>
              <a:rPr lang="en-IN" sz="2000" b="1" dirty="0" err="1">
                <a:solidFill>
                  <a:schemeClr val="tx1">
                    <a:lumMod val="95000"/>
                    <a:lumOff val="5000"/>
                  </a:schemeClr>
                </a:solidFill>
                <a:latin typeface="Helvetica" panose="020B0604020202020204" pitchFamily="34" charset="0"/>
                <a:cs typeface="Helvetica" panose="020B0604020202020204" pitchFamily="34" charset="0"/>
              </a:rPr>
              <a:t>Dr.Mahalingam</a:t>
            </a:r>
            <a:r>
              <a:rPr lang="en-IN" sz="2000" b="1" dirty="0">
                <a:solidFill>
                  <a:schemeClr val="tx1">
                    <a:lumMod val="95000"/>
                    <a:lumOff val="5000"/>
                  </a:schemeClr>
                </a:solidFill>
                <a:latin typeface="Helvetica" panose="020B0604020202020204" pitchFamily="34" charset="0"/>
                <a:cs typeface="Helvetica" panose="020B0604020202020204" pitchFamily="34" charset="0"/>
              </a:rPr>
              <a:t> College of Engineering &amp; Technology</a:t>
            </a:r>
          </a:p>
          <a:p>
            <a:pPr algn="ctr" fontAlgn="auto">
              <a:spcBef>
                <a:spcPts val="0"/>
              </a:spcBef>
              <a:spcAft>
                <a:spcPts val="0"/>
              </a:spcAft>
              <a:defRPr/>
            </a:pPr>
            <a:r>
              <a:rPr lang="en-IN" sz="2000" b="1" dirty="0">
                <a:solidFill>
                  <a:schemeClr val="tx1">
                    <a:lumMod val="95000"/>
                    <a:lumOff val="5000"/>
                  </a:schemeClr>
                </a:solidFill>
                <a:latin typeface="Helvetica" panose="020B0604020202020204" pitchFamily="34" charset="0"/>
                <a:cs typeface="Helvetica" panose="020B0604020202020204" pitchFamily="34" charset="0"/>
              </a:rPr>
              <a:t>Department of Artificial Intelligence &amp; Data Science </a:t>
            </a:r>
          </a:p>
          <a:p>
            <a:pPr algn="ctr" fontAlgn="auto">
              <a:spcBef>
                <a:spcPts val="0"/>
              </a:spcBef>
              <a:spcAft>
                <a:spcPts val="0"/>
              </a:spcAft>
              <a:defRPr/>
            </a:pPr>
            <a:r>
              <a:rPr lang="en-IN" sz="2000" b="1" dirty="0">
                <a:solidFill>
                  <a:schemeClr val="tx1">
                    <a:lumMod val="95000"/>
                    <a:lumOff val="5000"/>
                  </a:schemeClr>
                </a:solidFill>
                <a:latin typeface="Helvetica" panose="020B0604020202020204" pitchFamily="34" charset="0"/>
                <a:cs typeface="Helvetica" panose="020B0604020202020204" pitchFamily="34" charset="0"/>
              </a:rPr>
              <a:t> SUBJECT CODE :  19ADPN6801  Project</a:t>
            </a:r>
          </a:p>
          <a:p>
            <a:pPr algn="ctr" fontAlgn="auto">
              <a:spcBef>
                <a:spcPts val="0"/>
              </a:spcBef>
              <a:spcAft>
                <a:spcPts val="0"/>
              </a:spcAft>
              <a:defRPr/>
            </a:pPr>
            <a:r>
              <a:rPr lang="en-US" sz="2000" b="1" dirty="0">
                <a:solidFill>
                  <a:schemeClr val="tx1">
                    <a:lumMod val="95000"/>
                    <a:lumOff val="5000"/>
                  </a:schemeClr>
                </a:solidFill>
                <a:latin typeface="Helvetica" panose="020B0604020202020204" pitchFamily="34" charset="0"/>
                <a:cs typeface="Helvetica" panose="020B0604020202020204" pitchFamily="34" charset="0"/>
              </a:rPr>
              <a:t>Second </a:t>
            </a:r>
            <a:r>
              <a:rPr lang="en-IN" sz="2000" b="1" dirty="0">
                <a:solidFill>
                  <a:schemeClr val="tx1">
                    <a:lumMod val="95000"/>
                    <a:lumOff val="5000"/>
                  </a:schemeClr>
                </a:solidFill>
                <a:latin typeface="Helvetica" panose="020B0604020202020204" pitchFamily="34" charset="0"/>
                <a:cs typeface="Helvetica" panose="020B0604020202020204" pitchFamily="34" charset="0"/>
              </a:rPr>
              <a:t>Review</a:t>
            </a:r>
            <a:endParaRPr lang="en-IN" sz="2000" dirty="0">
              <a:latin typeface="Helvetica" panose="020B0604020202020204" pitchFamily="34" charset="0"/>
              <a:cs typeface="Helvetica" panose="020B0604020202020204" pitchFamily="34" charset="0"/>
            </a:endParaRPr>
          </a:p>
        </p:txBody>
      </p:sp>
      <p:pic>
        <p:nvPicPr>
          <p:cNvPr id="2052" name="Picture 7" descr="C:\Users\STAFFS\Desktop\MCET LOGO NEW_1 (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875" y="58738"/>
            <a:ext cx="15843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Google Shape;91;p13"/>
          <p:cNvSpPr txBox="1"/>
          <p:nvPr/>
        </p:nvSpPr>
        <p:spPr>
          <a:xfrm>
            <a:off x="1343472" y="1465263"/>
            <a:ext cx="9505055" cy="4733338"/>
          </a:xfrm>
          <a:prstGeom prst="rect">
            <a:avLst/>
          </a:prstGeom>
          <a:noFill/>
          <a:ln>
            <a:noFill/>
          </a:ln>
        </p:spPr>
        <p:txBody>
          <a:bodyPr spcFirstLastPara="1" lIns="91425" tIns="45700" rIns="91425" bIns="45700"/>
          <a:lstStyle/>
          <a:p>
            <a:pPr marL="274320" indent="-274320" algn="just" fontAlgn="auto">
              <a:lnSpc>
                <a:spcPct val="150000"/>
              </a:lnSpc>
              <a:spcBef>
                <a:spcPts val="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Team Number        : </a:t>
            </a:r>
            <a:r>
              <a:rPr lang="en-US" sz="2000" b="1" dirty="0">
                <a:latin typeface="Times New Roman"/>
                <a:ea typeface="Times New Roman"/>
                <a:cs typeface="Times New Roman"/>
                <a:sym typeface="Times New Roman"/>
              </a:rPr>
              <a:t>A20</a:t>
            </a:r>
            <a:endParaRPr sz="2000" b="1" dirty="0">
              <a:latin typeface="Times New Roman"/>
              <a:ea typeface="Times New Roman"/>
              <a:cs typeface="Times New Roman"/>
              <a:sym typeface="Times New Roman"/>
            </a:endParaRPr>
          </a:p>
          <a:p>
            <a:pPr marL="274320" indent="-274320" algn="just"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Domain                   : </a:t>
            </a:r>
            <a:r>
              <a:rPr lang="en-US" sz="2000" b="1" dirty="0">
                <a:latin typeface="Times New Roman"/>
                <a:ea typeface="Times New Roman"/>
                <a:cs typeface="Times New Roman"/>
                <a:sym typeface="Times New Roman"/>
              </a:rPr>
              <a:t>Artificial Intelligence</a:t>
            </a:r>
            <a:endParaRPr sz="2000" b="1" dirty="0">
              <a:latin typeface="+mn-lt"/>
              <a:cs typeface="+mn-cs"/>
            </a:endParaRPr>
          </a:p>
          <a:p>
            <a:pPr marL="274320" indent="-274320"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Title                         : </a:t>
            </a:r>
            <a:r>
              <a:rPr lang="en-US" sz="2000" b="1" dirty="0">
                <a:latin typeface="Times New Roman"/>
                <a:ea typeface="Times New Roman"/>
                <a:cs typeface="Times New Roman"/>
                <a:sym typeface="Times New Roman"/>
              </a:rPr>
              <a:t>AI based Coding Support System for Differently Abled People</a:t>
            </a:r>
          </a:p>
          <a:p>
            <a:pPr marL="274320" indent="-274320" fontAlgn="auto">
              <a:lnSpc>
                <a:spcPct val="150000"/>
              </a:lnSpc>
              <a:spcBef>
                <a:spcPts val="580"/>
              </a:spcBef>
              <a:spcAft>
                <a:spcPts val="0"/>
              </a:spcAft>
              <a:buClr>
                <a:srgbClr val="FF0000"/>
              </a:buClr>
              <a:buSzPts val="2044"/>
              <a:buFont typeface="Arial"/>
              <a:buNone/>
              <a:defRPr/>
            </a:pPr>
            <a:r>
              <a:rPr lang="en-US" sz="2000" b="1" dirty="0">
                <a:solidFill>
                  <a:srgbClr val="FF0000"/>
                </a:solidFill>
                <a:latin typeface="Times New Roman"/>
                <a:ea typeface="Times New Roman"/>
                <a:cs typeface="Times New Roman"/>
                <a:sym typeface="Times New Roman"/>
              </a:rPr>
              <a:t>Faculty Supervisor: </a:t>
            </a:r>
            <a:r>
              <a:rPr lang="en-US" sz="2000" b="1" dirty="0">
                <a:latin typeface="Times New Roman"/>
                <a:ea typeface="Times New Roman"/>
                <a:cs typeface="Times New Roman"/>
                <a:sym typeface="Times New Roman"/>
              </a:rPr>
              <a:t>Ms. M. Rajalakshmi AP/AI &amp; DS</a:t>
            </a:r>
          </a:p>
          <a:p>
            <a:pPr algn="just" fontAlgn="auto">
              <a:lnSpc>
                <a:spcPct val="150000"/>
              </a:lnSpc>
              <a:spcBef>
                <a:spcPts val="580"/>
              </a:spcBef>
              <a:spcAft>
                <a:spcPts val="0"/>
              </a:spcAft>
              <a:buClr>
                <a:srgbClr val="FF0000"/>
              </a:buClr>
              <a:buSzPts val="2044"/>
              <a:defRPr/>
            </a:pPr>
            <a:r>
              <a:rPr lang="en-US" sz="2000" b="1" dirty="0">
                <a:solidFill>
                  <a:srgbClr val="FF0000"/>
                </a:solidFill>
                <a:latin typeface="Times New Roman"/>
                <a:ea typeface="Times New Roman"/>
                <a:cs typeface="Times New Roman"/>
                <a:sym typeface="Times New Roman"/>
              </a:rPr>
              <a:t>Team Members      : </a:t>
            </a:r>
            <a:r>
              <a:rPr lang="en-US" sz="2000" b="1" dirty="0">
                <a:latin typeface="Times New Roman"/>
                <a:ea typeface="Times New Roman"/>
                <a:cs typeface="Times New Roman"/>
                <a:sym typeface="Times New Roman"/>
              </a:rPr>
              <a:t>Sharanya T  		      		727622BAD007</a:t>
            </a:r>
          </a:p>
          <a:p>
            <a:pPr algn="just" fontAlgn="auto">
              <a:lnSpc>
                <a:spcPct val="150000"/>
              </a:lnSpc>
              <a:spcBef>
                <a:spcPts val="580"/>
              </a:spcBef>
              <a:spcAft>
                <a:spcPts val="0"/>
              </a:spcAft>
              <a:buClr>
                <a:srgbClr val="FF0000"/>
              </a:buClr>
              <a:buSzPts val="2044"/>
              <a:defRPr/>
            </a:pPr>
            <a:r>
              <a:rPr lang="en-US" sz="2000" b="1" dirty="0">
                <a:latin typeface="Times New Roman"/>
                <a:ea typeface="Times New Roman"/>
                <a:cs typeface="Times New Roman"/>
                <a:sym typeface="Times New Roman"/>
              </a:rPr>
              <a:t>			             Santhosh S  				727622BAD071</a:t>
            </a:r>
          </a:p>
          <a:p>
            <a:pPr algn="just" fontAlgn="auto">
              <a:lnSpc>
                <a:spcPct val="150000"/>
              </a:lnSpc>
              <a:spcBef>
                <a:spcPts val="580"/>
              </a:spcBef>
              <a:spcAft>
                <a:spcPts val="0"/>
              </a:spcAft>
              <a:buClr>
                <a:srgbClr val="FF0000"/>
              </a:buClr>
              <a:buSzPts val="2044"/>
              <a:defRPr/>
            </a:pPr>
            <a:r>
              <a:rPr lang="en-US" sz="2000" b="1" dirty="0">
                <a:latin typeface="Times New Roman"/>
                <a:ea typeface="Times New Roman"/>
                <a:cs typeface="Times New Roman"/>
                <a:sym typeface="Times New Roman"/>
              </a:rPr>
              <a:t>			             Aashif Shadin K N 		727622BAD099</a:t>
            </a:r>
          </a:p>
          <a:p>
            <a:pPr algn="just" fontAlgn="auto">
              <a:lnSpc>
                <a:spcPct val="150000"/>
              </a:lnSpc>
              <a:spcBef>
                <a:spcPts val="580"/>
              </a:spcBef>
              <a:spcAft>
                <a:spcPts val="0"/>
              </a:spcAft>
              <a:buClr>
                <a:srgbClr val="FF0000"/>
              </a:buClr>
              <a:buSzPts val="2044"/>
              <a:defRPr/>
            </a:pPr>
            <a:r>
              <a:rPr lang="en-US" sz="2000" b="1" dirty="0">
                <a:solidFill>
                  <a:srgbClr val="FF0000"/>
                </a:solidFill>
                <a:latin typeface="Times New Roman"/>
                <a:ea typeface="Times New Roman"/>
                <a:cs typeface="Times New Roman"/>
                <a:sym typeface="Times New Roman"/>
              </a:rPr>
              <a:t>Track 			    : </a:t>
            </a:r>
            <a:r>
              <a:rPr lang="en-US" sz="2000" b="1" dirty="0">
                <a:latin typeface="Times New Roman"/>
                <a:ea typeface="Times New Roman"/>
                <a:cs typeface="Times New Roman"/>
                <a:sym typeface="Times New Roman"/>
              </a:rPr>
              <a:t>Patent</a:t>
            </a:r>
            <a:endParaRPr sz="2000" b="1" dirty="0">
              <a:solidFill>
                <a:srgbClr val="0C0C0C"/>
              </a:solidFill>
              <a:latin typeface="Calibri"/>
              <a:ea typeface="Calibri"/>
              <a:cs typeface="Calibri"/>
              <a:sym typeface="Calibri"/>
            </a:endParaRPr>
          </a:p>
          <a:p>
            <a:pPr marL="2468880" lvl="8" indent="-228600" defTabSz="457200">
              <a:lnSpc>
                <a:spcPct val="150000"/>
              </a:lnSpc>
              <a:spcBef>
                <a:spcPts val="500"/>
              </a:spcBef>
              <a:buClr>
                <a:srgbClr val="0C0C0C"/>
              </a:buClr>
              <a:buSzPts val="1665"/>
              <a:buFont typeface="Arial"/>
              <a:buNone/>
              <a:defRPr/>
            </a:pPr>
            <a:r>
              <a:rPr lang="en-US" sz="2000" b="1" dirty="0">
                <a:solidFill>
                  <a:srgbClr val="0C0C0C"/>
                </a:solidFill>
                <a:latin typeface="Calibri"/>
                <a:ea typeface="Calibri"/>
                <a:cs typeface="Calibri"/>
                <a:sym typeface="Calibri"/>
              </a:rPr>
              <a:t>		</a:t>
            </a:r>
            <a:endParaRPr sz="2000" b="1" dirty="0">
              <a:solidFill>
                <a:schemeClr val="dk1"/>
              </a:solidFill>
              <a:latin typeface="Calibri"/>
              <a:ea typeface="Calibri"/>
              <a:cs typeface="Calibri"/>
              <a:sym typeface="Calibri"/>
            </a:endParaRPr>
          </a:p>
          <a:p>
            <a:pPr marL="2468880" lvl="8" indent="-228600" defTabSz="457200">
              <a:lnSpc>
                <a:spcPct val="150000"/>
              </a:lnSpc>
              <a:spcBef>
                <a:spcPts val="500"/>
              </a:spcBef>
              <a:buClr>
                <a:schemeClr val="dk1"/>
              </a:buClr>
              <a:buSzPts val="1665"/>
              <a:buFont typeface="Arial"/>
              <a:buNone/>
              <a:defRPr/>
            </a:pPr>
            <a:endParaRPr sz="2000" b="1" dirty="0">
              <a:solidFill>
                <a:srgbClr val="0C0C0C"/>
              </a:solidFill>
              <a:latin typeface="Calibri"/>
              <a:ea typeface="Calibri"/>
              <a:cs typeface="Calibri"/>
              <a:sym typeface="Calibri"/>
            </a:endParaRPr>
          </a:p>
          <a:p>
            <a:pPr marL="274320" indent="-144780" fontAlgn="auto">
              <a:lnSpc>
                <a:spcPct val="150000"/>
              </a:lnSpc>
              <a:spcBef>
                <a:spcPts val="580"/>
              </a:spcBef>
              <a:spcAft>
                <a:spcPts val="0"/>
              </a:spcAft>
              <a:buClr>
                <a:schemeClr val="dk1"/>
              </a:buClr>
              <a:buSzPts val="2044"/>
              <a:buFont typeface="Arial"/>
              <a:buNone/>
              <a:defRPr/>
            </a:pPr>
            <a:endParaRPr sz="2000" b="1" dirty="0">
              <a:solidFill>
                <a:srgbClr val="0C0C0C"/>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p:cNvSpPr>
            <a:spLocks noGrp="1"/>
          </p:cNvSpPr>
          <p:nvPr>
            <p:ph idx="1"/>
          </p:nvPr>
        </p:nvSpPr>
        <p:spPr>
          <a:xfrm>
            <a:off x="983432" y="1236133"/>
            <a:ext cx="6096000" cy="5029200"/>
          </a:xfrm>
        </p:spPr>
        <p:txBody>
          <a:bodyPr/>
          <a:lstStyle/>
          <a:p>
            <a:pPr eaLnBrk="1" hangingPunct="1"/>
            <a:r>
              <a:rPr lang="en-US" altLang="en-US" sz="2400" b="1" dirty="0">
                <a:latin typeface="Times New Roman" panose="02020603050405020304" pitchFamily="18" charset="0"/>
                <a:cs typeface="Times New Roman" panose="02020603050405020304" pitchFamily="18" charset="0"/>
              </a:rPr>
              <a:t>Problem Description </a:t>
            </a:r>
          </a:p>
          <a:p>
            <a:pPr eaLnBrk="1" hangingPunct="1"/>
            <a:r>
              <a:rPr lang="en-US" altLang="en-US" sz="2400" b="1" dirty="0">
                <a:latin typeface="Times New Roman" panose="02020603050405020304" pitchFamily="18" charset="0"/>
                <a:cs typeface="Times New Roman" panose="02020603050405020304" pitchFamily="18" charset="0"/>
              </a:rPr>
              <a:t>Literature Survey Summary</a:t>
            </a:r>
          </a:p>
          <a:p>
            <a:pPr eaLnBrk="1" hangingPunct="1"/>
            <a:r>
              <a:rPr lang="en-US" altLang="en-US" sz="2400" b="1" dirty="0">
                <a:latin typeface="Times New Roman" panose="02020603050405020304" pitchFamily="18" charset="0"/>
                <a:cs typeface="Times New Roman" panose="02020603050405020304" pitchFamily="18" charset="0"/>
              </a:rPr>
              <a:t>Architecture Diagram</a:t>
            </a:r>
          </a:p>
          <a:p>
            <a:pPr eaLnBrk="1" hangingPunct="1"/>
            <a:r>
              <a:rPr lang="en-US" altLang="en-US" sz="2400" b="1" dirty="0">
                <a:latin typeface="Times New Roman" panose="02020603050405020304" pitchFamily="18" charset="0"/>
                <a:cs typeface="Times New Roman" panose="02020603050405020304" pitchFamily="18" charset="0"/>
              </a:rPr>
              <a:t>Result and Analysis</a:t>
            </a:r>
          </a:p>
          <a:p>
            <a:pPr eaLnBrk="1" hangingPunct="1"/>
            <a:r>
              <a:rPr lang="en-US" altLang="en-US" sz="2400" b="1" dirty="0">
                <a:latin typeface="Times New Roman" panose="02020603050405020304" pitchFamily="18" charset="0"/>
                <a:cs typeface="Times New Roman" panose="02020603050405020304" pitchFamily="18" charset="0"/>
              </a:rPr>
              <a:t>Claims </a:t>
            </a:r>
          </a:p>
          <a:p>
            <a:pPr eaLnBrk="1" hangingPunct="1"/>
            <a:r>
              <a:rPr lang="en-US" altLang="en-US" sz="2400" b="1" dirty="0">
                <a:latin typeface="Times New Roman" panose="02020603050405020304" pitchFamily="18" charset="0"/>
                <a:cs typeface="Times New Roman" panose="02020603050405020304" pitchFamily="18" charset="0"/>
              </a:rPr>
              <a:t>Abstract</a:t>
            </a:r>
          </a:p>
          <a:p>
            <a:pPr eaLnBrk="1" hangingPunct="1"/>
            <a:r>
              <a:rPr lang="en-US" altLang="en-US" sz="2400" b="1" dirty="0">
                <a:latin typeface="Times New Roman" panose="02020603050405020304" pitchFamily="18" charset="0"/>
                <a:cs typeface="Times New Roman" panose="02020603050405020304" pitchFamily="18" charset="0"/>
              </a:rPr>
              <a:t>Diagrams and figures</a:t>
            </a:r>
          </a:p>
          <a:p>
            <a:pPr eaLnBrk="1" hangingPunct="1"/>
            <a:r>
              <a:rPr lang="en-US" altLang="en-US" sz="2400" b="1" dirty="0">
                <a:latin typeface="Times New Roman" panose="02020603050405020304" pitchFamily="18" charset="0"/>
                <a:cs typeface="Times New Roman" panose="02020603050405020304" pitchFamily="18" charset="0"/>
              </a:rPr>
              <a:t>Algorithms used</a:t>
            </a:r>
          </a:p>
          <a:p>
            <a:pPr eaLnBrk="1" hangingPunct="1"/>
            <a:r>
              <a:rPr lang="en-US" altLang="en-US" sz="2400" b="1" dirty="0">
                <a:latin typeface="Times New Roman" panose="02020603050405020304" pitchFamily="18" charset="0"/>
                <a:cs typeface="Times New Roman" panose="02020603050405020304" pitchFamily="18" charset="0"/>
              </a:rPr>
              <a:t>Project demo</a:t>
            </a:r>
          </a:p>
          <a:p>
            <a:pPr eaLnBrk="1" hangingPunct="1"/>
            <a:r>
              <a:rPr lang="en-US" altLang="en-US" sz="2400" b="1" dirty="0">
                <a:latin typeface="Times New Roman" panose="02020603050405020304" pitchFamily="18" charset="0"/>
                <a:cs typeface="Times New Roman" panose="02020603050405020304" pitchFamily="18" charset="0"/>
              </a:rPr>
              <a:t>Conclusion</a:t>
            </a:r>
          </a:p>
        </p:txBody>
      </p:sp>
      <p:sp>
        <p:nvSpPr>
          <p:cNvPr id="3075" name="Title 7"/>
          <p:cNvSpPr>
            <a:spLocks noGrp="1"/>
          </p:cNvSpPr>
          <p:nvPr>
            <p:ph type="title"/>
          </p:nvPr>
        </p:nvSpPr>
        <p:spPr>
          <a:xfrm>
            <a:off x="838200" y="365125"/>
            <a:ext cx="10515600" cy="854075"/>
          </a:xfrm>
        </p:spPr>
        <p:txBody>
          <a:bodyPr/>
          <a:lstStyle/>
          <a:p>
            <a:pPr eaLnBrk="1" hangingPunct="1"/>
            <a:r>
              <a:rPr lang="en-US" altLang="en-IN" sz="4000" b="1" dirty="0">
                <a:solidFill>
                  <a:srgbClr val="FF0000"/>
                </a:solidFill>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Problem Description</a:t>
            </a:r>
          </a:p>
        </p:txBody>
      </p:sp>
      <p:sp>
        <p:nvSpPr>
          <p:cNvPr id="6" name="TextBox 5">
            <a:extLst>
              <a:ext uri="{FF2B5EF4-FFF2-40B4-BE49-F238E27FC236}">
                <a16:creationId xmlns:a16="http://schemas.microsoft.com/office/drawing/2014/main" id="{59573CCA-92DA-0A1C-EE33-B4827E963C27}"/>
              </a:ext>
            </a:extLst>
          </p:cNvPr>
          <p:cNvSpPr txBox="1"/>
          <p:nvPr/>
        </p:nvSpPr>
        <p:spPr>
          <a:xfrm>
            <a:off x="609600" y="1412776"/>
            <a:ext cx="11089232" cy="4457952"/>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Traditional software development is physically demanding and often inaccessible, creating a significant gap in developer efficiency and inclusivity. The reliance on intensive keyboard and mouse usage leads to Repetitive Strain Injuries (RSI) and excludes individuals with motor impairments. Furthermore, the constant context switching between input devices disrupts coding flow, while existing voice-coding alternatives often compromise user privacy and introduce latency through cloud dependency. This project addresses these critical issues by providing a fully offline, voice-controlled development environment.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C9B5E-7E6C-345C-4275-891039B11FA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00A7B18-7B17-4C7F-DB24-71D9617C394F}"/>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Limitations of existing systems</a:t>
            </a:r>
          </a:p>
        </p:txBody>
      </p:sp>
      <p:sp>
        <p:nvSpPr>
          <p:cNvPr id="6" name="TextBox 5">
            <a:extLst>
              <a:ext uri="{FF2B5EF4-FFF2-40B4-BE49-F238E27FC236}">
                <a16:creationId xmlns:a16="http://schemas.microsoft.com/office/drawing/2014/main" id="{E35228D4-722D-A4AA-2455-A72F0EEF44D8}"/>
              </a:ext>
            </a:extLst>
          </p:cNvPr>
          <p:cNvSpPr txBox="1"/>
          <p:nvPr/>
        </p:nvSpPr>
        <p:spPr>
          <a:xfrm>
            <a:off x="700826" y="1223107"/>
            <a:ext cx="10333148" cy="4411785"/>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Cloud Dependency</a:t>
            </a:r>
            <a:r>
              <a:rPr lang="en-US" sz="2400" dirty="0">
                <a:latin typeface="Times New Roman" panose="02020603050405020304" pitchFamily="18" charset="0"/>
                <a:cs typeface="Times New Roman" panose="02020603050405020304" pitchFamily="18" charset="0"/>
              </a:rPr>
              <a:t>: Most modern tools require an internet connection to process voice commands, introducing latency in low-bandwidth environments.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 Cost</a:t>
            </a:r>
            <a:r>
              <a:rPr lang="en-US" sz="2400" dirty="0">
                <a:latin typeface="Times New Roman" panose="02020603050405020304" pitchFamily="18" charset="0"/>
                <a:cs typeface="Times New Roman" panose="02020603050405020304" pitchFamily="18" charset="0"/>
              </a:rPr>
              <a:t>: Many advanced voice assistants operate on a subscription model, making them inaccessible to students or developers in developing regions.</a:t>
            </a:r>
          </a:p>
          <a:p>
            <a:pPr marL="342900" indent="-34290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Steep Learning Curve</a:t>
            </a:r>
            <a:r>
              <a:rPr lang="en-US" sz="2400" dirty="0">
                <a:latin typeface="Times New Roman" panose="02020603050405020304" pitchFamily="18" charset="0"/>
                <a:cs typeface="Times New Roman" panose="02020603050405020304" pitchFamily="18" charset="0"/>
              </a:rPr>
              <a:t>: Some tools require memorizing complex phonetic alphabets or rigid command structures, reducing immediate usability.</a:t>
            </a:r>
          </a:p>
        </p:txBody>
      </p:sp>
    </p:spTree>
    <p:extLst>
      <p:ext uri="{BB962C8B-B14F-4D97-AF65-F5344CB8AC3E}">
        <p14:creationId xmlns:p14="http://schemas.microsoft.com/office/powerpoint/2010/main" val="224491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714375" y="-36945"/>
            <a:ext cx="10515600" cy="132556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Literature Survey Summary</a:t>
            </a:r>
          </a:p>
        </p:txBody>
      </p:sp>
      <p:sp>
        <p:nvSpPr>
          <p:cNvPr id="4" name="Date Placeholder 3"/>
          <p:cNvSpPr>
            <a:spLocks noGrp="1"/>
          </p:cNvSpPr>
          <p:nvPr>
            <p:ph type="dt" sz="quarter" idx="10"/>
          </p:nvPr>
        </p:nvSpPr>
        <p:spPr/>
        <p:txBody>
          <a:bodyPr/>
          <a:lstStyle/>
          <a:p>
            <a:pPr>
              <a:defRPr/>
            </a:pPr>
            <a:endParaRPr lang="en-US"/>
          </a:p>
        </p:txBody>
      </p:sp>
      <p:sp>
        <p:nvSpPr>
          <p:cNvPr id="5124" name="Google Shape;110;p16"/>
          <p:cNvSpPr txBox="1">
            <a:spLocks/>
          </p:cNvSpPr>
          <p:nvPr/>
        </p:nvSpPr>
        <p:spPr bwMode="auto">
          <a:xfrm>
            <a:off x="609600" y="1690688"/>
            <a:ext cx="105156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a:latin typeface="Times New Roman" panose="02020603050405020304" pitchFamily="18" charset="0"/>
              <a:cs typeface="Times New Roman" panose="02020603050405020304" pitchFamily="18" charset="0"/>
              <a:sym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464605844"/>
              </p:ext>
            </p:extLst>
          </p:nvPr>
        </p:nvGraphicFramePr>
        <p:xfrm>
          <a:off x="750183" y="1124744"/>
          <a:ext cx="11208568" cy="4669121"/>
        </p:xfrm>
        <a:graphic>
          <a:graphicData uri="http://schemas.openxmlformats.org/drawingml/2006/table">
            <a:tbl>
              <a:tblPr firstRow="1" bandRow="1">
                <a:tableStyleId>{21E4AEA4-8DFA-4A89-87EB-49C32662AFE0}</a:tableStyleId>
              </a:tblPr>
              <a:tblGrid>
                <a:gridCol w="593289">
                  <a:extLst>
                    <a:ext uri="{9D8B030D-6E8A-4147-A177-3AD203B41FA5}">
                      <a16:colId xmlns:a16="http://schemas.microsoft.com/office/drawing/2014/main" val="20000"/>
                    </a:ext>
                  </a:extLst>
                </a:gridCol>
                <a:gridCol w="4464496">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4566607">
                  <a:extLst>
                    <a:ext uri="{9D8B030D-6E8A-4147-A177-3AD203B41FA5}">
                      <a16:colId xmlns:a16="http://schemas.microsoft.com/office/drawing/2014/main" val="20003"/>
                    </a:ext>
                  </a:extLst>
                </a:gridCol>
              </a:tblGrid>
              <a:tr h="209457">
                <a:tc>
                  <a:txBody>
                    <a:bodyPr/>
                    <a:lstStyle/>
                    <a:p>
                      <a:pPr algn="ctr"/>
                      <a:r>
                        <a:rPr lang="en-IN"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Paper Title</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 </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Short Description (under 30 words)</a:t>
                      </a:r>
                    </a:p>
                  </a:txBody>
                  <a:tcPr marL="39201" marR="39201" marT="19601" marB="19601" anchor="ctr"/>
                </a:tc>
                <a:extLst>
                  <a:ext uri="{0D108BD9-81ED-4DB2-BD59-A6C34878D82A}">
                    <a16:rowId xmlns:a16="http://schemas.microsoft.com/office/drawing/2014/main" val="10000"/>
                  </a:ext>
                </a:extLst>
              </a:tr>
              <a:tr h="934763">
                <a:tc>
                  <a:txBody>
                    <a:bodyPr/>
                    <a:lstStyle/>
                    <a:p>
                      <a:pPr algn="ctr"/>
                      <a:r>
                        <a:rPr lang="en-IN" sz="1400" dirty="0">
                          <a:latin typeface="Times New Roman" panose="02020603050405020304" pitchFamily="18" charset="0"/>
                          <a:cs typeface="Times New Roman" panose="02020603050405020304" pitchFamily="18" charset="0"/>
                        </a:rPr>
                        <a:t>1</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Voice-Controlled Programming for Assistive Technology</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2018</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Explores voice-based programming tools to support users with physical disabilities, highlighting benefits and limitations of speech-driven coding systems.</a:t>
                      </a:r>
                    </a:p>
                  </a:txBody>
                  <a:tcPr marL="39201" marR="39201" marT="19601" marB="19601" anchor="ctr"/>
                </a:tc>
                <a:extLst>
                  <a:ext uri="{0D108BD9-81ED-4DB2-BD59-A6C34878D82A}">
                    <a16:rowId xmlns:a16="http://schemas.microsoft.com/office/drawing/2014/main" val="10001"/>
                  </a:ext>
                </a:extLst>
              </a:tr>
              <a:tr h="819968">
                <a:tc>
                  <a:txBody>
                    <a:bodyPr/>
                    <a:lstStyle/>
                    <a:p>
                      <a:pPr algn="ctr"/>
                      <a:r>
                        <a:rPr lang="en-IN" sz="1400" dirty="0">
                          <a:latin typeface="Times New Roman" panose="02020603050405020304" pitchFamily="18" charset="0"/>
                          <a:cs typeface="Times New Roman" panose="02020603050405020304" pitchFamily="18" charset="0"/>
                        </a:rPr>
                        <a:t>2</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Speech Recognition Techniques for Software Development</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2019</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Discusses speech-to-text methods applied to programming environments and challenges in handling syntax and code structure.</a:t>
                      </a:r>
                    </a:p>
                  </a:txBody>
                  <a:tcPr marL="39201" marR="39201" marT="19601" marB="19601" anchor="ctr"/>
                </a:tc>
                <a:extLst>
                  <a:ext uri="{0D108BD9-81ED-4DB2-BD59-A6C34878D82A}">
                    <a16:rowId xmlns:a16="http://schemas.microsoft.com/office/drawing/2014/main" val="10002"/>
                  </a:ext>
                </a:extLst>
              </a:tr>
              <a:tr h="1021892">
                <a:tc>
                  <a:txBody>
                    <a:bodyPr/>
                    <a:lstStyle/>
                    <a:p>
                      <a:pPr algn="ctr"/>
                      <a:r>
                        <a:rPr lang="en-IN" sz="1400" dirty="0">
                          <a:latin typeface="Times New Roman" panose="02020603050405020304" pitchFamily="18" charset="0"/>
                          <a:cs typeface="Times New Roman" panose="02020603050405020304" pitchFamily="18" charset="0"/>
                        </a:rPr>
                        <a:t>3</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Natural Language Processing in Intelligent IDEs</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2020</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Reviews NLP-based approaches for understanding developer intent and automating coding tasks within integrated development environments.</a:t>
                      </a:r>
                    </a:p>
                  </a:txBody>
                  <a:tcPr marL="39201" marR="39201" marT="19601" marB="19601" anchor="ctr"/>
                </a:tc>
                <a:extLst>
                  <a:ext uri="{0D108BD9-81ED-4DB2-BD59-A6C34878D82A}">
                    <a16:rowId xmlns:a16="http://schemas.microsoft.com/office/drawing/2014/main" val="10003"/>
                  </a:ext>
                </a:extLst>
              </a:tr>
              <a:tr h="819968">
                <a:tc>
                  <a:txBody>
                    <a:bodyPr/>
                    <a:lstStyle/>
                    <a:p>
                      <a:pPr algn="ctr"/>
                      <a:r>
                        <a:rPr lang="en-IN" sz="1400" dirty="0">
                          <a:latin typeface="Times New Roman" panose="02020603050405020304" pitchFamily="18" charset="0"/>
                          <a:cs typeface="Times New Roman" panose="02020603050405020304" pitchFamily="18" charset="0"/>
                        </a:rPr>
                        <a:t>4</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Assistive Technologies for Accessible Software Engineering</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2021</a:t>
                      </a:r>
                    </a:p>
                  </a:txBody>
                  <a:tcPr marL="39201" marR="39201" marT="19601" marB="19601" anchor="ctr"/>
                </a:tc>
                <a:tc>
                  <a:txBody>
                    <a:bodyPr/>
                    <a:lstStyle/>
                    <a:p>
                      <a:r>
                        <a:rPr lang="en-GB" sz="1400" dirty="0" err="1">
                          <a:latin typeface="Times New Roman" panose="02020603050405020304" pitchFamily="18" charset="0"/>
                          <a:cs typeface="Times New Roman" panose="02020603050405020304" pitchFamily="18" charset="0"/>
                        </a:rPr>
                        <a:t>Analyzes</a:t>
                      </a:r>
                      <a:r>
                        <a:rPr lang="en-GB" sz="1400" dirty="0">
                          <a:latin typeface="Times New Roman" panose="02020603050405020304" pitchFamily="18" charset="0"/>
                          <a:cs typeface="Times New Roman" panose="02020603050405020304" pitchFamily="18" charset="0"/>
                        </a:rPr>
                        <a:t> existing assistive tools for programmers with disabilities and emphasizes the need for more context-aware solutions.</a:t>
                      </a:r>
                    </a:p>
                  </a:txBody>
                  <a:tcPr marL="39201" marR="39201" marT="19601" marB="19601" anchor="ctr"/>
                </a:tc>
                <a:extLst>
                  <a:ext uri="{0D108BD9-81ED-4DB2-BD59-A6C34878D82A}">
                    <a16:rowId xmlns:a16="http://schemas.microsoft.com/office/drawing/2014/main" val="10004"/>
                  </a:ext>
                </a:extLst>
              </a:tr>
              <a:tr h="819968">
                <a:tc>
                  <a:txBody>
                    <a:bodyPr/>
                    <a:lstStyle/>
                    <a:p>
                      <a:pPr algn="ctr"/>
                      <a:r>
                        <a:rPr lang="en-IN" sz="1400" dirty="0">
                          <a:latin typeface="Times New Roman" panose="02020603050405020304" pitchFamily="18" charset="0"/>
                          <a:cs typeface="Times New Roman" panose="02020603050405020304" pitchFamily="18" charset="0"/>
                        </a:rPr>
                        <a:t>5</a:t>
                      </a:r>
                    </a:p>
                  </a:txBody>
                  <a:tcPr marL="39201" marR="39201" marT="19601" marB="19601" anchor="ctr"/>
                </a:tc>
                <a:tc>
                  <a:txBody>
                    <a:bodyPr/>
                    <a:lstStyle/>
                    <a:p>
                      <a:pPr algn="ctr"/>
                      <a:r>
                        <a:rPr lang="en-GB" sz="1400" dirty="0">
                          <a:latin typeface="Times New Roman" panose="02020603050405020304" pitchFamily="18" charset="0"/>
                          <a:cs typeface="Times New Roman" panose="02020603050405020304" pitchFamily="18" charset="0"/>
                        </a:rPr>
                        <a:t>AI-Based Voice Interfaces for Code Generation</a:t>
                      </a:r>
                    </a:p>
                  </a:txBody>
                  <a:tcPr marL="39201" marR="39201" marT="19601" marB="19601" anchor="ctr"/>
                </a:tc>
                <a:tc>
                  <a:txBody>
                    <a:bodyPr/>
                    <a:lstStyle/>
                    <a:p>
                      <a:pPr algn="ctr"/>
                      <a:r>
                        <a:rPr lang="en-IN" sz="1400" dirty="0">
                          <a:latin typeface="Times New Roman" panose="02020603050405020304" pitchFamily="18" charset="0"/>
                          <a:cs typeface="Times New Roman" panose="02020603050405020304" pitchFamily="18" charset="0"/>
                        </a:rPr>
                        <a:t>2022</a:t>
                      </a:r>
                    </a:p>
                  </a:txBody>
                  <a:tcPr marL="39201" marR="39201" marT="19601" marB="19601" anchor="ctr"/>
                </a:tc>
                <a:tc>
                  <a:txBody>
                    <a:bodyPr/>
                    <a:lstStyle/>
                    <a:p>
                      <a:r>
                        <a:rPr lang="en-GB" sz="1400" dirty="0">
                          <a:latin typeface="Times New Roman" panose="02020603050405020304" pitchFamily="18" charset="0"/>
                          <a:cs typeface="Times New Roman" panose="02020603050405020304" pitchFamily="18" charset="0"/>
                        </a:rPr>
                        <a:t>Presents AI-driven voice interfaces for generating and modifying code, focusing on usability, accuracy, and real-time interaction.</a:t>
                      </a:r>
                    </a:p>
                  </a:txBody>
                  <a:tcPr marL="39201" marR="39201" marT="19601" marB="19601"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8ECBE-B7C2-8CA1-042F-85E96AD3831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1154493C-4299-8AAE-7E9E-D64D2061E8A9}"/>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Architecture Diagram </a:t>
            </a:r>
          </a:p>
        </p:txBody>
      </p:sp>
      <p:pic>
        <p:nvPicPr>
          <p:cNvPr id="5" name="Picture 4">
            <a:extLst>
              <a:ext uri="{FF2B5EF4-FFF2-40B4-BE49-F238E27FC236}">
                <a16:creationId xmlns:a16="http://schemas.microsoft.com/office/drawing/2014/main" id="{B5729469-7549-378E-3F57-CFC8D13E1C78}"/>
              </a:ext>
            </a:extLst>
          </p:cNvPr>
          <p:cNvPicPr>
            <a:picLocks noChangeAspect="1"/>
          </p:cNvPicPr>
          <p:nvPr/>
        </p:nvPicPr>
        <p:blipFill>
          <a:blip r:embed="rId2">
            <a:extLst>
              <a:ext uri="{28A0092B-C50C-407E-A947-70E740481C1C}">
                <a14:useLocalDpi xmlns:a14="http://schemas.microsoft.com/office/drawing/2010/main" val="0"/>
              </a:ext>
            </a:extLst>
          </a:blip>
          <a:srcRect t="4753" b="11551"/>
          <a:stretch>
            <a:fillRect/>
          </a:stretch>
        </p:blipFill>
        <p:spPr>
          <a:xfrm>
            <a:off x="1631504" y="1124744"/>
            <a:ext cx="8597900" cy="4797346"/>
          </a:xfrm>
          <a:prstGeom prst="rect">
            <a:avLst/>
          </a:prstGeom>
        </p:spPr>
      </p:pic>
      <p:sp>
        <p:nvSpPr>
          <p:cNvPr id="3" name="TextBox 2">
            <a:extLst>
              <a:ext uri="{FF2B5EF4-FFF2-40B4-BE49-F238E27FC236}">
                <a16:creationId xmlns:a16="http://schemas.microsoft.com/office/drawing/2014/main" id="{DEA75632-CA2F-A176-EC6F-C5A0739E3F49}"/>
              </a:ext>
            </a:extLst>
          </p:cNvPr>
          <p:cNvSpPr txBox="1"/>
          <p:nvPr/>
        </p:nvSpPr>
        <p:spPr>
          <a:xfrm>
            <a:off x="4511824" y="5939988"/>
            <a:ext cx="3168352" cy="369332"/>
          </a:xfrm>
          <a:prstGeom prst="rect">
            <a:avLst/>
          </a:prstGeom>
          <a:noFill/>
        </p:spPr>
        <p:txBody>
          <a:bodyPr wrap="square">
            <a:spAutoFit/>
          </a:bodyPr>
          <a:lstStyle/>
          <a:p>
            <a:pPr algn="ctr">
              <a:lnSpc>
                <a:spcPct val="100000"/>
              </a:lnSpc>
              <a:spcBef>
                <a:spcPct val="0"/>
              </a:spcBef>
              <a:buFontTx/>
              <a:buNone/>
            </a:pPr>
            <a:r>
              <a:rPr lang="en-IN" altLang="en-US" sz="1800" b="1" dirty="0">
                <a:solidFill>
                  <a:srgbClr val="FF0000"/>
                </a:solidFill>
                <a:latin typeface="Times New Roman" panose="02020603050405020304" pitchFamily="18" charset="0"/>
                <a:cs typeface="Times New Roman" panose="02020603050405020304" pitchFamily="18" charset="0"/>
              </a:rPr>
              <a:t>Fig.1 Architecture diagram</a:t>
            </a:r>
          </a:p>
        </p:txBody>
      </p:sp>
    </p:spTree>
    <p:extLst>
      <p:ext uri="{BB962C8B-B14F-4D97-AF65-F5344CB8AC3E}">
        <p14:creationId xmlns:p14="http://schemas.microsoft.com/office/powerpoint/2010/main" val="843739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AC249-8393-7339-8D6F-C62BBE2DF97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E874B5B-99C3-5031-41CD-BB6980FE911A}"/>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Result and Analysis</a:t>
            </a:r>
          </a:p>
        </p:txBody>
      </p:sp>
      <p:sp>
        <p:nvSpPr>
          <p:cNvPr id="6148" name="Google Shape;110;p16">
            <a:extLst>
              <a:ext uri="{FF2B5EF4-FFF2-40B4-BE49-F238E27FC236}">
                <a16:creationId xmlns:a16="http://schemas.microsoft.com/office/drawing/2014/main" id="{0ECD3E96-0105-992A-C68B-D85337FBB5FC}"/>
              </a:ext>
            </a:extLst>
          </p:cNvPr>
          <p:cNvSpPr txBox="1">
            <a:spLocks/>
          </p:cNvSpPr>
          <p:nvPr/>
        </p:nvSpPr>
        <p:spPr bwMode="auto">
          <a:xfrm>
            <a:off x="535546" y="1124744"/>
            <a:ext cx="11120907" cy="4752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Performance &amp; Capabilities</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Latency</a:t>
            </a:r>
            <a:r>
              <a:rPr lang="en-US" sz="2400" dirty="0">
                <a:latin typeface="Times New Roman" panose="02020603050405020304" pitchFamily="18" charset="0"/>
                <a:cs typeface="Times New Roman" panose="02020603050405020304" pitchFamily="18" charset="0"/>
              </a:rPr>
              <a:t>: Fast execution due to local speech processing (no network round-trip).</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Accuracy</a:t>
            </a:r>
            <a:r>
              <a:rPr lang="en-US" sz="2400" dirty="0">
                <a:latin typeface="Times New Roman" panose="02020603050405020304" pitchFamily="18" charset="0"/>
                <a:cs typeface="Times New Roman" panose="02020603050405020304" pitchFamily="18" charset="0"/>
              </a:rPr>
              <a:t>: High accuracy for structured commands due to specific keyword targeting and regex patterns.</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Supported Actions</a:t>
            </a:r>
            <a:r>
              <a:rPr lang="en-US" sz="24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Navigation</a:t>
            </a:r>
            <a:r>
              <a:rPr lang="en-US" sz="2400" dirty="0">
                <a:latin typeface="Times New Roman" panose="02020603050405020304" pitchFamily="18" charset="0"/>
                <a:cs typeface="Times New Roman" panose="02020603050405020304" pitchFamily="18" charset="0"/>
              </a:rPr>
              <a:t>: Jump to specific lines ("Line 50"), Top/Bottom of file.</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Editing</a:t>
            </a:r>
            <a:r>
              <a:rPr lang="en-US" sz="2400" dirty="0">
                <a:latin typeface="Times New Roman" panose="02020603050405020304" pitchFamily="18" charset="0"/>
                <a:cs typeface="Times New Roman" panose="02020603050405020304" pitchFamily="18" charset="0"/>
              </a:rPr>
              <a:t>: Delete lines, duplicate lines, comment/uncomment code.</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Generation</a:t>
            </a:r>
            <a:r>
              <a:rPr lang="en-US" sz="2400" dirty="0">
                <a:latin typeface="Times New Roman" panose="02020603050405020304" pitchFamily="18" charset="0"/>
                <a:cs typeface="Times New Roman" panose="02020603050405020304" pitchFamily="18" charset="0"/>
              </a:rPr>
              <a:t>: Create boilerplate for loops (for, while), functions, and classes.</a:t>
            </a:r>
          </a:p>
          <a:p>
            <a:pPr marL="800100" lvl="1"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Control</a:t>
            </a:r>
            <a:r>
              <a:rPr lang="en-US" sz="2400" dirty="0">
                <a:latin typeface="Times New Roman" panose="02020603050405020304" pitchFamily="18" charset="0"/>
                <a:cs typeface="Times New Roman" panose="02020603050405020304" pitchFamily="18" charset="0"/>
              </a:rPr>
              <a:t>: Run code, undo/redo, stop listening.</a:t>
            </a:r>
          </a:p>
        </p:txBody>
      </p:sp>
    </p:spTree>
    <p:extLst>
      <p:ext uri="{BB962C8B-B14F-4D97-AF65-F5344CB8AC3E}">
        <p14:creationId xmlns:p14="http://schemas.microsoft.com/office/powerpoint/2010/main" val="2239512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7637-9B68-6009-FE56-86D7145A6B9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7F181CB0-C512-F348-C3CA-5B9F10522A47}"/>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Claims</a:t>
            </a:r>
          </a:p>
        </p:txBody>
      </p:sp>
      <p:sp>
        <p:nvSpPr>
          <p:cNvPr id="6" name="TextBox 5">
            <a:extLst>
              <a:ext uri="{FF2B5EF4-FFF2-40B4-BE49-F238E27FC236}">
                <a16:creationId xmlns:a16="http://schemas.microsoft.com/office/drawing/2014/main" id="{CCDDC849-A2A3-8D0B-5D35-9AD453769055}"/>
              </a:ext>
            </a:extLst>
          </p:cNvPr>
          <p:cNvSpPr txBox="1"/>
          <p:nvPr/>
        </p:nvSpPr>
        <p:spPr>
          <a:xfrm>
            <a:off x="436476" y="1200024"/>
            <a:ext cx="11319048" cy="44579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 voice-controlled programming assistant system</a:t>
            </a:r>
            <a:r>
              <a:rPr lang="en-US" sz="2400" dirty="0">
                <a:latin typeface="Times New Roman" panose="02020603050405020304" pitchFamily="18" charset="0"/>
                <a:cs typeface="Times New Roman" panose="02020603050405020304" pitchFamily="18" charset="0"/>
              </a:rPr>
              <a:t>, comprising a speech recognition engine, a natural language understanding backend, and an integrated development environment (IDE) extension, configured to convert spoken language into executable editing commands without external network dependency.</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speech recognition engine operates entirely offline using a lightweight model to ensure user privacy and zero data leakage.</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IDE extension captures real-time editor context, including cursor position and active language, to optimize command accuracy.</a:t>
            </a:r>
          </a:p>
        </p:txBody>
      </p:sp>
    </p:spTree>
    <p:extLst>
      <p:ext uri="{BB962C8B-B14F-4D97-AF65-F5344CB8AC3E}">
        <p14:creationId xmlns:p14="http://schemas.microsoft.com/office/powerpoint/2010/main" val="2085466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A37E-E241-A525-0D33-D69EBFB3F7C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E1413E0C-6BAA-EA00-A160-D97EBBB47215}"/>
              </a:ext>
            </a:extLst>
          </p:cNvPr>
          <p:cNvSpPr>
            <a:spLocks noGrp="1"/>
          </p:cNvSpPr>
          <p:nvPr>
            <p:ph type="title"/>
          </p:nvPr>
        </p:nvSpPr>
        <p:spPr>
          <a:xfrm>
            <a:off x="609600" y="381000"/>
            <a:ext cx="10515600" cy="76041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Claims</a:t>
            </a:r>
          </a:p>
        </p:txBody>
      </p:sp>
      <p:sp>
        <p:nvSpPr>
          <p:cNvPr id="6" name="TextBox 5">
            <a:extLst>
              <a:ext uri="{FF2B5EF4-FFF2-40B4-BE49-F238E27FC236}">
                <a16:creationId xmlns:a16="http://schemas.microsoft.com/office/drawing/2014/main" id="{06B6734B-A539-748D-C2E0-AE6BC48F77B8}"/>
              </a:ext>
            </a:extLst>
          </p:cNvPr>
          <p:cNvSpPr txBox="1"/>
          <p:nvPr/>
        </p:nvSpPr>
        <p:spPr>
          <a:xfrm>
            <a:off x="609600" y="1340768"/>
            <a:ext cx="10646651" cy="501194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wherein the backend logic is decoupled from the frontend extension to enable platform-agnostic deployment across different editing environments.</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further comprising a latency-optimized architecture that executes navigation and editing commands faster than traditional manual input methods.</a:t>
            </a:r>
          </a:p>
          <a:p>
            <a:pPr marL="342900" indent="-342900"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system as claimed in Claim 1</a:t>
            </a:r>
            <a:r>
              <a:rPr lang="en-US" sz="2400" dirty="0">
                <a:latin typeface="Times New Roman" panose="02020603050405020304" pitchFamily="18" charset="0"/>
                <a:cs typeface="Times New Roman" panose="02020603050405020304" pitchFamily="18" charset="0"/>
              </a:rPr>
              <a:t>, designed as an assistive technology to reduce physical strain and enable efficient hands-free coding for all developers.</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83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95400" y="260648"/>
            <a:ext cx="10515600" cy="1325563"/>
          </a:xfrm>
        </p:spPr>
        <p:txBody>
          <a:bodyPr/>
          <a:lstStyle/>
          <a:p>
            <a:pPr eaLnBrk="1" hangingPunct="1"/>
            <a:r>
              <a:rPr lang="en-IN" altLang="en-US" sz="4000" b="1" dirty="0">
                <a:solidFill>
                  <a:srgbClr val="FF0000"/>
                </a:solidFill>
                <a:latin typeface="Times New Roman" panose="02020603050405020304" pitchFamily="18" charset="0"/>
                <a:cs typeface="Times New Roman" panose="02020603050405020304" pitchFamily="18" charset="0"/>
              </a:rPr>
              <a:t>Abstract</a:t>
            </a:r>
          </a:p>
        </p:txBody>
      </p:sp>
      <p:sp>
        <p:nvSpPr>
          <p:cNvPr id="4100" name="Google Shape;110;p16"/>
          <p:cNvSpPr txBox="1">
            <a:spLocks/>
          </p:cNvSpPr>
          <p:nvPr/>
        </p:nvSpPr>
        <p:spPr bwMode="auto">
          <a:xfrm>
            <a:off x="623392" y="1340768"/>
            <a:ext cx="105156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pPr>
            <a:r>
              <a:rPr lang="en-GB" sz="2000" dirty="0">
                <a:latin typeface="Times New Roman" panose="02020603050405020304" pitchFamily="18" charset="0"/>
                <a:cs typeface="Times New Roman" panose="02020603050405020304" pitchFamily="18" charset="0"/>
              </a:rPr>
              <a:t>    				Modern programming environments are largely optimized for keyboard and mouse interaction, which creates accessibility challenges for developers with physical or motor disabilities. Although speech recognition and artificial intelligence have advanced significantly, their effective use in context-aware programming remains limited. This paper presents a voice-enabled, AI-based coding assistant that enables hands-free interaction within an integrated development environment. The system captures spoken commands, converts them into text using speech-to-text techniques, and interprets user intent using natural language processing. Based on the identified intent, programming actions such as code generation and modification are performed. Implemented as an extension for Visual Studio Code, the proposed solution enhances accessibility and supports inclusive software development practices.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09599" y="54868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Diagrams and Figures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1D48DA-22A6-832B-B7BD-71015901F7F7}"/>
              </a:ext>
            </a:extLst>
          </p:cNvPr>
          <p:cNvPicPr>
            <a:picLocks noChangeAspect="1"/>
          </p:cNvPicPr>
          <p:nvPr/>
        </p:nvPicPr>
        <p:blipFill>
          <a:blip r:embed="rId2"/>
          <a:srcRect l="4972" t="2277" r="3552" b="1387"/>
          <a:stretch>
            <a:fillRect/>
          </a:stretch>
        </p:blipFill>
        <p:spPr>
          <a:xfrm>
            <a:off x="2555031" y="1254565"/>
            <a:ext cx="6624736" cy="4752528"/>
          </a:xfrm>
          <a:prstGeom prst="rect">
            <a:avLst/>
          </a:prstGeom>
        </p:spPr>
      </p:pic>
      <p:sp>
        <p:nvSpPr>
          <p:cNvPr id="4" name="TextBox 3">
            <a:extLst>
              <a:ext uri="{FF2B5EF4-FFF2-40B4-BE49-F238E27FC236}">
                <a16:creationId xmlns:a16="http://schemas.microsoft.com/office/drawing/2014/main" id="{583B167C-20F0-C047-12A5-5CA3230E460C}"/>
              </a:ext>
            </a:extLst>
          </p:cNvPr>
          <p:cNvSpPr txBox="1"/>
          <p:nvPr/>
        </p:nvSpPr>
        <p:spPr>
          <a:xfrm>
            <a:off x="4896546" y="5952564"/>
            <a:ext cx="2399928" cy="369332"/>
          </a:xfrm>
          <a:prstGeom prst="rect">
            <a:avLst/>
          </a:prstGeom>
          <a:noFill/>
        </p:spPr>
        <p:txBody>
          <a:bodyPr wrap="square">
            <a:spAutoFit/>
          </a:bodyPr>
          <a:lstStyle/>
          <a:p>
            <a:pPr algn="ctr">
              <a:lnSpc>
                <a:spcPct val="100000"/>
              </a:lnSpc>
              <a:spcBef>
                <a:spcPct val="0"/>
              </a:spcBef>
              <a:buFontTx/>
              <a:buNone/>
            </a:pPr>
            <a:r>
              <a:rPr lang="en-IN" altLang="en-US" sz="1800" b="1" dirty="0">
                <a:solidFill>
                  <a:srgbClr val="FF0000"/>
                </a:solidFill>
                <a:latin typeface="Times New Roman" panose="02020603050405020304" pitchFamily="18" charset="0"/>
                <a:cs typeface="Times New Roman" panose="02020603050405020304" pitchFamily="18" charset="0"/>
              </a:rPr>
              <a:t>Fig. flow diagram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DB50-C1FE-B101-9058-AB1F76EE7356}"/>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50278B0F-6D12-3EA0-9410-ACCCFE56EB0B}"/>
              </a:ext>
            </a:extLst>
          </p:cNvPr>
          <p:cNvSpPr>
            <a:spLocks noGrp="1"/>
          </p:cNvSpPr>
          <p:nvPr>
            <p:ph type="title"/>
          </p:nvPr>
        </p:nvSpPr>
        <p:spPr>
          <a:xfrm>
            <a:off x="609599" y="54868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Diagrams and Figures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D200A8D-922E-D253-14E0-A0BB01E0EE64}"/>
              </a:ext>
            </a:extLst>
          </p:cNvPr>
          <p:cNvPicPr>
            <a:picLocks noChangeAspect="1"/>
          </p:cNvPicPr>
          <p:nvPr/>
        </p:nvPicPr>
        <p:blipFill>
          <a:blip r:embed="rId2">
            <a:extLst>
              <a:ext uri="{28A0092B-C50C-407E-A947-70E740481C1C}">
                <a14:useLocalDpi xmlns:a14="http://schemas.microsoft.com/office/drawing/2010/main" val="0"/>
              </a:ext>
            </a:extLst>
          </a:blip>
          <a:srcRect l="1111" t="19089" r="1111" b="21650"/>
          <a:stretch>
            <a:fillRect/>
          </a:stretch>
        </p:blipFill>
        <p:spPr>
          <a:xfrm>
            <a:off x="263352" y="1295690"/>
            <a:ext cx="11517282" cy="4653590"/>
          </a:xfrm>
          <a:prstGeom prst="rect">
            <a:avLst/>
          </a:prstGeom>
        </p:spPr>
      </p:pic>
      <p:sp>
        <p:nvSpPr>
          <p:cNvPr id="7" name="TextBox 6">
            <a:extLst>
              <a:ext uri="{FF2B5EF4-FFF2-40B4-BE49-F238E27FC236}">
                <a16:creationId xmlns:a16="http://schemas.microsoft.com/office/drawing/2014/main" id="{F15CCA34-5D63-8ADA-EA1E-D2145FDE8374}"/>
              </a:ext>
            </a:extLst>
          </p:cNvPr>
          <p:cNvSpPr txBox="1"/>
          <p:nvPr/>
        </p:nvSpPr>
        <p:spPr>
          <a:xfrm>
            <a:off x="2973993" y="5939988"/>
            <a:ext cx="6096000" cy="369332"/>
          </a:xfrm>
          <a:prstGeom prst="rect">
            <a:avLst/>
          </a:prstGeom>
          <a:noFill/>
        </p:spPr>
        <p:txBody>
          <a:bodyPr wrap="square">
            <a:spAutoFit/>
          </a:bodyPr>
          <a:lstStyle/>
          <a:p>
            <a:pPr algn="ctr"/>
            <a:r>
              <a:rPr lang="en-US" altLang="en-US" sz="1800" b="1" dirty="0">
                <a:solidFill>
                  <a:srgbClr val="FF0000"/>
                </a:solidFill>
                <a:latin typeface="Times New Roman" panose="02020603050405020304" pitchFamily="18" charset="0"/>
                <a:cs typeface="Times New Roman" panose="02020603050405020304" pitchFamily="18" charset="0"/>
              </a:rPr>
              <a:t>Fig. 3 Use Case Diagram</a:t>
            </a:r>
            <a:endParaRPr lang="en-IN" dirty="0"/>
          </a:p>
        </p:txBody>
      </p:sp>
    </p:spTree>
    <p:extLst>
      <p:ext uri="{BB962C8B-B14F-4D97-AF65-F5344CB8AC3E}">
        <p14:creationId xmlns:p14="http://schemas.microsoft.com/office/powerpoint/2010/main" val="1676238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Algorithms &amp; Technologies Used</a:t>
            </a:r>
          </a:p>
        </p:txBody>
      </p:sp>
      <p:sp>
        <p:nvSpPr>
          <p:cNvPr id="10244" name="Google Shape;110;p16"/>
          <p:cNvSpPr txBox="1">
            <a:spLocks/>
          </p:cNvSpPr>
          <p:nvPr/>
        </p:nvSpPr>
        <p:spPr bwMode="auto">
          <a:xfrm>
            <a:off x="436630" y="1309093"/>
            <a:ext cx="11748805" cy="516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Core Architecture: Decoupled Client-Server Model</a:t>
            </a:r>
            <a:endParaRPr lang="en-IN" sz="2200" dirty="0">
              <a:latin typeface="Times New Roman" panose="02020603050405020304" pitchFamily="18" charset="0"/>
              <a:cs typeface="Times New Roman" panose="02020603050405020304" pitchFamily="18" charset="0"/>
            </a:endParaRP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Speech Recognition (Offline)</a:t>
            </a:r>
            <a:r>
              <a:rPr lang="en-IN" sz="22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Engine</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VOSK</a:t>
            </a:r>
            <a:r>
              <a:rPr lang="en-IN" sz="2200" dirty="0">
                <a:latin typeface="Times New Roman" panose="02020603050405020304" pitchFamily="18" charset="0"/>
                <a:cs typeface="Times New Roman" panose="02020603050405020304" pitchFamily="18" charset="0"/>
              </a:rPr>
              <a:t> (Kaldi-based)</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Why</a:t>
            </a:r>
            <a:r>
              <a:rPr lang="en-IN" sz="2200" dirty="0">
                <a:latin typeface="Times New Roman" panose="02020603050405020304" pitchFamily="18" charset="0"/>
                <a:cs typeface="Times New Roman" panose="02020603050405020304" pitchFamily="18" charset="0"/>
              </a:rPr>
              <a:t>: Lightweight, offline-capable, and preserves privacy.</a:t>
            </a: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Intent Classification (NLP)</a:t>
            </a:r>
            <a:r>
              <a:rPr lang="en-IN" sz="2200" dirty="0">
                <a:latin typeface="Times New Roman" panose="02020603050405020304" pitchFamily="18" charset="0"/>
                <a:cs typeface="Times New Roman" panose="02020603050405020304" pitchFamily="18" charset="0"/>
              </a:rPr>
              <a:t>:</a:t>
            </a:r>
          </a:p>
          <a:p>
            <a:pPr marL="914400" lvl="1" indent="-457200" fontAlgn="ctr">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Logic</a:t>
            </a:r>
            <a:r>
              <a:rPr lang="en-IN" sz="2200" dirty="0">
                <a:latin typeface="Times New Roman" panose="02020603050405020304" pitchFamily="18" charset="0"/>
                <a:cs typeface="Times New Roman" panose="02020603050405020304" pitchFamily="18" charset="0"/>
              </a:rPr>
              <a:t>: Regex-based pattern matching and keyword analysis.</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Normalization</a:t>
            </a:r>
            <a:r>
              <a:rPr lang="en-IN" sz="2200" dirty="0">
                <a:latin typeface="Times New Roman" panose="02020603050405020304" pitchFamily="18" charset="0"/>
                <a:cs typeface="Times New Roman" panose="02020603050405020304" pitchFamily="18" charset="0"/>
              </a:rPr>
              <a:t>: Text normalization to handle homophones (e.g., "nine twenty" -&gt; "line 20").</a:t>
            </a:r>
          </a:p>
          <a:p>
            <a:pPr marL="914400" lvl="1" indent="-457200">
              <a:spcBef>
                <a:spcPts val="600"/>
              </a:spcBef>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Keyword Extraction</a:t>
            </a:r>
            <a:r>
              <a:rPr lang="en-IN" sz="2200" dirty="0">
                <a:latin typeface="Times New Roman" panose="02020603050405020304" pitchFamily="18" charset="0"/>
                <a:cs typeface="Times New Roman" panose="02020603050405020304" pitchFamily="18" charset="0"/>
              </a:rPr>
              <a:t>: Identifies triggers like create function, remove line, </a:t>
            </a:r>
            <a:r>
              <a:rPr lang="en-IN" sz="2200" dirty="0" err="1">
                <a:latin typeface="Times New Roman" panose="02020603050405020304" pitchFamily="18" charset="0"/>
                <a:cs typeface="Times New Roman" panose="02020603050405020304" pitchFamily="18" charset="0"/>
              </a:rPr>
              <a:t>goto</a:t>
            </a:r>
            <a:r>
              <a:rPr lang="en-IN" sz="2200" dirty="0">
                <a:latin typeface="Times New Roman" panose="02020603050405020304" pitchFamily="18" charset="0"/>
                <a:cs typeface="Times New Roman" panose="02020603050405020304" pitchFamily="18" charset="0"/>
              </a:rPr>
              <a:t>.</a:t>
            </a:r>
          </a:p>
          <a:p>
            <a:pPr marL="457200"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Integration Layer</a:t>
            </a:r>
            <a:r>
              <a:rPr lang="en-IN" sz="2200" dirty="0">
                <a:latin typeface="Times New Roman" panose="02020603050405020304" pitchFamily="18" charset="0"/>
                <a:cs typeface="Times New Roman" panose="02020603050405020304" pitchFamily="18" charset="0"/>
              </a:rPr>
              <a:t>:</a:t>
            </a:r>
          </a:p>
          <a:p>
            <a:pPr marL="914400" lvl="1"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Backend</a:t>
            </a:r>
            <a:r>
              <a:rPr lang="en-IN" sz="2200" dirty="0">
                <a:latin typeface="Times New Roman" panose="02020603050405020304" pitchFamily="18" charset="0"/>
                <a:cs typeface="Times New Roman" panose="02020603050405020304" pitchFamily="18" charset="0"/>
              </a:rPr>
              <a:t>: </a:t>
            </a:r>
            <a:r>
              <a:rPr lang="en-IN" sz="2200" b="1" dirty="0" err="1">
                <a:latin typeface="Times New Roman" panose="02020603050405020304" pitchFamily="18" charset="0"/>
                <a:cs typeface="Times New Roman" panose="02020603050405020304" pitchFamily="18" charset="0"/>
              </a:rPr>
              <a:t>FastAPI</a:t>
            </a:r>
            <a:r>
              <a:rPr lang="en-IN" sz="2200" dirty="0">
                <a:latin typeface="Times New Roman" panose="02020603050405020304" pitchFamily="18" charset="0"/>
                <a:cs typeface="Times New Roman" panose="02020603050405020304" pitchFamily="18" charset="0"/>
              </a:rPr>
              <a:t> (Python) server processing intents and exposing a JSON API.</a:t>
            </a:r>
          </a:p>
          <a:p>
            <a:pPr marL="914400" lvl="1" indent="-457200">
              <a:spcBef>
                <a:spcPts val="600"/>
              </a:spcBef>
              <a:buFont typeface="+mj-lt"/>
              <a:buAutoNum type="arabicPeriod"/>
            </a:pPr>
            <a:r>
              <a:rPr lang="en-IN" sz="2200" b="1" dirty="0">
                <a:latin typeface="Times New Roman" panose="02020603050405020304" pitchFamily="18" charset="0"/>
                <a:cs typeface="Times New Roman" panose="02020603050405020304" pitchFamily="18" charset="0"/>
              </a:rPr>
              <a:t>Frontend</a:t>
            </a:r>
            <a:r>
              <a:rPr lang="en-IN" sz="2200" dirty="0">
                <a:latin typeface="Times New Roman" panose="02020603050405020304" pitchFamily="18" charset="0"/>
                <a:cs typeface="Times New Roman" panose="02020603050405020304" pitchFamily="18" charset="0"/>
              </a:rPr>
              <a:t>:</a:t>
            </a:r>
            <a:r>
              <a:rPr lang="en-IN" sz="2200" b="1" dirty="0">
                <a:latin typeface="Times New Roman" panose="02020603050405020304" pitchFamily="18" charset="0"/>
                <a:cs typeface="Times New Roman" panose="02020603050405020304" pitchFamily="18" charset="0"/>
              </a:rPr>
              <a:t> TypeScript </a:t>
            </a:r>
            <a:r>
              <a:rPr lang="en-IN" sz="2200" dirty="0">
                <a:latin typeface="Times New Roman" panose="02020603050405020304" pitchFamily="18" charset="0"/>
                <a:cs typeface="Times New Roman" panose="02020603050405020304" pitchFamily="18" charset="0"/>
              </a:rPr>
              <a:t>(VS Code Extension API)</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handling cursor movements, text edits, and editor commands.</a:t>
            </a:r>
          </a:p>
          <a:p>
            <a:pPr>
              <a:spcBef>
                <a:spcPts val="600"/>
              </a:spcBef>
            </a:pPr>
            <a:br>
              <a:rPr lang="en-IN" sz="2200" dirty="0">
                <a:latin typeface="Times New Roman" panose="02020603050405020304" pitchFamily="18" charset="0"/>
                <a:cs typeface="Times New Roman" panose="02020603050405020304" pitchFamily="18" charset="0"/>
              </a:rPr>
            </a:b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D7F4E-C18F-3184-B259-F05E85E9AD0A}"/>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F732E30A-F00C-95FC-5201-65C4DE6FF854}"/>
              </a:ext>
            </a:extLst>
          </p:cNvPr>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Project Demo</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A14A48F-94D5-6023-DAF6-23D316146A09}"/>
              </a:ext>
            </a:extLst>
          </p:cNvPr>
          <p:cNvSpPr>
            <a:spLocks noGrp="1"/>
          </p:cNvSpPr>
          <p:nvPr>
            <p:ph type="dt" sz="quarter" idx="10"/>
          </p:nvPr>
        </p:nvSpPr>
        <p:spPr/>
        <p:txBody>
          <a:bodyPr/>
          <a:lstStyle/>
          <a:p>
            <a:pPr>
              <a:defRPr/>
            </a:pPr>
            <a:endParaRPr lang="en-US"/>
          </a:p>
        </p:txBody>
      </p:sp>
      <p:sp>
        <p:nvSpPr>
          <p:cNvPr id="11268" name="Google Shape;110;p16">
            <a:extLst>
              <a:ext uri="{FF2B5EF4-FFF2-40B4-BE49-F238E27FC236}">
                <a16:creationId xmlns:a16="http://schemas.microsoft.com/office/drawing/2014/main" id="{7939948C-8847-4358-7BB2-EDEC6F597687}"/>
              </a:ext>
            </a:extLst>
          </p:cNvPr>
          <p:cNvSpPr txBox="1">
            <a:spLocks/>
          </p:cNvSpPr>
          <p:nvPr/>
        </p:nvSpPr>
        <p:spPr bwMode="auto">
          <a:xfrm>
            <a:off x="609600" y="1524000"/>
            <a:ext cx="10972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a:p>
            <a:pPr algn="just" defTabSz="914400" eaLnBrk="1" hangingPunct="1">
              <a:lnSpc>
                <a:spcPct val="90000"/>
              </a:lnSpc>
              <a:buClr>
                <a:srgbClr val="000000"/>
              </a:buClr>
              <a:buSzPts val="2400"/>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Rectangle 6">
            <a:extLst>
              <a:ext uri="{FF2B5EF4-FFF2-40B4-BE49-F238E27FC236}">
                <a16:creationId xmlns:a16="http://schemas.microsoft.com/office/drawing/2014/main" id="{5607EFA2-ED14-5356-69BF-D9D186D286A7}"/>
              </a:ext>
            </a:extLst>
          </p:cNvPr>
          <p:cNvSpPr>
            <a:spLocks noChangeArrowheads="1"/>
          </p:cNvSpPr>
          <p:nvPr/>
        </p:nvSpPr>
        <p:spPr bwMode="auto">
          <a:xfrm>
            <a:off x="695400" y="1408587"/>
            <a:ext cx="10595022" cy="463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Activation</a:t>
            </a:r>
            <a:r>
              <a:rPr lang="en-US" sz="2000" dirty="0">
                <a:latin typeface="Times New Roman" panose="02020603050405020304" pitchFamily="18" charset="0"/>
                <a:cs typeface="Times New Roman" panose="02020603050405020304" pitchFamily="18" charset="0"/>
              </a:rPr>
              <a:t>: "Start the Voice Assistant." (Show extension status bar changing to 'Listening').</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Code Generation</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"Create function calculate total"</a:t>
            </a:r>
            <a:r>
              <a:rPr lang="en-US" sz="2000" dirty="0">
                <a:latin typeface="Times New Roman" panose="02020603050405020304" pitchFamily="18" charset="0"/>
                <a:cs typeface="Times New Roman" panose="02020603050405020304" pitchFamily="18" charset="0"/>
              </a:rPr>
              <a:t> -&gt; Generates def </a:t>
            </a:r>
            <a:r>
              <a:rPr lang="en-US" sz="2000" dirty="0" err="1">
                <a:latin typeface="Times New Roman" panose="02020603050405020304" pitchFamily="18" charset="0"/>
                <a:cs typeface="Times New Roman" panose="02020603050405020304" pitchFamily="18" charset="0"/>
              </a:rPr>
              <a:t>calculate_total</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“Create for loop”</a:t>
            </a:r>
            <a:r>
              <a:rPr lang="en-US" sz="2000" dirty="0">
                <a:latin typeface="Times New Roman" panose="02020603050405020304" pitchFamily="18" charset="0"/>
                <a:cs typeface="Times New Roman" panose="02020603050405020304" pitchFamily="18" charset="0"/>
              </a:rPr>
              <a:t> -&gt; Generates a for loop </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"Print hello world"</a:t>
            </a:r>
            <a:r>
              <a:rPr lang="en-US" sz="2000" dirty="0">
                <a:latin typeface="Times New Roman" panose="02020603050405020304" pitchFamily="18" charset="0"/>
                <a:cs typeface="Times New Roman" panose="02020603050405020304" pitchFamily="18" charset="0"/>
              </a:rPr>
              <a:t> -&gt; Generates print("hello world")</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Navigation &amp; Editing</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"Line 10"</a:t>
            </a:r>
            <a:r>
              <a:rPr lang="en-US" sz="2000" dirty="0">
                <a:latin typeface="Times New Roman" panose="02020603050405020304" pitchFamily="18" charset="0"/>
                <a:cs typeface="Times New Roman" panose="02020603050405020304" pitchFamily="18" charset="0"/>
              </a:rPr>
              <a:t> -&gt; Cursor jumps to line 10.</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"Duplicate"</a:t>
            </a:r>
            <a:r>
              <a:rPr lang="en-US" sz="2000" dirty="0">
                <a:latin typeface="Times New Roman" panose="02020603050405020304" pitchFamily="18" charset="0"/>
                <a:cs typeface="Times New Roman" panose="02020603050405020304" pitchFamily="18" charset="0"/>
              </a:rPr>
              <a:t> -&gt; Duplicates the current line.</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"Remove line"</a:t>
            </a:r>
            <a:r>
              <a:rPr lang="en-US" sz="2000" dirty="0">
                <a:latin typeface="Times New Roman" panose="02020603050405020304" pitchFamily="18" charset="0"/>
                <a:cs typeface="Times New Roman" panose="02020603050405020304" pitchFamily="18" charset="0"/>
              </a:rPr>
              <a:t> -&gt; Deletes the line.</a:t>
            </a:r>
          </a:p>
          <a:p>
            <a:pPr marL="457200" indent="-457200">
              <a:spcBef>
                <a:spcPts val="600"/>
              </a:spcBef>
              <a:buFont typeface="+mj-lt"/>
              <a:buAutoNum type="arabicPeriod"/>
            </a:pPr>
            <a:r>
              <a:rPr lang="en-US" sz="2000" b="1" dirty="0">
                <a:latin typeface="Times New Roman" panose="02020603050405020304" pitchFamily="18" charset="0"/>
                <a:cs typeface="Times New Roman" panose="02020603050405020304" pitchFamily="18" charset="0"/>
              </a:rPr>
              <a:t>Workflow</a:t>
            </a:r>
            <a:r>
              <a:rPr lang="en-US" sz="2000" dirty="0">
                <a:latin typeface="Times New Roman" panose="02020603050405020304" pitchFamily="18" charset="0"/>
                <a:cs typeface="Times New Roman" panose="02020603050405020304" pitchFamily="18" charset="0"/>
              </a:rPr>
              <a:t>:</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"Run code"</a:t>
            </a:r>
            <a:r>
              <a:rPr lang="en-US" sz="2000" dirty="0">
                <a:latin typeface="Times New Roman" panose="02020603050405020304" pitchFamily="18" charset="0"/>
                <a:cs typeface="Times New Roman" panose="02020603050405020304" pitchFamily="18" charset="0"/>
              </a:rPr>
              <a:t> -&gt; Triggers the run command in terminal.</a:t>
            </a:r>
          </a:p>
          <a:p>
            <a:pPr marL="914400" lvl="1" indent="-457200">
              <a:spcBef>
                <a:spcPts val="6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Say: </a:t>
            </a:r>
            <a:r>
              <a:rPr lang="en-US" sz="2000" i="1" dirty="0">
                <a:latin typeface="Times New Roman" panose="02020603050405020304" pitchFamily="18" charset="0"/>
                <a:cs typeface="Times New Roman" panose="02020603050405020304" pitchFamily="18" charset="0"/>
              </a:rPr>
              <a:t>"Stop listening"</a:t>
            </a:r>
            <a:r>
              <a:rPr lang="en-US" sz="2000" dirty="0">
                <a:latin typeface="Times New Roman" panose="02020603050405020304" pitchFamily="18" charset="0"/>
                <a:cs typeface="Times New Roman" panose="02020603050405020304" pitchFamily="18" charset="0"/>
              </a:rPr>
              <a:t> -&gt; Deactivates the voice loop.</a:t>
            </a:r>
          </a:p>
        </p:txBody>
      </p:sp>
    </p:spTree>
    <p:extLst>
      <p:ext uri="{BB962C8B-B14F-4D97-AF65-F5344CB8AC3E}">
        <p14:creationId xmlns:p14="http://schemas.microsoft.com/office/powerpoint/2010/main" val="829291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09600" y="381000"/>
            <a:ext cx="10515600" cy="760413"/>
          </a:xfrm>
        </p:spPr>
        <p:txBody>
          <a:bodyPr/>
          <a:lstStyle/>
          <a:p>
            <a:pPr eaLnBrk="1" hangingPunct="1"/>
            <a:r>
              <a:rPr lang="en-US" altLang="en-US" b="1" dirty="0">
                <a:solidFill>
                  <a:srgbClr val="FF0000"/>
                </a:solidFill>
              </a:rPr>
              <a:t> </a:t>
            </a:r>
            <a:r>
              <a:rPr lang="en-US" altLang="en-US" sz="4000" b="1" dirty="0">
                <a:solidFill>
                  <a:srgbClr val="FF0000"/>
                </a:solidFill>
                <a:latin typeface="Times New Roman" panose="02020603050405020304" pitchFamily="18" charset="0"/>
                <a:cs typeface="Times New Roman" panose="02020603050405020304" pitchFamily="18" charset="0"/>
              </a:rPr>
              <a:t>Conclusion</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12292" name="Google Shape;110;p16"/>
          <p:cNvSpPr txBox="1">
            <a:spLocks/>
          </p:cNvSpPr>
          <p:nvPr/>
        </p:nvSpPr>
        <p:spPr bwMode="auto">
          <a:xfrm>
            <a:off x="627856" y="1556792"/>
            <a:ext cx="10515600" cy="4473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defTabSz="914400" eaLnBrk="1" hangingPunct="1">
              <a:lnSpc>
                <a:spcPct val="150000"/>
              </a:lnSpc>
              <a:buClr>
                <a:srgbClr val="000000"/>
              </a:buClr>
              <a:buSzPts val="24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Voice to Code Assistant successfully demonstrates that effective, hands-free programming is achievable without compromising privacy or relying on expensive cloud services. </a:t>
            </a:r>
          </a:p>
          <a:p>
            <a:pPr marL="342900" indent="-342900" algn="just" defTabSz="914400" eaLnBrk="1" hangingPunct="1">
              <a:lnSpc>
                <a:spcPct val="150000"/>
              </a:lnSpc>
              <a:buClr>
                <a:srgbClr val="000000"/>
              </a:buClr>
              <a:buSzPts val="24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By combining efficient offline speech recognition with deep IDE integration, we have created a tool that not only aids accessibility but also enhances developer productivity. This project lays the foundation for a future where coding is as natural as speaking.</a:t>
            </a:r>
            <a:endParaRPr lang="en-US" altLang="en-US" sz="2200"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09600" y="381000"/>
            <a:ext cx="10515600" cy="760413"/>
          </a:xfrm>
        </p:spPr>
        <p:txBody>
          <a:bodyPr/>
          <a:lstStyle/>
          <a:p>
            <a:pPr eaLnBrk="1" hangingPunct="1"/>
            <a:r>
              <a:rPr lang="en-US" altLang="en-US" sz="4000" b="1" dirty="0">
                <a:solidFill>
                  <a:srgbClr val="FF0000"/>
                </a:solidFill>
                <a:latin typeface="Times New Roman" panose="02020603050405020304" pitchFamily="18" charset="0"/>
                <a:cs typeface="Times New Roman" panose="02020603050405020304" pitchFamily="18" charset="0"/>
              </a:rPr>
              <a:t>References</a:t>
            </a:r>
            <a:endParaRPr lang="en-IN" altLang="en-US" sz="40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quarter" idx="10"/>
          </p:nvPr>
        </p:nvSpPr>
        <p:spPr/>
        <p:txBody>
          <a:bodyPr/>
          <a:lstStyle/>
          <a:p>
            <a:pPr>
              <a:defRPr/>
            </a:pPr>
            <a:endParaRPr lang="en-US"/>
          </a:p>
        </p:txBody>
      </p:sp>
      <p:sp>
        <p:nvSpPr>
          <p:cNvPr id="13316" name="Google Shape;110;p16"/>
          <p:cNvSpPr txBox="1">
            <a:spLocks/>
          </p:cNvSpPr>
          <p:nvPr/>
        </p:nvSpPr>
        <p:spPr bwMode="auto">
          <a:xfrm>
            <a:off x="365766" y="1582350"/>
            <a:ext cx="11460467"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lvl="0" indent="-342900" algn="just" defTabSz="914400">
              <a:buFont typeface="+mj-lt"/>
              <a:buAutoNum type="arabicPeriod"/>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Subhash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P. N. Srivatsa, 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Siddesh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Ullas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B. Santhosh, AI-Based Voice Assistant for Accessibility,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2020 Fourth World Conference on Smart Trends in Systems, Security and Sustainability (WorldS4)</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593–596, 2020.</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Felix S. M., S. Kumar, and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Veeramuthu</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Smart Personal AI Assistant for Visually Impaired People,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2nd International Conference on Trends in Electronics and Informatics (ICOEI)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112–117, 2018.</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Chen R., Z. Tian, H. Liu, F. Zhao, and S. Zhang, Construction of a Voice-Driven Life Assistant System for Visually Impaired People,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International Conference on Artificial Intelligence and Big Data (ICAIBD)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87–92, 2018.</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Rani P. J., J.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Bakthakumar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 P.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Kumaar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 P.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Kumaar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 Kumar, Voice Controlled Home Automation Using Natural Language Processing (NLP) and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IoT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2017 Third International Conference on Science Technology Engineering &amp; Management (ICONSTEM)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45–50, 2017.</a:t>
            </a:r>
          </a:p>
          <a:p>
            <a:pPr marL="342900" lvl="0" indent="-342900" algn="just" defTabSz="914400">
              <a:buFont typeface="+mj-lt"/>
              <a:buAutoNum type="arabicPeriod"/>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a:buFont typeface="+mj-lt"/>
              <a:buAutoNum type="arabicPeriod"/>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Iannizzotto</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 L. L. Bello, 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Nucita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G. M. Grasso, A Vision and Speech Enabled Customizable Virtual Assistant for Smart Environments,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2018 11th International Conference on Human System Interaction (HSI)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50–56, 2018.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endParaRPr lang="en-US"/>
          </a:p>
        </p:txBody>
      </p:sp>
      <p:sp>
        <p:nvSpPr>
          <p:cNvPr id="14339" name="TextBox 3"/>
          <p:cNvSpPr txBox="1">
            <a:spLocks noChangeArrowheads="1"/>
          </p:cNvSpPr>
          <p:nvPr/>
        </p:nvSpPr>
        <p:spPr bwMode="auto">
          <a:xfrm>
            <a:off x="3581400" y="2590800"/>
            <a:ext cx="4648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ts val="575"/>
              </a:spcBef>
              <a:buSzPts val="1500"/>
            </a:pPr>
            <a:r>
              <a:rPr lang="en-IN" altLang="en-US" sz="5400" b="1">
                <a:latin typeface="Times New Roman" panose="02020603050405020304" pitchFamily="18" charset="0"/>
                <a:cs typeface="Times New Roman" panose="02020603050405020304" pitchFamily="18" charset="0"/>
                <a:sym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a0e8f73-967c-4e13-b55c-6b4dcdfd4341"/>
    <lcf76f155ced4ddcb4097134ff3c332f xmlns="9091ee48-ca27-4fcf-b5de-98ddf097c65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8F1BCB14E108D43AB233A31F986D556" ma:contentTypeVersion="15" ma:contentTypeDescription="Create a new document." ma:contentTypeScope="" ma:versionID="606eb99ade008cbd837459e6299ff69f">
  <xsd:schema xmlns:xsd="http://www.w3.org/2001/XMLSchema" xmlns:xs="http://www.w3.org/2001/XMLSchema" xmlns:p="http://schemas.microsoft.com/office/2006/metadata/properties" xmlns:ns2="9091ee48-ca27-4fcf-b5de-98ddf097c65b" xmlns:ns3="aa0e8f73-967c-4e13-b55c-6b4dcdfd4341" targetNamespace="http://schemas.microsoft.com/office/2006/metadata/properties" ma:root="true" ma:fieldsID="4f0695f8f66d9a55fcdb756ad6a4800d" ns2:_="" ns3:_="">
    <xsd:import namespace="9091ee48-ca27-4fcf-b5de-98ddf097c65b"/>
    <xsd:import namespace="aa0e8f73-967c-4e13-b55c-6b4dcdfd43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91ee48-ca27-4fcf-b5de-98ddf097c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a8dc31b-8fe8-4e59-b85a-c7b64a9b44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0e8f73-967c-4e13-b55c-6b4dcdfd43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6695d-8cf1-4d67-be06-2ceec35c97d8}" ma:internalName="TaxCatchAll" ma:showField="CatchAllData" ma:web="aa0e8f73-967c-4e13-b55c-6b4dcdfd434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7B56AF-BF8B-45D5-99FE-8572FA6C1777}">
  <ds:schemaRefs>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aa0e8f73-967c-4e13-b55c-6b4dcdfd4341"/>
    <ds:schemaRef ds:uri="9091ee48-ca27-4fcf-b5de-98ddf097c65b"/>
    <ds:schemaRef ds:uri="http://www.w3.org/XML/1998/namespace"/>
    <ds:schemaRef ds:uri="http://purl.org/dc/dcmitype/"/>
  </ds:schemaRefs>
</ds:datastoreItem>
</file>

<file path=customXml/itemProps2.xml><?xml version="1.0" encoding="utf-8"?>
<ds:datastoreItem xmlns:ds="http://schemas.openxmlformats.org/officeDocument/2006/customXml" ds:itemID="{A91E36E6-5217-4E12-971E-AF9D2089B059}">
  <ds:schemaRefs>
    <ds:schemaRef ds:uri="http://schemas.microsoft.com/sharepoint/v3/contenttype/forms"/>
  </ds:schemaRefs>
</ds:datastoreItem>
</file>

<file path=customXml/itemProps3.xml><?xml version="1.0" encoding="utf-8"?>
<ds:datastoreItem xmlns:ds="http://schemas.openxmlformats.org/officeDocument/2006/customXml" ds:itemID="{FFB38897-1384-41D0-8D2B-BBB64548DD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91ee48-ca27-4fcf-b5de-98ddf097c65b"/>
    <ds:schemaRef ds:uri="aa0e8f73-967c-4e13-b55c-6b4dcdfd43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2869</TotalTime>
  <Words>1425</Words>
  <Application>Microsoft Office PowerPoint</Application>
  <PresentationFormat>Widescreen</PresentationFormat>
  <Paragraphs>122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Helvetica</vt:lpstr>
      <vt:lpstr>Times New Roman</vt:lpstr>
      <vt:lpstr>Office Theme</vt:lpstr>
      <vt:lpstr>   </vt:lpstr>
      <vt:lpstr>Contents</vt:lpstr>
      <vt:lpstr>Problem Description</vt:lpstr>
      <vt:lpstr>Limitations of existing systems</vt:lpstr>
      <vt:lpstr>Literature Survey Summary</vt:lpstr>
      <vt:lpstr>Architecture Diagram </vt:lpstr>
      <vt:lpstr>Result and Analysis</vt:lpstr>
      <vt:lpstr>Claims</vt:lpstr>
      <vt:lpstr>Claims</vt:lpstr>
      <vt:lpstr>Abstract</vt:lpstr>
      <vt:lpstr>Diagrams and Figures</vt:lpstr>
      <vt:lpstr>Diagrams and Figures</vt:lpstr>
      <vt:lpstr>Algorithms &amp; Technologies Used</vt:lpstr>
      <vt:lpstr>Project Demo</vt:lpstr>
      <vt:lpstr> 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Aashif AK</cp:lastModifiedBy>
  <cp:revision>177</cp:revision>
  <dcterms:created xsi:type="dcterms:W3CDTF">2006-08-16T00:00:00Z</dcterms:created>
  <dcterms:modified xsi:type="dcterms:W3CDTF">2026-02-12T07:57:39Z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1033-12.2.0.13489</vt:lpwstr>
  </property>
  <property fmtid="{D5CDD505-2E9C-101B-9397-08002B2CF9AE}" pid="3" name="ICV">
    <vt:lpwstr>770EA04E17C140C9921074617930298C_13</vt:lpwstr>
  </property>
  <property fmtid="{D5CDD505-2E9C-101B-9397-08002B2CF9AE}" pid="4" name="ContentTypeId">
    <vt:lpwstr>0x01010098F1BCB14E108D43AB233A31F986D556</vt:lpwstr>
  </property>
</Properties>
</file>
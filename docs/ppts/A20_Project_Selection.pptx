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3" r:id="rId7"/>
    <p:sldId id="262" r:id="rId8"/>
    <p:sldId id="264" r:id="rId9"/>
    <p:sldId id="265" r:id="rId10"/>
    <p:sldId id="266" r:id="rId11"/>
    <p:sldId id="271" r:id="rId12"/>
    <p:sldId id="272" r:id="rId13"/>
    <p:sldId id="268" r:id="rId14"/>
    <p:sldId id="269" r:id="rId15"/>
    <p:sldId id="270"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94660"/>
  </p:normalViewPr>
  <p:slideViewPr>
    <p:cSldViewPr snapToGrid="0">
      <p:cViewPr varScale="1">
        <p:scale>
          <a:sx n="54" d="100"/>
          <a:sy n="54" d="100"/>
        </p:scale>
        <p:origin x="78" y="1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538474-CCCD-468D-BD7E-543A4C562000}" type="datetimeFigureOut">
              <a:rPr lang="en-IN" smtClean="0"/>
              <a:t>11-01-2026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192664-47E6-4F90-AA97-339B4C425262}" type="slidenum">
              <a:rPr lang="en-IN" smtClean="0"/>
              <a:t>‹#›</a:t>
            </a:fld>
            <a:endParaRPr lang="en-IN"/>
          </a:p>
        </p:txBody>
      </p:sp>
    </p:spTree>
    <p:extLst>
      <p:ext uri="{BB962C8B-B14F-4D97-AF65-F5344CB8AC3E}">
        <p14:creationId xmlns:p14="http://schemas.microsoft.com/office/powerpoint/2010/main" val="141523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888D-43C1-9221-7C20-E1BB81207F8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DBA25052-4833-D990-6569-4FF0237DE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21B89263-7ACB-E7CC-5D8A-130C8E942705}"/>
              </a:ext>
            </a:extLst>
          </p:cNvPr>
          <p:cNvSpPr>
            <a:spLocks noGrp="1"/>
          </p:cNvSpPr>
          <p:nvPr>
            <p:ph type="dt" sz="half" idx="10"/>
          </p:nvPr>
        </p:nvSpPr>
        <p:spPr/>
        <p:txBody>
          <a:bodyPr/>
          <a:lstStyle/>
          <a:p>
            <a:fld id="{FBD10123-99BD-4D78-A856-202618FE05D7}" type="datetime1">
              <a:rPr lang="en-IN" smtClean="0"/>
              <a:t>11-01-2026</a:t>
            </a:fld>
            <a:endParaRPr lang="en-IN"/>
          </a:p>
        </p:txBody>
      </p:sp>
      <p:sp>
        <p:nvSpPr>
          <p:cNvPr id="5" name="Footer Placeholder 4">
            <a:extLst>
              <a:ext uri="{FF2B5EF4-FFF2-40B4-BE49-F238E27FC236}">
                <a16:creationId xmlns:a16="http://schemas.microsoft.com/office/drawing/2014/main" id="{38A06A84-55AE-9CFC-E80A-976382432051}"/>
              </a:ext>
            </a:extLst>
          </p:cNvPr>
          <p:cNvSpPr>
            <a:spLocks noGrp="1"/>
          </p:cNvSpPr>
          <p:nvPr>
            <p:ph type="ftr" sz="quarter" idx="11"/>
          </p:nvPr>
        </p:nvSpPr>
        <p:spPr/>
        <p:txBody>
          <a:bodyPr/>
          <a:lstStyle/>
          <a:p>
            <a:r>
              <a:rPr lang="en-US"/>
              <a:t>PRO600 Publication Statement by Faculty</a:t>
            </a:r>
            <a:endParaRPr lang="en-IN"/>
          </a:p>
        </p:txBody>
      </p:sp>
      <p:sp>
        <p:nvSpPr>
          <p:cNvPr id="6" name="Slide Number Placeholder 5">
            <a:extLst>
              <a:ext uri="{FF2B5EF4-FFF2-40B4-BE49-F238E27FC236}">
                <a16:creationId xmlns:a16="http://schemas.microsoft.com/office/drawing/2014/main" id="{9A1F602F-1822-2C6B-DC42-D0EF4250282E}"/>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3446274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EA358-1AC7-608E-2ECA-3AB43D679357}"/>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81BDAAF4-5B08-6DDC-6F52-86C3A27AD5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525B4005-91B2-4F71-E08D-B213C68F2BA3}"/>
              </a:ext>
            </a:extLst>
          </p:cNvPr>
          <p:cNvSpPr>
            <a:spLocks noGrp="1"/>
          </p:cNvSpPr>
          <p:nvPr>
            <p:ph type="dt" sz="half" idx="10"/>
          </p:nvPr>
        </p:nvSpPr>
        <p:spPr/>
        <p:txBody>
          <a:bodyPr/>
          <a:lstStyle/>
          <a:p>
            <a:fld id="{396A8AA9-FB3E-458D-9DC6-7178AAC5CEF2}" type="datetime1">
              <a:rPr lang="en-IN" smtClean="0"/>
              <a:t>11-01-2026</a:t>
            </a:fld>
            <a:endParaRPr lang="en-IN"/>
          </a:p>
        </p:txBody>
      </p:sp>
      <p:sp>
        <p:nvSpPr>
          <p:cNvPr id="5" name="Footer Placeholder 4">
            <a:extLst>
              <a:ext uri="{FF2B5EF4-FFF2-40B4-BE49-F238E27FC236}">
                <a16:creationId xmlns:a16="http://schemas.microsoft.com/office/drawing/2014/main" id="{62BD1081-571D-0317-B903-38B8E2E9AB6A}"/>
              </a:ext>
            </a:extLst>
          </p:cNvPr>
          <p:cNvSpPr>
            <a:spLocks noGrp="1"/>
          </p:cNvSpPr>
          <p:nvPr>
            <p:ph type="ftr" sz="quarter" idx="11"/>
          </p:nvPr>
        </p:nvSpPr>
        <p:spPr/>
        <p:txBody>
          <a:bodyPr/>
          <a:lstStyle/>
          <a:p>
            <a:r>
              <a:rPr lang="en-US"/>
              <a:t>PRO600 Publication Statement by Faculty</a:t>
            </a:r>
            <a:endParaRPr lang="en-IN"/>
          </a:p>
        </p:txBody>
      </p:sp>
      <p:sp>
        <p:nvSpPr>
          <p:cNvPr id="6" name="Slide Number Placeholder 5">
            <a:extLst>
              <a:ext uri="{FF2B5EF4-FFF2-40B4-BE49-F238E27FC236}">
                <a16:creationId xmlns:a16="http://schemas.microsoft.com/office/drawing/2014/main" id="{5CABCDF0-D037-0DF4-5D28-3D7E0E96E831}"/>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2594501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90C3D-CF2E-6649-938A-BD463EAA0B6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6FC1405A-BD1E-F3F4-8C52-BDF4768631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4C456CB-85B8-A7A9-7765-E56FFE077398}"/>
              </a:ext>
            </a:extLst>
          </p:cNvPr>
          <p:cNvSpPr>
            <a:spLocks noGrp="1"/>
          </p:cNvSpPr>
          <p:nvPr>
            <p:ph type="dt" sz="half" idx="10"/>
          </p:nvPr>
        </p:nvSpPr>
        <p:spPr/>
        <p:txBody>
          <a:bodyPr/>
          <a:lstStyle/>
          <a:p>
            <a:fld id="{B1D1AB55-62F4-4794-93E9-A735827835E9}" type="datetime1">
              <a:rPr lang="en-IN" smtClean="0"/>
              <a:t>11-01-2026</a:t>
            </a:fld>
            <a:endParaRPr lang="en-IN"/>
          </a:p>
        </p:txBody>
      </p:sp>
      <p:sp>
        <p:nvSpPr>
          <p:cNvPr id="5" name="Footer Placeholder 4">
            <a:extLst>
              <a:ext uri="{FF2B5EF4-FFF2-40B4-BE49-F238E27FC236}">
                <a16:creationId xmlns:a16="http://schemas.microsoft.com/office/drawing/2014/main" id="{1E9D6D77-04C2-0203-1562-1F3E1320AA39}"/>
              </a:ext>
            </a:extLst>
          </p:cNvPr>
          <p:cNvSpPr>
            <a:spLocks noGrp="1"/>
          </p:cNvSpPr>
          <p:nvPr>
            <p:ph type="ftr" sz="quarter" idx="11"/>
          </p:nvPr>
        </p:nvSpPr>
        <p:spPr/>
        <p:txBody>
          <a:bodyPr/>
          <a:lstStyle/>
          <a:p>
            <a:r>
              <a:rPr lang="en-US"/>
              <a:t>PRO600 Publication Statement by Faculty</a:t>
            </a:r>
            <a:endParaRPr lang="en-IN"/>
          </a:p>
        </p:txBody>
      </p:sp>
      <p:sp>
        <p:nvSpPr>
          <p:cNvPr id="6" name="Slide Number Placeholder 5">
            <a:extLst>
              <a:ext uri="{FF2B5EF4-FFF2-40B4-BE49-F238E27FC236}">
                <a16:creationId xmlns:a16="http://schemas.microsoft.com/office/drawing/2014/main" id="{0E03CDBA-60C5-24E2-1275-C85E7833700E}"/>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423822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617F-0458-407A-BF6D-9956EF6A97F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E5437098-3BB1-867E-F39A-CD29AD921AB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6A6A1B23-7320-35B1-C5DE-00E93FC1696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BDAE9DDE-2AF8-A94D-D828-12CA66C95499}"/>
              </a:ext>
            </a:extLst>
          </p:cNvPr>
          <p:cNvSpPr>
            <a:spLocks noGrp="1"/>
          </p:cNvSpPr>
          <p:nvPr>
            <p:ph type="dt" sz="half" idx="10"/>
          </p:nvPr>
        </p:nvSpPr>
        <p:spPr/>
        <p:txBody>
          <a:bodyPr/>
          <a:lstStyle/>
          <a:p>
            <a:fld id="{F91F1478-631A-4D1E-BA32-CF97364CDD6B}" type="datetime1">
              <a:rPr lang="en-IN" smtClean="0"/>
              <a:t>11-01-2026</a:t>
            </a:fld>
            <a:endParaRPr lang="en-IN"/>
          </a:p>
        </p:txBody>
      </p:sp>
      <p:sp>
        <p:nvSpPr>
          <p:cNvPr id="6" name="Footer Placeholder 5">
            <a:extLst>
              <a:ext uri="{FF2B5EF4-FFF2-40B4-BE49-F238E27FC236}">
                <a16:creationId xmlns:a16="http://schemas.microsoft.com/office/drawing/2014/main" id="{F2E338C7-05B6-00D7-0A35-45F10CBB0193}"/>
              </a:ext>
            </a:extLst>
          </p:cNvPr>
          <p:cNvSpPr>
            <a:spLocks noGrp="1"/>
          </p:cNvSpPr>
          <p:nvPr>
            <p:ph type="ftr" sz="quarter" idx="11"/>
          </p:nvPr>
        </p:nvSpPr>
        <p:spPr/>
        <p:txBody>
          <a:bodyPr/>
          <a:lstStyle/>
          <a:p>
            <a:r>
              <a:rPr lang="en-US"/>
              <a:t>PRO600 Publication Statement by Faculty</a:t>
            </a:r>
            <a:endParaRPr lang="en-IN"/>
          </a:p>
        </p:txBody>
      </p:sp>
      <p:sp>
        <p:nvSpPr>
          <p:cNvPr id="7" name="Slide Number Placeholder 6">
            <a:extLst>
              <a:ext uri="{FF2B5EF4-FFF2-40B4-BE49-F238E27FC236}">
                <a16:creationId xmlns:a16="http://schemas.microsoft.com/office/drawing/2014/main" id="{F29E9A8E-48D3-5775-2B84-106DC272952F}"/>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2006281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FB9D6-5498-4A9E-F09C-E542CBB0E13C}"/>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05FA711E-5B1D-1E8D-C6C6-4D1CD1895F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B4F8236-00F0-DFA9-4FE1-0C28B234FD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FC9CD8F1-0891-7855-550E-7509E8206F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9188C44-421D-952D-04B4-D2F3A0E836D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64947150-200B-ABCF-70DB-5CBF59AA3A07}"/>
              </a:ext>
            </a:extLst>
          </p:cNvPr>
          <p:cNvSpPr>
            <a:spLocks noGrp="1"/>
          </p:cNvSpPr>
          <p:nvPr>
            <p:ph type="dt" sz="half" idx="10"/>
          </p:nvPr>
        </p:nvSpPr>
        <p:spPr/>
        <p:txBody>
          <a:bodyPr/>
          <a:lstStyle/>
          <a:p>
            <a:fld id="{84EADF9B-7642-414B-9C73-2CD5CC5F287B}" type="datetime1">
              <a:rPr lang="en-IN" smtClean="0"/>
              <a:t>11-01-2026</a:t>
            </a:fld>
            <a:endParaRPr lang="en-IN"/>
          </a:p>
        </p:txBody>
      </p:sp>
      <p:sp>
        <p:nvSpPr>
          <p:cNvPr id="8" name="Footer Placeholder 7">
            <a:extLst>
              <a:ext uri="{FF2B5EF4-FFF2-40B4-BE49-F238E27FC236}">
                <a16:creationId xmlns:a16="http://schemas.microsoft.com/office/drawing/2014/main" id="{E3E3B9EE-8DC1-EC2A-9190-E8B659CFB82F}"/>
              </a:ext>
            </a:extLst>
          </p:cNvPr>
          <p:cNvSpPr>
            <a:spLocks noGrp="1"/>
          </p:cNvSpPr>
          <p:nvPr>
            <p:ph type="ftr" sz="quarter" idx="11"/>
          </p:nvPr>
        </p:nvSpPr>
        <p:spPr/>
        <p:txBody>
          <a:bodyPr/>
          <a:lstStyle/>
          <a:p>
            <a:r>
              <a:rPr lang="en-US"/>
              <a:t>PRO600 Publication Statement by Faculty</a:t>
            </a:r>
            <a:endParaRPr lang="en-IN"/>
          </a:p>
        </p:txBody>
      </p:sp>
      <p:sp>
        <p:nvSpPr>
          <p:cNvPr id="9" name="Slide Number Placeholder 8">
            <a:extLst>
              <a:ext uri="{FF2B5EF4-FFF2-40B4-BE49-F238E27FC236}">
                <a16:creationId xmlns:a16="http://schemas.microsoft.com/office/drawing/2014/main" id="{49C759FF-ED87-B891-7C57-8245492B11D6}"/>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188972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1E070-FCBA-5349-F9A8-657BABA7BAE1}"/>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63173C7F-0600-BBE4-C77D-9D34B6EC74E5}"/>
              </a:ext>
            </a:extLst>
          </p:cNvPr>
          <p:cNvSpPr>
            <a:spLocks noGrp="1"/>
          </p:cNvSpPr>
          <p:nvPr>
            <p:ph type="dt" sz="half" idx="10"/>
          </p:nvPr>
        </p:nvSpPr>
        <p:spPr/>
        <p:txBody>
          <a:bodyPr/>
          <a:lstStyle/>
          <a:p>
            <a:fld id="{92DE7436-DB98-4CCB-BC37-17E070C4DBF1}" type="datetime1">
              <a:rPr lang="en-IN" smtClean="0"/>
              <a:t>11-01-2026</a:t>
            </a:fld>
            <a:endParaRPr lang="en-IN"/>
          </a:p>
        </p:txBody>
      </p:sp>
      <p:sp>
        <p:nvSpPr>
          <p:cNvPr id="4" name="Footer Placeholder 3">
            <a:extLst>
              <a:ext uri="{FF2B5EF4-FFF2-40B4-BE49-F238E27FC236}">
                <a16:creationId xmlns:a16="http://schemas.microsoft.com/office/drawing/2014/main" id="{0F10E92E-2218-C465-F42D-D87A0DE6740A}"/>
              </a:ext>
            </a:extLst>
          </p:cNvPr>
          <p:cNvSpPr>
            <a:spLocks noGrp="1"/>
          </p:cNvSpPr>
          <p:nvPr>
            <p:ph type="ftr" sz="quarter" idx="11"/>
          </p:nvPr>
        </p:nvSpPr>
        <p:spPr/>
        <p:txBody>
          <a:bodyPr/>
          <a:lstStyle/>
          <a:p>
            <a:r>
              <a:rPr lang="en-US"/>
              <a:t>PRO600 Publication Statement by Faculty</a:t>
            </a:r>
            <a:endParaRPr lang="en-IN"/>
          </a:p>
        </p:txBody>
      </p:sp>
      <p:sp>
        <p:nvSpPr>
          <p:cNvPr id="5" name="Slide Number Placeholder 4">
            <a:extLst>
              <a:ext uri="{FF2B5EF4-FFF2-40B4-BE49-F238E27FC236}">
                <a16:creationId xmlns:a16="http://schemas.microsoft.com/office/drawing/2014/main" id="{5B6326FC-D14A-3F1D-CB44-D55E9CB14F78}"/>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2220631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446158-1CE0-915E-126D-39548C919072}"/>
              </a:ext>
            </a:extLst>
          </p:cNvPr>
          <p:cNvSpPr>
            <a:spLocks noGrp="1"/>
          </p:cNvSpPr>
          <p:nvPr>
            <p:ph type="dt" sz="half" idx="10"/>
          </p:nvPr>
        </p:nvSpPr>
        <p:spPr/>
        <p:txBody>
          <a:bodyPr/>
          <a:lstStyle/>
          <a:p>
            <a:fld id="{CC1DEBF8-F318-4F9B-994A-CA0C0906838E}" type="datetime1">
              <a:rPr lang="en-IN" smtClean="0"/>
              <a:t>11-01-2026</a:t>
            </a:fld>
            <a:endParaRPr lang="en-IN"/>
          </a:p>
        </p:txBody>
      </p:sp>
      <p:sp>
        <p:nvSpPr>
          <p:cNvPr id="3" name="Footer Placeholder 2">
            <a:extLst>
              <a:ext uri="{FF2B5EF4-FFF2-40B4-BE49-F238E27FC236}">
                <a16:creationId xmlns:a16="http://schemas.microsoft.com/office/drawing/2014/main" id="{EE811104-0713-D969-25FA-ED9181665EC7}"/>
              </a:ext>
            </a:extLst>
          </p:cNvPr>
          <p:cNvSpPr>
            <a:spLocks noGrp="1"/>
          </p:cNvSpPr>
          <p:nvPr>
            <p:ph type="ftr" sz="quarter" idx="11"/>
          </p:nvPr>
        </p:nvSpPr>
        <p:spPr/>
        <p:txBody>
          <a:bodyPr/>
          <a:lstStyle/>
          <a:p>
            <a:r>
              <a:rPr lang="en-US"/>
              <a:t>PRO600 Publication Statement by Faculty</a:t>
            </a:r>
            <a:endParaRPr lang="en-IN"/>
          </a:p>
        </p:txBody>
      </p:sp>
      <p:sp>
        <p:nvSpPr>
          <p:cNvPr id="4" name="Slide Number Placeholder 3">
            <a:extLst>
              <a:ext uri="{FF2B5EF4-FFF2-40B4-BE49-F238E27FC236}">
                <a16:creationId xmlns:a16="http://schemas.microsoft.com/office/drawing/2014/main" id="{CD00AAAB-DFC3-0433-A337-7DA84B65891D}"/>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403397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29D6B-0183-8616-8353-FBF0C1EBE0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7BF1CFE-B633-8FBC-102A-5DD3E30A60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9098D123-1362-368C-2AFF-E3EB8FAF1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1F22BB-A5EB-8E9E-CA2C-7B7BB0022D98}"/>
              </a:ext>
            </a:extLst>
          </p:cNvPr>
          <p:cNvSpPr>
            <a:spLocks noGrp="1"/>
          </p:cNvSpPr>
          <p:nvPr>
            <p:ph type="dt" sz="half" idx="10"/>
          </p:nvPr>
        </p:nvSpPr>
        <p:spPr/>
        <p:txBody>
          <a:bodyPr/>
          <a:lstStyle/>
          <a:p>
            <a:fld id="{E4431663-B934-4EE1-A80E-0DF0AB5B8955}" type="datetime1">
              <a:rPr lang="en-IN" smtClean="0"/>
              <a:t>11-01-2026</a:t>
            </a:fld>
            <a:endParaRPr lang="en-IN"/>
          </a:p>
        </p:txBody>
      </p:sp>
      <p:sp>
        <p:nvSpPr>
          <p:cNvPr id="6" name="Footer Placeholder 5">
            <a:extLst>
              <a:ext uri="{FF2B5EF4-FFF2-40B4-BE49-F238E27FC236}">
                <a16:creationId xmlns:a16="http://schemas.microsoft.com/office/drawing/2014/main" id="{0D944739-F356-354C-BA70-6FCF3C49F5E6}"/>
              </a:ext>
            </a:extLst>
          </p:cNvPr>
          <p:cNvSpPr>
            <a:spLocks noGrp="1"/>
          </p:cNvSpPr>
          <p:nvPr>
            <p:ph type="ftr" sz="quarter" idx="11"/>
          </p:nvPr>
        </p:nvSpPr>
        <p:spPr/>
        <p:txBody>
          <a:bodyPr/>
          <a:lstStyle/>
          <a:p>
            <a:r>
              <a:rPr lang="en-US"/>
              <a:t>PRO600 Publication Statement by Faculty</a:t>
            </a:r>
            <a:endParaRPr lang="en-IN"/>
          </a:p>
        </p:txBody>
      </p:sp>
      <p:sp>
        <p:nvSpPr>
          <p:cNvPr id="7" name="Slide Number Placeholder 6">
            <a:extLst>
              <a:ext uri="{FF2B5EF4-FFF2-40B4-BE49-F238E27FC236}">
                <a16:creationId xmlns:a16="http://schemas.microsoft.com/office/drawing/2014/main" id="{DE292414-5016-AAB7-EEB2-50C94F5DB53E}"/>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48125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CE87D-7608-926C-9491-0E012DF69E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EDF17832-6FB1-BAC4-9A4A-A7CAC762A1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BF9A2D-732C-FB42-E65B-793D57495F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56D7CD-98B5-900B-883D-423B52D7BCB7}"/>
              </a:ext>
            </a:extLst>
          </p:cNvPr>
          <p:cNvSpPr>
            <a:spLocks noGrp="1"/>
          </p:cNvSpPr>
          <p:nvPr>
            <p:ph type="dt" sz="half" idx="10"/>
          </p:nvPr>
        </p:nvSpPr>
        <p:spPr/>
        <p:txBody>
          <a:bodyPr/>
          <a:lstStyle/>
          <a:p>
            <a:fld id="{F95FCAE2-B1DB-495A-B8BF-F4B7DC00D747}" type="datetime1">
              <a:rPr lang="en-IN" smtClean="0"/>
              <a:t>11-01-2026</a:t>
            </a:fld>
            <a:endParaRPr lang="en-IN"/>
          </a:p>
        </p:txBody>
      </p:sp>
      <p:sp>
        <p:nvSpPr>
          <p:cNvPr id="6" name="Footer Placeholder 5">
            <a:extLst>
              <a:ext uri="{FF2B5EF4-FFF2-40B4-BE49-F238E27FC236}">
                <a16:creationId xmlns:a16="http://schemas.microsoft.com/office/drawing/2014/main" id="{98611DFD-D8D2-3797-7A90-6EA80A299C4A}"/>
              </a:ext>
            </a:extLst>
          </p:cNvPr>
          <p:cNvSpPr>
            <a:spLocks noGrp="1"/>
          </p:cNvSpPr>
          <p:nvPr>
            <p:ph type="ftr" sz="quarter" idx="11"/>
          </p:nvPr>
        </p:nvSpPr>
        <p:spPr/>
        <p:txBody>
          <a:bodyPr/>
          <a:lstStyle/>
          <a:p>
            <a:r>
              <a:rPr lang="en-US"/>
              <a:t>PRO600 Publication Statement by Faculty</a:t>
            </a:r>
            <a:endParaRPr lang="en-IN"/>
          </a:p>
        </p:txBody>
      </p:sp>
      <p:sp>
        <p:nvSpPr>
          <p:cNvPr id="7" name="Slide Number Placeholder 6">
            <a:extLst>
              <a:ext uri="{FF2B5EF4-FFF2-40B4-BE49-F238E27FC236}">
                <a16:creationId xmlns:a16="http://schemas.microsoft.com/office/drawing/2014/main" id="{C773927D-46F7-71F4-8EA0-239F104B61C1}"/>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3367009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7B555-586A-9666-D2CF-898A927A6838}"/>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E605CD0-69BE-80DD-1365-A9DF1294B7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9388CE91-74E3-76AE-F221-F21151786F69}"/>
              </a:ext>
            </a:extLst>
          </p:cNvPr>
          <p:cNvSpPr>
            <a:spLocks noGrp="1"/>
          </p:cNvSpPr>
          <p:nvPr>
            <p:ph type="dt" sz="half" idx="10"/>
          </p:nvPr>
        </p:nvSpPr>
        <p:spPr/>
        <p:txBody>
          <a:bodyPr/>
          <a:lstStyle/>
          <a:p>
            <a:fld id="{05E4024B-C304-4FAC-82EF-E87F4AF2FC72}" type="datetime1">
              <a:rPr lang="en-IN" smtClean="0"/>
              <a:t>11-01-2026</a:t>
            </a:fld>
            <a:endParaRPr lang="en-IN"/>
          </a:p>
        </p:txBody>
      </p:sp>
      <p:sp>
        <p:nvSpPr>
          <p:cNvPr id="5" name="Footer Placeholder 4">
            <a:extLst>
              <a:ext uri="{FF2B5EF4-FFF2-40B4-BE49-F238E27FC236}">
                <a16:creationId xmlns:a16="http://schemas.microsoft.com/office/drawing/2014/main" id="{2D92CABB-E336-9290-E659-2FD245A472C7}"/>
              </a:ext>
            </a:extLst>
          </p:cNvPr>
          <p:cNvSpPr>
            <a:spLocks noGrp="1"/>
          </p:cNvSpPr>
          <p:nvPr>
            <p:ph type="ftr" sz="quarter" idx="11"/>
          </p:nvPr>
        </p:nvSpPr>
        <p:spPr/>
        <p:txBody>
          <a:bodyPr/>
          <a:lstStyle/>
          <a:p>
            <a:r>
              <a:rPr lang="en-US"/>
              <a:t>PRO600 Publication Statement by Faculty</a:t>
            </a:r>
            <a:endParaRPr lang="en-IN"/>
          </a:p>
        </p:txBody>
      </p:sp>
      <p:sp>
        <p:nvSpPr>
          <p:cNvPr id="6" name="Slide Number Placeholder 5">
            <a:extLst>
              <a:ext uri="{FF2B5EF4-FFF2-40B4-BE49-F238E27FC236}">
                <a16:creationId xmlns:a16="http://schemas.microsoft.com/office/drawing/2014/main" id="{B2097403-6E5A-BFFB-B0E5-DFD17387609E}"/>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851742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436C4B-3F37-9E85-BEF1-8F9D73BD5CE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22E1B131-FA32-7496-D713-3B7CDC19CA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8F23C57-7A73-BEB3-B2D3-6CCE6180FAEC}"/>
              </a:ext>
            </a:extLst>
          </p:cNvPr>
          <p:cNvSpPr>
            <a:spLocks noGrp="1"/>
          </p:cNvSpPr>
          <p:nvPr>
            <p:ph type="dt" sz="half" idx="10"/>
          </p:nvPr>
        </p:nvSpPr>
        <p:spPr/>
        <p:txBody>
          <a:bodyPr/>
          <a:lstStyle/>
          <a:p>
            <a:fld id="{EF7AB23E-74A5-49DE-9746-66DD5D7B65B1}" type="datetime1">
              <a:rPr lang="en-IN" smtClean="0"/>
              <a:t>11-01-2026</a:t>
            </a:fld>
            <a:endParaRPr lang="en-IN"/>
          </a:p>
        </p:txBody>
      </p:sp>
      <p:sp>
        <p:nvSpPr>
          <p:cNvPr id="5" name="Footer Placeholder 4">
            <a:extLst>
              <a:ext uri="{FF2B5EF4-FFF2-40B4-BE49-F238E27FC236}">
                <a16:creationId xmlns:a16="http://schemas.microsoft.com/office/drawing/2014/main" id="{8F2EDDA6-6699-68BF-1B50-A5D124FAC33D}"/>
              </a:ext>
            </a:extLst>
          </p:cNvPr>
          <p:cNvSpPr>
            <a:spLocks noGrp="1"/>
          </p:cNvSpPr>
          <p:nvPr>
            <p:ph type="ftr" sz="quarter" idx="11"/>
          </p:nvPr>
        </p:nvSpPr>
        <p:spPr/>
        <p:txBody>
          <a:bodyPr/>
          <a:lstStyle/>
          <a:p>
            <a:r>
              <a:rPr lang="en-US"/>
              <a:t>PRO600 Publication Statement by Faculty</a:t>
            </a:r>
            <a:endParaRPr lang="en-IN"/>
          </a:p>
        </p:txBody>
      </p:sp>
      <p:sp>
        <p:nvSpPr>
          <p:cNvPr id="6" name="Slide Number Placeholder 5">
            <a:extLst>
              <a:ext uri="{FF2B5EF4-FFF2-40B4-BE49-F238E27FC236}">
                <a16:creationId xmlns:a16="http://schemas.microsoft.com/office/drawing/2014/main" id="{A29BD78D-81E8-1ADF-AFA5-1344F9ECBDDE}"/>
              </a:ext>
            </a:extLst>
          </p:cNvPr>
          <p:cNvSpPr>
            <a:spLocks noGrp="1"/>
          </p:cNvSpPr>
          <p:nvPr>
            <p:ph type="sldNum" sz="quarter" idx="12"/>
          </p:nvPr>
        </p:nvSpPr>
        <p:spPr/>
        <p:txBody>
          <a:bodyPr/>
          <a:lstStyle/>
          <a:p>
            <a:fld id="{3DFBE027-ABE7-4B73-B6B0-D2FADCEBDB33}" type="slidenum">
              <a:rPr lang="en-IN" smtClean="0"/>
              <a:t>‹#›</a:t>
            </a:fld>
            <a:endParaRPr lang="en-IN"/>
          </a:p>
        </p:txBody>
      </p:sp>
    </p:spTree>
    <p:extLst>
      <p:ext uri="{BB962C8B-B14F-4D97-AF65-F5344CB8AC3E}">
        <p14:creationId xmlns:p14="http://schemas.microsoft.com/office/powerpoint/2010/main" val="1300127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E738C-282D-17C4-FDD0-E66B7C41F5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B5BCB52D-7F62-4CF2-430E-EEEB61E947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C614D893-9BD9-E35C-65B8-CE63C507AF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BD2530-6807-42C7-971E-9B2F8FB777DB}" type="datetime1">
              <a:rPr lang="en-IN" smtClean="0"/>
              <a:t>11-01-2026</a:t>
            </a:fld>
            <a:endParaRPr lang="en-IN"/>
          </a:p>
        </p:txBody>
      </p:sp>
      <p:sp>
        <p:nvSpPr>
          <p:cNvPr id="5" name="Footer Placeholder 4">
            <a:extLst>
              <a:ext uri="{FF2B5EF4-FFF2-40B4-BE49-F238E27FC236}">
                <a16:creationId xmlns:a16="http://schemas.microsoft.com/office/drawing/2014/main" id="{5547F7B7-58E7-4350-2261-85719038A1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PRO600 Publication Statement by Faculty</a:t>
            </a:r>
            <a:endParaRPr lang="en-IN"/>
          </a:p>
        </p:txBody>
      </p:sp>
      <p:sp>
        <p:nvSpPr>
          <p:cNvPr id="6" name="Slide Number Placeholder 5">
            <a:extLst>
              <a:ext uri="{FF2B5EF4-FFF2-40B4-BE49-F238E27FC236}">
                <a16:creationId xmlns:a16="http://schemas.microsoft.com/office/drawing/2014/main" id="{F8AA495C-165E-832C-7296-C4458C52A5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BE027-ABE7-4B73-B6B0-D2FADCEBDB33}" type="slidenum">
              <a:rPr lang="en-IN" smtClean="0"/>
              <a:t>‹#›</a:t>
            </a:fld>
            <a:endParaRPr lang="en-IN"/>
          </a:p>
        </p:txBody>
      </p:sp>
    </p:spTree>
    <p:extLst>
      <p:ext uri="{BB962C8B-B14F-4D97-AF65-F5344CB8AC3E}">
        <p14:creationId xmlns:p14="http://schemas.microsoft.com/office/powerpoint/2010/main" val="3977224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39" Type="http://schemas.openxmlformats.org/officeDocument/2006/relationships/image" Target="../media/image54.png"/><Relationship Id="rId21" Type="http://schemas.openxmlformats.org/officeDocument/2006/relationships/image" Target="../media/image36.png"/><Relationship Id="rId34" Type="http://schemas.openxmlformats.org/officeDocument/2006/relationships/image" Target="../media/image49.png"/><Relationship Id="rId42" Type="http://schemas.openxmlformats.org/officeDocument/2006/relationships/image" Target="../media/image57.png"/><Relationship Id="rId7" Type="http://schemas.openxmlformats.org/officeDocument/2006/relationships/image" Target="../media/image22.png"/><Relationship Id="rId2" Type="http://schemas.openxmlformats.org/officeDocument/2006/relationships/image" Target="../media/image17.png"/><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44.png"/><Relationship Id="rId41"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9.png"/><Relationship Id="rId32" Type="http://schemas.openxmlformats.org/officeDocument/2006/relationships/image" Target="../media/image47.png"/><Relationship Id="rId37" Type="http://schemas.openxmlformats.org/officeDocument/2006/relationships/image" Target="../media/image52.png"/><Relationship Id="rId40" Type="http://schemas.openxmlformats.org/officeDocument/2006/relationships/image" Target="../media/image55.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36" Type="http://schemas.openxmlformats.org/officeDocument/2006/relationships/image" Target="../media/image51.png"/><Relationship Id="rId10" Type="http://schemas.openxmlformats.org/officeDocument/2006/relationships/image" Target="../media/image25.png"/><Relationship Id="rId19" Type="http://schemas.openxmlformats.org/officeDocument/2006/relationships/image" Target="../media/image34.png"/><Relationship Id="rId31" Type="http://schemas.openxmlformats.org/officeDocument/2006/relationships/image" Target="../media/image46.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 Id="rId27" Type="http://schemas.openxmlformats.org/officeDocument/2006/relationships/image" Target="../media/image42.png"/><Relationship Id="rId30" Type="http://schemas.openxmlformats.org/officeDocument/2006/relationships/image" Target="../media/image45.png"/><Relationship Id="rId35" Type="http://schemas.openxmlformats.org/officeDocument/2006/relationships/image" Target="../media/image50.png"/><Relationship Id="rId8" Type="http://schemas.openxmlformats.org/officeDocument/2006/relationships/image" Target="../media/image23.png"/><Relationship Id="rId3" Type="http://schemas.openxmlformats.org/officeDocument/2006/relationships/image" Target="../media/image18.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33" Type="http://schemas.openxmlformats.org/officeDocument/2006/relationships/image" Target="../media/image48.png"/><Relationship Id="rId38" Type="http://schemas.openxmlformats.org/officeDocument/2006/relationships/image" Target="../media/image5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a:extLst>
              <a:ext uri="{FF2B5EF4-FFF2-40B4-BE49-F238E27FC236}">
                <a16:creationId xmlns:a16="http://schemas.microsoft.com/office/drawing/2014/main" id="{14093EF8-D6CD-75B8-94B7-7AD093136ECE}"/>
              </a:ext>
            </a:extLst>
          </p:cNvPr>
          <p:cNvPicPr/>
          <p:nvPr/>
        </p:nvPicPr>
        <p:blipFill>
          <a:blip r:embed="rId2" cstate="print"/>
          <a:stretch>
            <a:fillRect/>
          </a:stretch>
        </p:blipFill>
        <p:spPr>
          <a:xfrm rot="5400000">
            <a:off x="5488846" y="-3438584"/>
            <a:ext cx="1287779" cy="9002267"/>
          </a:xfrm>
          <a:prstGeom prst="rect">
            <a:avLst/>
          </a:prstGeom>
        </p:spPr>
      </p:pic>
      <p:sp>
        <p:nvSpPr>
          <p:cNvPr id="4" name="object 4">
            <a:extLst>
              <a:ext uri="{FF2B5EF4-FFF2-40B4-BE49-F238E27FC236}">
                <a16:creationId xmlns:a16="http://schemas.microsoft.com/office/drawing/2014/main" id="{A29CD5A7-2504-E152-BCF2-2A1CFBC5722D}"/>
              </a:ext>
            </a:extLst>
          </p:cNvPr>
          <p:cNvSpPr/>
          <p:nvPr/>
        </p:nvSpPr>
        <p:spPr>
          <a:xfrm rot="16200000">
            <a:off x="6095591" y="2851522"/>
            <a:ext cx="45719" cy="2516505"/>
          </a:xfrm>
          <a:custGeom>
            <a:avLst/>
            <a:gdLst/>
            <a:ahLst/>
            <a:cxnLst/>
            <a:rect l="l" t="t" r="r" b="b"/>
            <a:pathLst>
              <a:path w="15239" h="2516504">
                <a:moveTo>
                  <a:pt x="15240" y="128028"/>
                </a:moveTo>
                <a:lnTo>
                  <a:pt x="13716" y="126504"/>
                </a:lnTo>
                <a:lnTo>
                  <a:pt x="1524" y="126504"/>
                </a:lnTo>
                <a:lnTo>
                  <a:pt x="0" y="128028"/>
                </a:lnTo>
                <a:lnTo>
                  <a:pt x="0" y="249948"/>
                </a:lnTo>
                <a:lnTo>
                  <a:pt x="1524" y="251472"/>
                </a:lnTo>
                <a:lnTo>
                  <a:pt x="3048" y="251472"/>
                </a:lnTo>
                <a:lnTo>
                  <a:pt x="1524" y="252996"/>
                </a:lnTo>
                <a:lnTo>
                  <a:pt x="0" y="252996"/>
                </a:lnTo>
                <a:lnTo>
                  <a:pt x="0" y="376440"/>
                </a:lnTo>
                <a:lnTo>
                  <a:pt x="1524" y="376440"/>
                </a:lnTo>
                <a:lnTo>
                  <a:pt x="3048" y="377964"/>
                </a:lnTo>
                <a:lnTo>
                  <a:pt x="1524" y="377964"/>
                </a:lnTo>
                <a:lnTo>
                  <a:pt x="0" y="379488"/>
                </a:lnTo>
                <a:lnTo>
                  <a:pt x="0" y="501408"/>
                </a:lnTo>
                <a:lnTo>
                  <a:pt x="1524" y="502932"/>
                </a:lnTo>
                <a:lnTo>
                  <a:pt x="3048" y="502932"/>
                </a:lnTo>
                <a:lnTo>
                  <a:pt x="1524" y="504456"/>
                </a:lnTo>
                <a:lnTo>
                  <a:pt x="0" y="504456"/>
                </a:lnTo>
                <a:lnTo>
                  <a:pt x="0" y="627900"/>
                </a:lnTo>
                <a:lnTo>
                  <a:pt x="1524" y="627900"/>
                </a:lnTo>
                <a:lnTo>
                  <a:pt x="3048" y="629424"/>
                </a:lnTo>
                <a:lnTo>
                  <a:pt x="1524" y="629424"/>
                </a:lnTo>
                <a:lnTo>
                  <a:pt x="0" y="630948"/>
                </a:lnTo>
                <a:lnTo>
                  <a:pt x="0" y="752868"/>
                </a:lnTo>
                <a:lnTo>
                  <a:pt x="1524" y="754392"/>
                </a:lnTo>
                <a:lnTo>
                  <a:pt x="3035" y="754392"/>
                </a:lnTo>
                <a:lnTo>
                  <a:pt x="1524" y="755904"/>
                </a:lnTo>
                <a:lnTo>
                  <a:pt x="0" y="755904"/>
                </a:lnTo>
                <a:lnTo>
                  <a:pt x="0" y="879348"/>
                </a:lnTo>
                <a:lnTo>
                  <a:pt x="1524" y="879348"/>
                </a:lnTo>
                <a:lnTo>
                  <a:pt x="3048" y="880872"/>
                </a:lnTo>
                <a:lnTo>
                  <a:pt x="1524" y="880872"/>
                </a:lnTo>
                <a:lnTo>
                  <a:pt x="0" y="882396"/>
                </a:lnTo>
                <a:lnTo>
                  <a:pt x="0" y="1004316"/>
                </a:lnTo>
                <a:lnTo>
                  <a:pt x="1524" y="1005840"/>
                </a:lnTo>
                <a:lnTo>
                  <a:pt x="3048" y="1005840"/>
                </a:lnTo>
                <a:lnTo>
                  <a:pt x="1524" y="1007364"/>
                </a:lnTo>
                <a:lnTo>
                  <a:pt x="0" y="1007364"/>
                </a:lnTo>
                <a:lnTo>
                  <a:pt x="0" y="1130808"/>
                </a:lnTo>
                <a:lnTo>
                  <a:pt x="1524" y="1130808"/>
                </a:lnTo>
                <a:lnTo>
                  <a:pt x="3048" y="1132332"/>
                </a:lnTo>
                <a:lnTo>
                  <a:pt x="1524" y="1132332"/>
                </a:lnTo>
                <a:lnTo>
                  <a:pt x="0" y="1133856"/>
                </a:lnTo>
                <a:lnTo>
                  <a:pt x="0" y="1255776"/>
                </a:lnTo>
                <a:lnTo>
                  <a:pt x="1524" y="1257300"/>
                </a:lnTo>
                <a:lnTo>
                  <a:pt x="3048" y="1257300"/>
                </a:lnTo>
                <a:lnTo>
                  <a:pt x="1524" y="1258824"/>
                </a:lnTo>
                <a:lnTo>
                  <a:pt x="0" y="1258824"/>
                </a:lnTo>
                <a:lnTo>
                  <a:pt x="0" y="1382268"/>
                </a:lnTo>
                <a:lnTo>
                  <a:pt x="1524" y="1382268"/>
                </a:lnTo>
                <a:lnTo>
                  <a:pt x="3048" y="1383792"/>
                </a:lnTo>
                <a:lnTo>
                  <a:pt x="1524" y="1383792"/>
                </a:lnTo>
                <a:lnTo>
                  <a:pt x="0" y="1385316"/>
                </a:lnTo>
                <a:lnTo>
                  <a:pt x="0" y="1507236"/>
                </a:lnTo>
                <a:lnTo>
                  <a:pt x="1524" y="1508760"/>
                </a:lnTo>
                <a:lnTo>
                  <a:pt x="3048" y="1508760"/>
                </a:lnTo>
                <a:lnTo>
                  <a:pt x="1524" y="1510296"/>
                </a:lnTo>
                <a:lnTo>
                  <a:pt x="0" y="1510296"/>
                </a:lnTo>
                <a:lnTo>
                  <a:pt x="0" y="1633740"/>
                </a:lnTo>
                <a:lnTo>
                  <a:pt x="1524" y="1633740"/>
                </a:lnTo>
                <a:lnTo>
                  <a:pt x="3048" y="1635264"/>
                </a:lnTo>
                <a:lnTo>
                  <a:pt x="1524" y="1635264"/>
                </a:lnTo>
                <a:lnTo>
                  <a:pt x="0" y="1636788"/>
                </a:lnTo>
                <a:lnTo>
                  <a:pt x="0" y="1758708"/>
                </a:lnTo>
                <a:lnTo>
                  <a:pt x="1524" y="1760232"/>
                </a:lnTo>
                <a:lnTo>
                  <a:pt x="3035" y="1760232"/>
                </a:lnTo>
                <a:lnTo>
                  <a:pt x="1524" y="1761744"/>
                </a:lnTo>
                <a:lnTo>
                  <a:pt x="0" y="1761744"/>
                </a:lnTo>
                <a:lnTo>
                  <a:pt x="0" y="1885188"/>
                </a:lnTo>
                <a:lnTo>
                  <a:pt x="1524" y="1885188"/>
                </a:lnTo>
                <a:lnTo>
                  <a:pt x="3048" y="1886712"/>
                </a:lnTo>
                <a:lnTo>
                  <a:pt x="1524" y="1886712"/>
                </a:lnTo>
                <a:lnTo>
                  <a:pt x="0" y="1888236"/>
                </a:lnTo>
                <a:lnTo>
                  <a:pt x="0" y="2010156"/>
                </a:lnTo>
                <a:lnTo>
                  <a:pt x="1524" y="2011680"/>
                </a:lnTo>
                <a:lnTo>
                  <a:pt x="3048" y="2011680"/>
                </a:lnTo>
                <a:lnTo>
                  <a:pt x="1524" y="2013204"/>
                </a:lnTo>
                <a:lnTo>
                  <a:pt x="0" y="2013204"/>
                </a:lnTo>
                <a:lnTo>
                  <a:pt x="0" y="2136648"/>
                </a:lnTo>
                <a:lnTo>
                  <a:pt x="1524" y="2136648"/>
                </a:lnTo>
                <a:lnTo>
                  <a:pt x="3048" y="2138172"/>
                </a:lnTo>
                <a:lnTo>
                  <a:pt x="1524" y="2138172"/>
                </a:lnTo>
                <a:lnTo>
                  <a:pt x="0" y="2139696"/>
                </a:lnTo>
                <a:lnTo>
                  <a:pt x="0" y="2261616"/>
                </a:lnTo>
                <a:lnTo>
                  <a:pt x="1524" y="2263140"/>
                </a:lnTo>
                <a:lnTo>
                  <a:pt x="3048" y="2263140"/>
                </a:lnTo>
                <a:lnTo>
                  <a:pt x="1524" y="2264676"/>
                </a:lnTo>
                <a:lnTo>
                  <a:pt x="0" y="2264676"/>
                </a:lnTo>
                <a:lnTo>
                  <a:pt x="0" y="2388120"/>
                </a:lnTo>
                <a:lnTo>
                  <a:pt x="1524" y="2388120"/>
                </a:lnTo>
                <a:lnTo>
                  <a:pt x="3048" y="2389644"/>
                </a:lnTo>
                <a:lnTo>
                  <a:pt x="1524" y="2389644"/>
                </a:lnTo>
                <a:lnTo>
                  <a:pt x="0" y="2391168"/>
                </a:lnTo>
                <a:lnTo>
                  <a:pt x="0" y="2513088"/>
                </a:lnTo>
                <a:lnTo>
                  <a:pt x="1524" y="2514612"/>
                </a:lnTo>
                <a:lnTo>
                  <a:pt x="3048" y="2514612"/>
                </a:lnTo>
                <a:lnTo>
                  <a:pt x="4572" y="2516136"/>
                </a:lnTo>
                <a:lnTo>
                  <a:pt x="10668" y="2516136"/>
                </a:lnTo>
                <a:lnTo>
                  <a:pt x="12192" y="2514612"/>
                </a:lnTo>
                <a:lnTo>
                  <a:pt x="13716" y="2514612"/>
                </a:lnTo>
                <a:lnTo>
                  <a:pt x="15240" y="2513088"/>
                </a:lnTo>
                <a:lnTo>
                  <a:pt x="15240" y="2391168"/>
                </a:lnTo>
                <a:lnTo>
                  <a:pt x="13716" y="2389644"/>
                </a:lnTo>
                <a:lnTo>
                  <a:pt x="12192" y="2389644"/>
                </a:lnTo>
                <a:lnTo>
                  <a:pt x="13716" y="2388120"/>
                </a:lnTo>
                <a:lnTo>
                  <a:pt x="15240" y="2388120"/>
                </a:lnTo>
                <a:lnTo>
                  <a:pt x="15240" y="2264676"/>
                </a:lnTo>
                <a:lnTo>
                  <a:pt x="13716" y="2264676"/>
                </a:lnTo>
                <a:lnTo>
                  <a:pt x="12192" y="2263152"/>
                </a:lnTo>
                <a:lnTo>
                  <a:pt x="13716" y="2263140"/>
                </a:lnTo>
                <a:lnTo>
                  <a:pt x="15240" y="2261616"/>
                </a:lnTo>
                <a:lnTo>
                  <a:pt x="15240" y="2139696"/>
                </a:lnTo>
                <a:lnTo>
                  <a:pt x="13716" y="2138172"/>
                </a:lnTo>
                <a:lnTo>
                  <a:pt x="12192" y="2138172"/>
                </a:lnTo>
                <a:lnTo>
                  <a:pt x="13716" y="2136648"/>
                </a:lnTo>
                <a:lnTo>
                  <a:pt x="15240" y="2136648"/>
                </a:lnTo>
                <a:lnTo>
                  <a:pt x="15240" y="2013204"/>
                </a:lnTo>
                <a:lnTo>
                  <a:pt x="13716" y="2013204"/>
                </a:lnTo>
                <a:lnTo>
                  <a:pt x="12192" y="2011680"/>
                </a:lnTo>
                <a:lnTo>
                  <a:pt x="13716" y="2011680"/>
                </a:lnTo>
                <a:lnTo>
                  <a:pt x="15240" y="2010156"/>
                </a:lnTo>
                <a:lnTo>
                  <a:pt x="15240" y="1888236"/>
                </a:lnTo>
                <a:lnTo>
                  <a:pt x="13716" y="1886712"/>
                </a:lnTo>
                <a:lnTo>
                  <a:pt x="12192" y="1886712"/>
                </a:lnTo>
                <a:lnTo>
                  <a:pt x="13716" y="1885188"/>
                </a:lnTo>
                <a:lnTo>
                  <a:pt x="15240" y="1885188"/>
                </a:lnTo>
                <a:lnTo>
                  <a:pt x="15240" y="1761744"/>
                </a:lnTo>
                <a:lnTo>
                  <a:pt x="13716" y="1761744"/>
                </a:lnTo>
                <a:lnTo>
                  <a:pt x="12204" y="1760232"/>
                </a:lnTo>
                <a:lnTo>
                  <a:pt x="13716" y="1760232"/>
                </a:lnTo>
                <a:lnTo>
                  <a:pt x="15240" y="1758708"/>
                </a:lnTo>
                <a:lnTo>
                  <a:pt x="15240" y="1636788"/>
                </a:lnTo>
                <a:lnTo>
                  <a:pt x="13716" y="1635264"/>
                </a:lnTo>
                <a:lnTo>
                  <a:pt x="12192" y="1635264"/>
                </a:lnTo>
                <a:lnTo>
                  <a:pt x="13716" y="1633740"/>
                </a:lnTo>
                <a:lnTo>
                  <a:pt x="15240" y="1633740"/>
                </a:lnTo>
                <a:lnTo>
                  <a:pt x="15240" y="1510296"/>
                </a:lnTo>
                <a:lnTo>
                  <a:pt x="13716" y="1510296"/>
                </a:lnTo>
                <a:lnTo>
                  <a:pt x="12192" y="1508772"/>
                </a:lnTo>
                <a:lnTo>
                  <a:pt x="13716" y="1508760"/>
                </a:lnTo>
                <a:lnTo>
                  <a:pt x="15240" y="1507236"/>
                </a:lnTo>
                <a:lnTo>
                  <a:pt x="15240" y="1385316"/>
                </a:lnTo>
                <a:lnTo>
                  <a:pt x="13716" y="1383792"/>
                </a:lnTo>
                <a:lnTo>
                  <a:pt x="12192" y="1383792"/>
                </a:lnTo>
                <a:lnTo>
                  <a:pt x="13716" y="1382268"/>
                </a:lnTo>
                <a:lnTo>
                  <a:pt x="15240" y="1382268"/>
                </a:lnTo>
                <a:lnTo>
                  <a:pt x="15240" y="1258824"/>
                </a:lnTo>
                <a:lnTo>
                  <a:pt x="13716" y="1258824"/>
                </a:lnTo>
                <a:lnTo>
                  <a:pt x="12192" y="1257300"/>
                </a:lnTo>
                <a:lnTo>
                  <a:pt x="13716" y="1257300"/>
                </a:lnTo>
                <a:lnTo>
                  <a:pt x="15240" y="1255776"/>
                </a:lnTo>
                <a:lnTo>
                  <a:pt x="15240" y="1133856"/>
                </a:lnTo>
                <a:lnTo>
                  <a:pt x="13716" y="1132332"/>
                </a:lnTo>
                <a:lnTo>
                  <a:pt x="12192" y="1132332"/>
                </a:lnTo>
                <a:lnTo>
                  <a:pt x="13716" y="1130808"/>
                </a:lnTo>
                <a:lnTo>
                  <a:pt x="15240" y="1130808"/>
                </a:lnTo>
                <a:lnTo>
                  <a:pt x="15240" y="1007364"/>
                </a:lnTo>
                <a:lnTo>
                  <a:pt x="13716" y="1007364"/>
                </a:lnTo>
                <a:lnTo>
                  <a:pt x="12192" y="1005840"/>
                </a:lnTo>
                <a:lnTo>
                  <a:pt x="13716" y="1005840"/>
                </a:lnTo>
                <a:lnTo>
                  <a:pt x="15240" y="1004316"/>
                </a:lnTo>
                <a:lnTo>
                  <a:pt x="15240" y="882396"/>
                </a:lnTo>
                <a:lnTo>
                  <a:pt x="13716" y="880872"/>
                </a:lnTo>
                <a:lnTo>
                  <a:pt x="12192" y="880872"/>
                </a:lnTo>
                <a:lnTo>
                  <a:pt x="13716" y="879348"/>
                </a:lnTo>
                <a:lnTo>
                  <a:pt x="15240" y="879348"/>
                </a:lnTo>
                <a:lnTo>
                  <a:pt x="15240" y="755904"/>
                </a:lnTo>
                <a:lnTo>
                  <a:pt x="13716" y="755904"/>
                </a:lnTo>
                <a:lnTo>
                  <a:pt x="12204" y="754392"/>
                </a:lnTo>
                <a:lnTo>
                  <a:pt x="13716" y="754392"/>
                </a:lnTo>
                <a:lnTo>
                  <a:pt x="15240" y="752868"/>
                </a:lnTo>
                <a:lnTo>
                  <a:pt x="15240" y="630948"/>
                </a:lnTo>
                <a:lnTo>
                  <a:pt x="13716" y="629424"/>
                </a:lnTo>
                <a:lnTo>
                  <a:pt x="12192" y="629424"/>
                </a:lnTo>
                <a:lnTo>
                  <a:pt x="13716" y="627900"/>
                </a:lnTo>
                <a:lnTo>
                  <a:pt x="15240" y="627900"/>
                </a:lnTo>
                <a:lnTo>
                  <a:pt x="15240" y="504456"/>
                </a:lnTo>
                <a:lnTo>
                  <a:pt x="13716" y="504456"/>
                </a:lnTo>
                <a:lnTo>
                  <a:pt x="12192" y="502932"/>
                </a:lnTo>
                <a:lnTo>
                  <a:pt x="13716" y="502932"/>
                </a:lnTo>
                <a:lnTo>
                  <a:pt x="15240" y="501408"/>
                </a:lnTo>
                <a:lnTo>
                  <a:pt x="15240" y="379488"/>
                </a:lnTo>
                <a:lnTo>
                  <a:pt x="13716" y="377964"/>
                </a:lnTo>
                <a:lnTo>
                  <a:pt x="12192" y="377964"/>
                </a:lnTo>
                <a:lnTo>
                  <a:pt x="13716" y="376440"/>
                </a:lnTo>
                <a:lnTo>
                  <a:pt x="15240" y="376440"/>
                </a:lnTo>
                <a:lnTo>
                  <a:pt x="15240" y="252996"/>
                </a:lnTo>
                <a:lnTo>
                  <a:pt x="13716" y="252996"/>
                </a:lnTo>
                <a:lnTo>
                  <a:pt x="12192" y="251472"/>
                </a:lnTo>
                <a:lnTo>
                  <a:pt x="13716" y="251472"/>
                </a:lnTo>
                <a:lnTo>
                  <a:pt x="15240" y="249948"/>
                </a:lnTo>
                <a:lnTo>
                  <a:pt x="15240" y="128028"/>
                </a:lnTo>
                <a:close/>
              </a:path>
              <a:path w="15239" h="2516504">
                <a:moveTo>
                  <a:pt x="15240" y="1524"/>
                </a:moveTo>
                <a:lnTo>
                  <a:pt x="13716" y="1524"/>
                </a:lnTo>
                <a:lnTo>
                  <a:pt x="12192" y="0"/>
                </a:lnTo>
                <a:lnTo>
                  <a:pt x="3048" y="0"/>
                </a:lnTo>
                <a:lnTo>
                  <a:pt x="1524" y="1524"/>
                </a:lnTo>
                <a:lnTo>
                  <a:pt x="0" y="1524"/>
                </a:lnTo>
                <a:lnTo>
                  <a:pt x="0" y="124968"/>
                </a:lnTo>
                <a:lnTo>
                  <a:pt x="1524" y="124968"/>
                </a:lnTo>
                <a:lnTo>
                  <a:pt x="3048" y="126492"/>
                </a:lnTo>
                <a:lnTo>
                  <a:pt x="12192" y="126492"/>
                </a:lnTo>
                <a:lnTo>
                  <a:pt x="13716" y="124968"/>
                </a:lnTo>
                <a:lnTo>
                  <a:pt x="15240" y="124968"/>
                </a:lnTo>
                <a:lnTo>
                  <a:pt x="15240" y="1524"/>
                </a:lnTo>
                <a:close/>
              </a:path>
            </a:pathLst>
          </a:custGeom>
          <a:solidFill>
            <a:srgbClr val="000000"/>
          </a:solidFill>
        </p:spPr>
        <p:txBody>
          <a:bodyPr wrap="square" lIns="0" tIns="0" rIns="0" bIns="0" rtlCol="0"/>
          <a:lstStyle/>
          <a:p>
            <a:endParaRPr/>
          </a:p>
        </p:txBody>
      </p:sp>
      <p:pic>
        <p:nvPicPr>
          <p:cNvPr id="5" name="object 5">
            <a:extLst>
              <a:ext uri="{FF2B5EF4-FFF2-40B4-BE49-F238E27FC236}">
                <a16:creationId xmlns:a16="http://schemas.microsoft.com/office/drawing/2014/main" id="{13B7BC16-5605-DC2D-F398-5391832885B2}"/>
              </a:ext>
            </a:extLst>
          </p:cNvPr>
          <p:cNvPicPr/>
          <p:nvPr/>
        </p:nvPicPr>
        <p:blipFill>
          <a:blip r:embed="rId3" cstate="print"/>
          <a:stretch>
            <a:fillRect/>
          </a:stretch>
        </p:blipFill>
        <p:spPr>
          <a:xfrm rot="5400000">
            <a:off x="5863676" y="4118831"/>
            <a:ext cx="172212" cy="992123"/>
          </a:xfrm>
          <a:prstGeom prst="rect">
            <a:avLst/>
          </a:prstGeom>
        </p:spPr>
      </p:pic>
      <p:pic>
        <p:nvPicPr>
          <p:cNvPr id="6" name="object 6">
            <a:extLst>
              <a:ext uri="{FF2B5EF4-FFF2-40B4-BE49-F238E27FC236}">
                <a16:creationId xmlns:a16="http://schemas.microsoft.com/office/drawing/2014/main" id="{2C7486DA-BF53-C9CF-6F42-C377D38813AA}"/>
              </a:ext>
            </a:extLst>
          </p:cNvPr>
          <p:cNvPicPr/>
          <p:nvPr/>
        </p:nvPicPr>
        <p:blipFill>
          <a:blip r:embed="rId4" cstate="print"/>
          <a:stretch>
            <a:fillRect/>
          </a:stretch>
        </p:blipFill>
        <p:spPr>
          <a:xfrm rot="5400000">
            <a:off x="6595958" y="4520638"/>
            <a:ext cx="202692" cy="256032"/>
          </a:xfrm>
          <a:prstGeom prst="rect">
            <a:avLst/>
          </a:prstGeom>
        </p:spPr>
      </p:pic>
      <p:pic>
        <p:nvPicPr>
          <p:cNvPr id="25" name="object 25">
            <a:extLst>
              <a:ext uri="{FF2B5EF4-FFF2-40B4-BE49-F238E27FC236}">
                <a16:creationId xmlns:a16="http://schemas.microsoft.com/office/drawing/2014/main" id="{998C6830-5B08-7A9A-AF62-77D0238808B7}"/>
              </a:ext>
            </a:extLst>
          </p:cNvPr>
          <p:cNvPicPr/>
          <p:nvPr/>
        </p:nvPicPr>
        <p:blipFill>
          <a:blip r:embed="rId5" cstate="print"/>
          <a:stretch>
            <a:fillRect/>
          </a:stretch>
        </p:blipFill>
        <p:spPr>
          <a:xfrm rot="5400000">
            <a:off x="3757583" y="5134178"/>
            <a:ext cx="164592" cy="876299"/>
          </a:xfrm>
          <a:prstGeom prst="rect">
            <a:avLst/>
          </a:prstGeom>
        </p:spPr>
      </p:pic>
      <p:grpSp>
        <p:nvGrpSpPr>
          <p:cNvPr id="26" name="object 26">
            <a:extLst>
              <a:ext uri="{FF2B5EF4-FFF2-40B4-BE49-F238E27FC236}">
                <a16:creationId xmlns:a16="http://schemas.microsoft.com/office/drawing/2014/main" id="{E3161742-357E-1B2F-1C22-933C24700025}"/>
              </a:ext>
            </a:extLst>
          </p:cNvPr>
          <p:cNvGrpSpPr/>
          <p:nvPr/>
        </p:nvGrpSpPr>
        <p:grpSpPr>
          <a:xfrm rot="5400000">
            <a:off x="4697636" y="5141799"/>
            <a:ext cx="173990" cy="852169"/>
            <a:chOff x="5856732" y="5913120"/>
            <a:chExt cx="173990" cy="852169"/>
          </a:xfrm>
        </p:grpSpPr>
        <p:pic>
          <p:nvPicPr>
            <p:cNvPr id="27" name="object 27">
              <a:extLst>
                <a:ext uri="{FF2B5EF4-FFF2-40B4-BE49-F238E27FC236}">
                  <a16:creationId xmlns:a16="http://schemas.microsoft.com/office/drawing/2014/main" id="{B6A5EF07-4A58-3328-88A2-3AC5BCB1F660}"/>
                </a:ext>
              </a:extLst>
            </p:cNvPr>
            <p:cNvPicPr/>
            <p:nvPr/>
          </p:nvPicPr>
          <p:blipFill>
            <a:blip r:embed="rId6" cstate="print"/>
            <a:stretch>
              <a:fillRect/>
            </a:stretch>
          </p:blipFill>
          <p:spPr>
            <a:xfrm>
              <a:off x="5868924" y="6655307"/>
              <a:ext cx="158496" cy="109728"/>
            </a:xfrm>
            <a:prstGeom prst="rect">
              <a:avLst/>
            </a:prstGeom>
          </p:spPr>
        </p:pic>
        <p:pic>
          <p:nvPicPr>
            <p:cNvPr id="28" name="object 28">
              <a:extLst>
                <a:ext uri="{FF2B5EF4-FFF2-40B4-BE49-F238E27FC236}">
                  <a16:creationId xmlns:a16="http://schemas.microsoft.com/office/drawing/2014/main" id="{BD9CB474-03BD-A75B-7F92-99D76065AA2F}"/>
                </a:ext>
              </a:extLst>
            </p:cNvPr>
            <p:cNvPicPr/>
            <p:nvPr/>
          </p:nvPicPr>
          <p:blipFill>
            <a:blip r:embed="rId7" cstate="print"/>
            <a:stretch>
              <a:fillRect/>
            </a:stretch>
          </p:blipFill>
          <p:spPr>
            <a:xfrm>
              <a:off x="5907024" y="6435852"/>
              <a:ext cx="123444" cy="196596"/>
            </a:xfrm>
            <a:prstGeom prst="rect">
              <a:avLst/>
            </a:prstGeom>
          </p:spPr>
        </p:pic>
        <p:pic>
          <p:nvPicPr>
            <p:cNvPr id="29" name="object 29">
              <a:extLst>
                <a:ext uri="{FF2B5EF4-FFF2-40B4-BE49-F238E27FC236}">
                  <a16:creationId xmlns:a16="http://schemas.microsoft.com/office/drawing/2014/main" id="{E1DF814A-B46B-81FB-065F-9C735B28AB06}"/>
                </a:ext>
              </a:extLst>
            </p:cNvPr>
            <p:cNvPicPr/>
            <p:nvPr/>
          </p:nvPicPr>
          <p:blipFill>
            <a:blip r:embed="rId8" cstate="print"/>
            <a:stretch>
              <a:fillRect/>
            </a:stretch>
          </p:blipFill>
          <p:spPr>
            <a:xfrm>
              <a:off x="5856732" y="6298691"/>
              <a:ext cx="173736" cy="111252"/>
            </a:xfrm>
            <a:prstGeom prst="rect">
              <a:avLst/>
            </a:prstGeom>
          </p:spPr>
        </p:pic>
        <p:sp>
          <p:nvSpPr>
            <p:cNvPr id="30" name="object 30">
              <a:extLst>
                <a:ext uri="{FF2B5EF4-FFF2-40B4-BE49-F238E27FC236}">
                  <a16:creationId xmlns:a16="http://schemas.microsoft.com/office/drawing/2014/main" id="{B57CA497-FF99-DA8F-56D5-D98A3AF98471}"/>
                </a:ext>
              </a:extLst>
            </p:cNvPr>
            <p:cNvSpPr/>
            <p:nvPr/>
          </p:nvSpPr>
          <p:spPr>
            <a:xfrm>
              <a:off x="5856732" y="6245352"/>
              <a:ext cx="170815" cy="30480"/>
            </a:xfrm>
            <a:custGeom>
              <a:avLst/>
              <a:gdLst/>
              <a:ahLst/>
              <a:cxnLst/>
              <a:rect l="l" t="t" r="r" b="b"/>
              <a:pathLst>
                <a:path w="170814" h="30479">
                  <a:moveTo>
                    <a:pt x="169164" y="30480"/>
                  </a:moveTo>
                  <a:lnTo>
                    <a:pt x="3048" y="30480"/>
                  </a:lnTo>
                  <a:lnTo>
                    <a:pt x="1524" y="28956"/>
                  </a:lnTo>
                  <a:lnTo>
                    <a:pt x="1524" y="27432"/>
                  </a:lnTo>
                  <a:lnTo>
                    <a:pt x="0" y="25908"/>
                  </a:lnTo>
                  <a:lnTo>
                    <a:pt x="0" y="4572"/>
                  </a:lnTo>
                  <a:lnTo>
                    <a:pt x="1524" y="3048"/>
                  </a:lnTo>
                  <a:lnTo>
                    <a:pt x="1524" y="1524"/>
                  </a:lnTo>
                  <a:lnTo>
                    <a:pt x="3048" y="0"/>
                  </a:lnTo>
                  <a:lnTo>
                    <a:pt x="169164" y="0"/>
                  </a:lnTo>
                  <a:lnTo>
                    <a:pt x="169164" y="1524"/>
                  </a:lnTo>
                  <a:lnTo>
                    <a:pt x="170688" y="3048"/>
                  </a:lnTo>
                  <a:lnTo>
                    <a:pt x="170688" y="27432"/>
                  </a:lnTo>
                  <a:lnTo>
                    <a:pt x="169164" y="28956"/>
                  </a:lnTo>
                  <a:lnTo>
                    <a:pt x="169164" y="30480"/>
                  </a:lnTo>
                  <a:close/>
                </a:path>
              </a:pathLst>
            </a:custGeom>
            <a:solidFill>
              <a:srgbClr val="BF0000"/>
            </a:solidFill>
          </p:spPr>
          <p:txBody>
            <a:bodyPr wrap="square" lIns="0" tIns="0" rIns="0" bIns="0" rtlCol="0"/>
            <a:lstStyle/>
            <a:p>
              <a:endParaRPr/>
            </a:p>
          </p:txBody>
        </p:sp>
        <p:pic>
          <p:nvPicPr>
            <p:cNvPr id="31" name="object 31">
              <a:extLst>
                <a:ext uri="{FF2B5EF4-FFF2-40B4-BE49-F238E27FC236}">
                  <a16:creationId xmlns:a16="http://schemas.microsoft.com/office/drawing/2014/main" id="{189AC699-F109-3F24-E356-69C3D1151429}"/>
                </a:ext>
              </a:extLst>
            </p:cNvPr>
            <p:cNvPicPr/>
            <p:nvPr/>
          </p:nvPicPr>
          <p:blipFill>
            <a:blip r:embed="rId9" cstate="print"/>
            <a:stretch>
              <a:fillRect/>
            </a:stretch>
          </p:blipFill>
          <p:spPr>
            <a:xfrm>
              <a:off x="5907024" y="6112764"/>
              <a:ext cx="123444" cy="108204"/>
            </a:xfrm>
            <a:prstGeom prst="rect">
              <a:avLst/>
            </a:prstGeom>
          </p:spPr>
        </p:pic>
        <p:pic>
          <p:nvPicPr>
            <p:cNvPr id="32" name="object 32">
              <a:extLst>
                <a:ext uri="{FF2B5EF4-FFF2-40B4-BE49-F238E27FC236}">
                  <a16:creationId xmlns:a16="http://schemas.microsoft.com/office/drawing/2014/main" id="{0D28E15C-011B-D292-6408-ACF44685B98C}"/>
                </a:ext>
              </a:extLst>
            </p:cNvPr>
            <p:cNvPicPr/>
            <p:nvPr/>
          </p:nvPicPr>
          <p:blipFill>
            <a:blip r:embed="rId10" cstate="print"/>
            <a:stretch>
              <a:fillRect/>
            </a:stretch>
          </p:blipFill>
          <p:spPr>
            <a:xfrm>
              <a:off x="5907024" y="5913120"/>
              <a:ext cx="120396" cy="173736"/>
            </a:xfrm>
            <a:prstGeom prst="rect">
              <a:avLst/>
            </a:prstGeom>
          </p:spPr>
        </p:pic>
      </p:grpSp>
      <p:pic>
        <p:nvPicPr>
          <p:cNvPr id="33" name="object 33">
            <a:extLst>
              <a:ext uri="{FF2B5EF4-FFF2-40B4-BE49-F238E27FC236}">
                <a16:creationId xmlns:a16="http://schemas.microsoft.com/office/drawing/2014/main" id="{A06D8CCA-16EB-7F89-1C13-843A771B9893}"/>
              </a:ext>
            </a:extLst>
          </p:cNvPr>
          <p:cNvPicPr/>
          <p:nvPr/>
        </p:nvPicPr>
        <p:blipFill>
          <a:blip r:embed="rId11" cstate="print"/>
          <a:stretch>
            <a:fillRect/>
          </a:stretch>
        </p:blipFill>
        <p:spPr>
          <a:xfrm rot="5400000">
            <a:off x="5741831" y="5035119"/>
            <a:ext cx="164592" cy="1074420"/>
          </a:xfrm>
          <a:prstGeom prst="rect">
            <a:avLst/>
          </a:prstGeom>
        </p:spPr>
      </p:pic>
      <p:pic>
        <p:nvPicPr>
          <p:cNvPr id="34" name="object 34">
            <a:extLst>
              <a:ext uri="{FF2B5EF4-FFF2-40B4-BE49-F238E27FC236}">
                <a16:creationId xmlns:a16="http://schemas.microsoft.com/office/drawing/2014/main" id="{F984730B-1FE3-293D-7B28-51E96CCAACE0}"/>
              </a:ext>
            </a:extLst>
          </p:cNvPr>
          <p:cNvPicPr/>
          <p:nvPr/>
        </p:nvPicPr>
        <p:blipFill>
          <a:blip r:embed="rId12" cstate="print"/>
          <a:stretch>
            <a:fillRect/>
          </a:stretch>
        </p:blipFill>
        <p:spPr>
          <a:xfrm rot="5400000">
            <a:off x="7008275" y="4920819"/>
            <a:ext cx="169164" cy="1298447"/>
          </a:xfrm>
          <a:prstGeom prst="rect">
            <a:avLst/>
          </a:prstGeom>
        </p:spPr>
      </p:pic>
      <p:pic>
        <p:nvPicPr>
          <p:cNvPr id="35" name="object 35">
            <a:extLst>
              <a:ext uri="{FF2B5EF4-FFF2-40B4-BE49-F238E27FC236}">
                <a16:creationId xmlns:a16="http://schemas.microsoft.com/office/drawing/2014/main" id="{9A12574E-28A2-AD10-CD7D-7E266818FBD9}"/>
              </a:ext>
            </a:extLst>
          </p:cNvPr>
          <p:cNvPicPr/>
          <p:nvPr/>
        </p:nvPicPr>
        <p:blipFill>
          <a:blip r:embed="rId13" cstate="print"/>
          <a:stretch>
            <a:fillRect/>
          </a:stretch>
        </p:blipFill>
        <p:spPr>
          <a:xfrm rot="5400000">
            <a:off x="7841142" y="5471746"/>
            <a:ext cx="214883" cy="233171"/>
          </a:xfrm>
          <a:prstGeom prst="rect">
            <a:avLst/>
          </a:prstGeom>
        </p:spPr>
      </p:pic>
      <p:grpSp>
        <p:nvGrpSpPr>
          <p:cNvPr id="36" name="object 36">
            <a:extLst>
              <a:ext uri="{FF2B5EF4-FFF2-40B4-BE49-F238E27FC236}">
                <a16:creationId xmlns:a16="http://schemas.microsoft.com/office/drawing/2014/main" id="{C9DADB5E-FCD9-0E52-1B5C-AE8CF206D042}"/>
              </a:ext>
            </a:extLst>
          </p:cNvPr>
          <p:cNvGrpSpPr/>
          <p:nvPr/>
        </p:nvGrpSpPr>
        <p:grpSpPr>
          <a:xfrm rot="5400000">
            <a:off x="8394797" y="5227207"/>
            <a:ext cx="215265" cy="722630"/>
            <a:chOff x="5856732" y="2260092"/>
            <a:chExt cx="215265" cy="722630"/>
          </a:xfrm>
        </p:grpSpPr>
        <p:pic>
          <p:nvPicPr>
            <p:cNvPr id="37" name="object 37">
              <a:extLst>
                <a:ext uri="{FF2B5EF4-FFF2-40B4-BE49-F238E27FC236}">
                  <a16:creationId xmlns:a16="http://schemas.microsoft.com/office/drawing/2014/main" id="{EC0255BC-0B70-4726-F4BD-E58F80C9221A}"/>
                </a:ext>
              </a:extLst>
            </p:cNvPr>
            <p:cNvPicPr/>
            <p:nvPr/>
          </p:nvPicPr>
          <p:blipFill>
            <a:blip r:embed="rId14" cstate="print"/>
            <a:stretch>
              <a:fillRect/>
            </a:stretch>
          </p:blipFill>
          <p:spPr>
            <a:xfrm>
              <a:off x="5868924" y="2781300"/>
              <a:ext cx="161544" cy="201167"/>
            </a:xfrm>
            <a:prstGeom prst="rect">
              <a:avLst/>
            </a:prstGeom>
          </p:spPr>
        </p:pic>
        <p:pic>
          <p:nvPicPr>
            <p:cNvPr id="38" name="object 38">
              <a:extLst>
                <a:ext uri="{FF2B5EF4-FFF2-40B4-BE49-F238E27FC236}">
                  <a16:creationId xmlns:a16="http://schemas.microsoft.com/office/drawing/2014/main" id="{DF8514B2-F5A1-C4B8-8B5B-32B373054228}"/>
                </a:ext>
              </a:extLst>
            </p:cNvPr>
            <p:cNvPicPr/>
            <p:nvPr/>
          </p:nvPicPr>
          <p:blipFill>
            <a:blip r:embed="rId15" cstate="print"/>
            <a:stretch>
              <a:fillRect/>
            </a:stretch>
          </p:blipFill>
          <p:spPr>
            <a:xfrm>
              <a:off x="5907024" y="2667000"/>
              <a:ext cx="123444" cy="89916"/>
            </a:xfrm>
            <a:prstGeom prst="rect">
              <a:avLst/>
            </a:prstGeom>
          </p:spPr>
        </p:pic>
        <p:pic>
          <p:nvPicPr>
            <p:cNvPr id="39" name="object 39">
              <a:extLst>
                <a:ext uri="{FF2B5EF4-FFF2-40B4-BE49-F238E27FC236}">
                  <a16:creationId xmlns:a16="http://schemas.microsoft.com/office/drawing/2014/main" id="{F2BC87DB-B2BD-86FB-4806-527F25C5F9F9}"/>
                </a:ext>
              </a:extLst>
            </p:cNvPr>
            <p:cNvPicPr/>
            <p:nvPr/>
          </p:nvPicPr>
          <p:blipFill>
            <a:blip r:embed="rId16" cstate="print"/>
            <a:stretch>
              <a:fillRect/>
            </a:stretch>
          </p:blipFill>
          <p:spPr>
            <a:xfrm>
              <a:off x="5908548" y="2542032"/>
              <a:ext cx="121920" cy="103632"/>
            </a:xfrm>
            <a:prstGeom prst="rect">
              <a:avLst/>
            </a:prstGeom>
          </p:spPr>
        </p:pic>
        <p:pic>
          <p:nvPicPr>
            <p:cNvPr id="40" name="object 40">
              <a:extLst>
                <a:ext uri="{FF2B5EF4-FFF2-40B4-BE49-F238E27FC236}">
                  <a16:creationId xmlns:a16="http://schemas.microsoft.com/office/drawing/2014/main" id="{078D218A-82B6-188C-2EF0-C3EA53C98588}"/>
                </a:ext>
              </a:extLst>
            </p:cNvPr>
            <p:cNvPicPr/>
            <p:nvPr/>
          </p:nvPicPr>
          <p:blipFill>
            <a:blip r:embed="rId17" cstate="print"/>
            <a:stretch>
              <a:fillRect/>
            </a:stretch>
          </p:blipFill>
          <p:spPr>
            <a:xfrm>
              <a:off x="5856732" y="2260092"/>
              <a:ext cx="214883" cy="249936"/>
            </a:xfrm>
            <a:prstGeom prst="rect">
              <a:avLst/>
            </a:prstGeom>
          </p:spPr>
        </p:pic>
      </p:grpSp>
      <p:sp>
        <p:nvSpPr>
          <p:cNvPr id="45" name="Footer Placeholder 44">
            <a:extLst>
              <a:ext uri="{FF2B5EF4-FFF2-40B4-BE49-F238E27FC236}">
                <a16:creationId xmlns:a16="http://schemas.microsoft.com/office/drawing/2014/main" id="{08449B3B-C0A7-D8D5-495E-B828FFA69D48}"/>
              </a:ext>
            </a:extLst>
          </p:cNvPr>
          <p:cNvSpPr>
            <a:spLocks noGrp="1"/>
          </p:cNvSpPr>
          <p:nvPr>
            <p:ph type="ftr" sz="quarter" idx="11"/>
          </p:nvPr>
        </p:nvSpPr>
        <p:spPr>
          <a:xfrm>
            <a:off x="3950370" y="6428456"/>
            <a:ext cx="4114800" cy="365125"/>
          </a:xfrm>
        </p:spPr>
        <p:txBody>
          <a:bodyPr/>
          <a:lstStyle/>
          <a:p>
            <a:r>
              <a:rPr lang="en-US" dirty="0"/>
              <a:t>PRO600 Publication Statement by Faculty</a:t>
            </a:r>
            <a:endParaRPr lang="en-IN" dirty="0"/>
          </a:p>
        </p:txBody>
      </p:sp>
      <p:sp>
        <p:nvSpPr>
          <p:cNvPr id="46" name="Rectangle: Rounded Corners 45">
            <a:extLst>
              <a:ext uri="{FF2B5EF4-FFF2-40B4-BE49-F238E27FC236}">
                <a16:creationId xmlns:a16="http://schemas.microsoft.com/office/drawing/2014/main" id="{1E7F80AC-217C-0B84-A6B6-E01E7F13233F}"/>
              </a:ext>
            </a:extLst>
          </p:cNvPr>
          <p:cNvSpPr/>
          <p:nvPr/>
        </p:nvSpPr>
        <p:spPr>
          <a:xfrm>
            <a:off x="2556729" y="2092997"/>
            <a:ext cx="7152011" cy="1624965"/>
          </a:xfrm>
          <a:prstGeom prst="roundRect">
            <a:avLst/>
          </a:prstGeom>
          <a:solidFill>
            <a:srgbClr val="FFDA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latin typeface="Times New Roman" panose="02020603050405020304" pitchFamily="18" charset="0"/>
                <a:cs typeface="Times New Roman" panose="02020603050405020304" pitchFamily="18" charset="0"/>
              </a:rPr>
              <a:t>Faculty Research Area: AI</a:t>
            </a:r>
          </a:p>
          <a:p>
            <a:pPr algn="ctr"/>
            <a:endParaRPr lang="en-IN" sz="2400" b="1" dirty="0">
              <a:solidFill>
                <a:sysClr val="windowText" lastClr="000000"/>
              </a:solidFill>
              <a:latin typeface="Times New Roman" panose="02020603050405020304" pitchFamily="18" charset="0"/>
              <a:cs typeface="Times New Roman" panose="02020603050405020304" pitchFamily="18" charset="0"/>
            </a:endParaRPr>
          </a:p>
          <a:p>
            <a:r>
              <a:rPr lang="en-IN" sz="2400" b="1" dirty="0">
                <a:solidFill>
                  <a:sysClr val="windowText" lastClr="000000"/>
                </a:solidFill>
                <a:latin typeface="Times New Roman" panose="02020603050405020304" pitchFamily="18" charset="0"/>
                <a:cs typeface="Times New Roman" panose="02020603050405020304" pitchFamily="18" charset="0"/>
              </a:rPr>
              <a:t>Title of the project: AI Based Coding Assistant for 		              Differently-Abled People</a:t>
            </a:r>
          </a:p>
        </p:txBody>
      </p:sp>
      <p:sp>
        <p:nvSpPr>
          <p:cNvPr id="47" name="TextBox 46">
            <a:extLst>
              <a:ext uri="{FF2B5EF4-FFF2-40B4-BE49-F238E27FC236}">
                <a16:creationId xmlns:a16="http://schemas.microsoft.com/office/drawing/2014/main" id="{FDDC07A9-FC84-F413-8FF2-B99ADDFD0756}"/>
              </a:ext>
            </a:extLst>
          </p:cNvPr>
          <p:cNvSpPr txBox="1"/>
          <p:nvPr/>
        </p:nvSpPr>
        <p:spPr>
          <a:xfrm>
            <a:off x="3307614" y="4953053"/>
            <a:ext cx="6523348" cy="400110"/>
          </a:xfrm>
          <a:prstGeom prst="rect">
            <a:avLst/>
          </a:prstGeom>
          <a:noFill/>
        </p:spPr>
        <p:txBody>
          <a:bodyPr wrap="square" rtlCol="0">
            <a:spAutoFit/>
          </a:bodyPr>
          <a:lstStyle/>
          <a:p>
            <a:r>
              <a:rPr lang="en-US" sz="2000" dirty="0"/>
              <a:t>Faculty In charge : Ms. M. Rajalakshmi</a:t>
            </a:r>
            <a:endParaRPr lang="en-IN" sz="2000" dirty="0"/>
          </a:p>
        </p:txBody>
      </p:sp>
    </p:spTree>
    <p:extLst>
      <p:ext uri="{BB962C8B-B14F-4D97-AF65-F5344CB8AC3E}">
        <p14:creationId xmlns:p14="http://schemas.microsoft.com/office/powerpoint/2010/main" val="699818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a:extLst>
              <a:ext uri="{FF2B5EF4-FFF2-40B4-BE49-F238E27FC236}">
                <a16:creationId xmlns:a16="http://schemas.microsoft.com/office/drawing/2014/main" id="{DECD6BA6-4C5E-2C74-BC96-0FB9ED9E8145}"/>
              </a:ext>
            </a:extLst>
          </p:cNvPr>
          <p:cNvPicPr/>
          <p:nvPr/>
        </p:nvPicPr>
        <p:blipFill>
          <a:blip r:embed="rId2" cstate="print"/>
          <a:stretch>
            <a:fillRect/>
          </a:stretch>
        </p:blipFill>
        <p:spPr>
          <a:xfrm rot="5400000">
            <a:off x="1858732" y="-77662"/>
            <a:ext cx="362968" cy="1999853"/>
          </a:xfrm>
          <a:prstGeom prst="rect">
            <a:avLst/>
          </a:prstGeom>
        </p:spPr>
      </p:pic>
      <p:pic>
        <p:nvPicPr>
          <p:cNvPr id="3" name="object 4">
            <a:extLst>
              <a:ext uri="{FF2B5EF4-FFF2-40B4-BE49-F238E27FC236}">
                <a16:creationId xmlns:a16="http://schemas.microsoft.com/office/drawing/2014/main" id="{68CE50AD-1963-039E-5C3A-20CA1E404337}"/>
              </a:ext>
            </a:extLst>
          </p:cNvPr>
          <p:cNvPicPr/>
          <p:nvPr/>
        </p:nvPicPr>
        <p:blipFill>
          <a:blip r:embed="rId3" cstate="print"/>
          <a:stretch>
            <a:fillRect/>
          </a:stretch>
        </p:blipFill>
        <p:spPr>
          <a:xfrm rot="5400000">
            <a:off x="2030359" y="818919"/>
            <a:ext cx="226049" cy="1721472"/>
          </a:xfrm>
          <a:prstGeom prst="rect">
            <a:avLst/>
          </a:prstGeom>
        </p:spPr>
      </p:pic>
      <p:pic>
        <p:nvPicPr>
          <p:cNvPr id="4" name="object 6">
            <a:extLst>
              <a:ext uri="{FF2B5EF4-FFF2-40B4-BE49-F238E27FC236}">
                <a16:creationId xmlns:a16="http://schemas.microsoft.com/office/drawing/2014/main" id="{E9B7E38F-5EDF-574C-8590-BF9C9E50C781}"/>
              </a:ext>
            </a:extLst>
          </p:cNvPr>
          <p:cNvPicPr/>
          <p:nvPr/>
        </p:nvPicPr>
        <p:blipFill>
          <a:blip r:embed="rId4" cstate="print"/>
          <a:stretch>
            <a:fillRect/>
          </a:stretch>
        </p:blipFill>
        <p:spPr>
          <a:xfrm rot="5400000">
            <a:off x="1847115" y="1450702"/>
            <a:ext cx="217150" cy="1346084"/>
          </a:xfrm>
          <a:prstGeom prst="rect">
            <a:avLst/>
          </a:prstGeom>
        </p:spPr>
      </p:pic>
      <p:grpSp>
        <p:nvGrpSpPr>
          <p:cNvPr id="5" name="object 7">
            <a:extLst>
              <a:ext uri="{FF2B5EF4-FFF2-40B4-BE49-F238E27FC236}">
                <a16:creationId xmlns:a16="http://schemas.microsoft.com/office/drawing/2014/main" id="{3AC70E0A-7DC7-92C4-1D12-9247B1F77DC5}"/>
              </a:ext>
            </a:extLst>
          </p:cNvPr>
          <p:cNvGrpSpPr/>
          <p:nvPr/>
        </p:nvGrpSpPr>
        <p:grpSpPr>
          <a:xfrm rot="5400000">
            <a:off x="3068387" y="1682990"/>
            <a:ext cx="272919" cy="940838"/>
            <a:chOff x="2601467" y="7155180"/>
            <a:chExt cx="233679" cy="756285"/>
          </a:xfrm>
        </p:grpSpPr>
        <p:pic>
          <p:nvPicPr>
            <p:cNvPr id="6" name="object 8">
              <a:extLst>
                <a:ext uri="{FF2B5EF4-FFF2-40B4-BE49-F238E27FC236}">
                  <a16:creationId xmlns:a16="http://schemas.microsoft.com/office/drawing/2014/main" id="{1E2846AC-F5B4-FEF5-07E1-4F6635459A62}"/>
                </a:ext>
              </a:extLst>
            </p:cNvPr>
            <p:cNvPicPr/>
            <p:nvPr/>
          </p:nvPicPr>
          <p:blipFill>
            <a:blip r:embed="rId5" cstate="print"/>
            <a:stretch>
              <a:fillRect/>
            </a:stretch>
          </p:blipFill>
          <p:spPr>
            <a:xfrm>
              <a:off x="2601467" y="7801356"/>
              <a:ext cx="184404" cy="109728"/>
            </a:xfrm>
            <a:prstGeom prst="rect">
              <a:avLst/>
            </a:prstGeom>
          </p:spPr>
        </p:pic>
        <p:pic>
          <p:nvPicPr>
            <p:cNvPr id="7" name="object 9">
              <a:extLst>
                <a:ext uri="{FF2B5EF4-FFF2-40B4-BE49-F238E27FC236}">
                  <a16:creationId xmlns:a16="http://schemas.microsoft.com/office/drawing/2014/main" id="{E7FBECF3-5066-2F63-9F8C-0C8BF41E3F81}"/>
                </a:ext>
              </a:extLst>
            </p:cNvPr>
            <p:cNvPicPr/>
            <p:nvPr/>
          </p:nvPicPr>
          <p:blipFill>
            <a:blip r:embed="rId6" cstate="print"/>
            <a:stretch>
              <a:fillRect/>
            </a:stretch>
          </p:blipFill>
          <p:spPr>
            <a:xfrm>
              <a:off x="2651760" y="7664196"/>
              <a:ext cx="134112" cy="106680"/>
            </a:xfrm>
            <a:prstGeom prst="rect">
              <a:avLst/>
            </a:prstGeom>
          </p:spPr>
        </p:pic>
        <p:pic>
          <p:nvPicPr>
            <p:cNvPr id="8" name="object 10">
              <a:extLst>
                <a:ext uri="{FF2B5EF4-FFF2-40B4-BE49-F238E27FC236}">
                  <a16:creationId xmlns:a16="http://schemas.microsoft.com/office/drawing/2014/main" id="{E065096C-8EAF-1B1E-68DE-C39593B8A8FC}"/>
                </a:ext>
              </a:extLst>
            </p:cNvPr>
            <p:cNvPicPr/>
            <p:nvPr/>
          </p:nvPicPr>
          <p:blipFill>
            <a:blip r:embed="rId7" cstate="print"/>
            <a:stretch>
              <a:fillRect/>
            </a:stretch>
          </p:blipFill>
          <p:spPr>
            <a:xfrm>
              <a:off x="2648712" y="7155180"/>
              <a:ext cx="185928" cy="466343"/>
            </a:xfrm>
            <a:prstGeom prst="rect">
              <a:avLst/>
            </a:prstGeom>
          </p:spPr>
        </p:pic>
      </p:grpSp>
      <p:pic>
        <p:nvPicPr>
          <p:cNvPr id="9" name="object 12">
            <a:extLst>
              <a:ext uri="{FF2B5EF4-FFF2-40B4-BE49-F238E27FC236}">
                <a16:creationId xmlns:a16="http://schemas.microsoft.com/office/drawing/2014/main" id="{F29A1FE9-C37F-0E77-4667-DC8E97BA30ED}"/>
              </a:ext>
            </a:extLst>
          </p:cNvPr>
          <p:cNvPicPr/>
          <p:nvPr/>
        </p:nvPicPr>
        <p:blipFill>
          <a:blip r:embed="rId8" cstate="print"/>
          <a:stretch>
            <a:fillRect/>
          </a:stretch>
        </p:blipFill>
        <p:spPr>
          <a:xfrm rot="5400000">
            <a:off x="1742301" y="1984475"/>
            <a:ext cx="229609" cy="1148913"/>
          </a:xfrm>
          <a:prstGeom prst="rect">
            <a:avLst/>
          </a:prstGeom>
        </p:spPr>
      </p:pic>
      <p:pic>
        <p:nvPicPr>
          <p:cNvPr id="10" name="object 13">
            <a:extLst>
              <a:ext uri="{FF2B5EF4-FFF2-40B4-BE49-F238E27FC236}">
                <a16:creationId xmlns:a16="http://schemas.microsoft.com/office/drawing/2014/main" id="{6CEEB8DE-AEA2-D288-936E-919228E35421}"/>
              </a:ext>
            </a:extLst>
          </p:cNvPr>
          <p:cNvPicPr/>
          <p:nvPr/>
        </p:nvPicPr>
        <p:blipFill>
          <a:blip r:embed="rId9" cstate="print"/>
          <a:stretch>
            <a:fillRect/>
          </a:stretch>
        </p:blipFill>
        <p:spPr>
          <a:xfrm rot="5400000">
            <a:off x="3167915" y="1859251"/>
            <a:ext cx="197571" cy="1431400"/>
          </a:xfrm>
          <a:prstGeom prst="rect">
            <a:avLst/>
          </a:prstGeom>
        </p:spPr>
      </p:pic>
      <p:pic>
        <p:nvPicPr>
          <p:cNvPr id="11" name="object 15">
            <a:extLst>
              <a:ext uri="{FF2B5EF4-FFF2-40B4-BE49-F238E27FC236}">
                <a16:creationId xmlns:a16="http://schemas.microsoft.com/office/drawing/2014/main" id="{BAA24182-D929-574C-559C-B5FC85C16575}"/>
              </a:ext>
            </a:extLst>
          </p:cNvPr>
          <p:cNvPicPr/>
          <p:nvPr/>
        </p:nvPicPr>
        <p:blipFill>
          <a:blip r:embed="rId10" cstate="print"/>
          <a:stretch>
            <a:fillRect/>
          </a:stretch>
        </p:blipFill>
        <p:spPr>
          <a:xfrm rot="5400000">
            <a:off x="1858801" y="2294344"/>
            <a:ext cx="284787" cy="1463631"/>
          </a:xfrm>
          <a:prstGeom prst="rect">
            <a:avLst/>
          </a:prstGeom>
        </p:spPr>
      </p:pic>
      <p:grpSp>
        <p:nvGrpSpPr>
          <p:cNvPr id="12" name="object 17">
            <a:extLst>
              <a:ext uri="{FF2B5EF4-FFF2-40B4-BE49-F238E27FC236}">
                <a16:creationId xmlns:a16="http://schemas.microsoft.com/office/drawing/2014/main" id="{C7E2D0F1-1D9A-2D07-08A7-903582A42165}"/>
              </a:ext>
            </a:extLst>
          </p:cNvPr>
          <p:cNvGrpSpPr/>
          <p:nvPr/>
        </p:nvGrpSpPr>
        <p:grpSpPr>
          <a:xfrm rot="5400000">
            <a:off x="1672922" y="2932974"/>
            <a:ext cx="284787" cy="1065652"/>
            <a:chOff x="3720084" y="8221979"/>
            <a:chExt cx="243840" cy="856615"/>
          </a:xfrm>
        </p:grpSpPr>
        <p:pic>
          <p:nvPicPr>
            <p:cNvPr id="13" name="object 18">
              <a:extLst>
                <a:ext uri="{FF2B5EF4-FFF2-40B4-BE49-F238E27FC236}">
                  <a16:creationId xmlns:a16="http://schemas.microsoft.com/office/drawing/2014/main" id="{65426E24-8417-A5CF-6FB5-089BB973D16F}"/>
                </a:ext>
              </a:extLst>
            </p:cNvPr>
            <p:cNvPicPr/>
            <p:nvPr/>
          </p:nvPicPr>
          <p:blipFill>
            <a:blip r:embed="rId11" cstate="print"/>
            <a:stretch>
              <a:fillRect/>
            </a:stretch>
          </p:blipFill>
          <p:spPr>
            <a:xfrm>
              <a:off x="3733800" y="8942831"/>
              <a:ext cx="179832" cy="135636"/>
            </a:xfrm>
            <a:prstGeom prst="rect">
              <a:avLst/>
            </a:prstGeom>
          </p:spPr>
        </p:pic>
        <p:pic>
          <p:nvPicPr>
            <p:cNvPr id="14" name="object 19">
              <a:extLst>
                <a:ext uri="{FF2B5EF4-FFF2-40B4-BE49-F238E27FC236}">
                  <a16:creationId xmlns:a16="http://schemas.microsoft.com/office/drawing/2014/main" id="{7FA7E86E-BE39-68D3-7357-82FC0BD87DC7}"/>
                </a:ext>
              </a:extLst>
            </p:cNvPr>
            <p:cNvPicPr/>
            <p:nvPr/>
          </p:nvPicPr>
          <p:blipFill>
            <a:blip r:embed="rId12" cstate="print"/>
            <a:stretch>
              <a:fillRect/>
            </a:stretch>
          </p:blipFill>
          <p:spPr>
            <a:xfrm>
              <a:off x="3777995" y="8519159"/>
              <a:ext cx="137160" cy="388619"/>
            </a:xfrm>
            <a:prstGeom prst="rect">
              <a:avLst/>
            </a:prstGeom>
          </p:spPr>
        </p:pic>
        <p:sp>
          <p:nvSpPr>
            <p:cNvPr id="15" name="object 20">
              <a:extLst>
                <a:ext uri="{FF2B5EF4-FFF2-40B4-BE49-F238E27FC236}">
                  <a16:creationId xmlns:a16="http://schemas.microsoft.com/office/drawing/2014/main" id="{E11B388D-5BA3-3E23-ED24-E9351878DC8C}"/>
                </a:ext>
              </a:extLst>
            </p:cNvPr>
            <p:cNvSpPr/>
            <p:nvPr/>
          </p:nvSpPr>
          <p:spPr>
            <a:xfrm>
              <a:off x="3720084" y="8461247"/>
              <a:ext cx="193675" cy="22860"/>
            </a:xfrm>
            <a:custGeom>
              <a:avLst/>
              <a:gdLst/>
              <a:ahLst/>
              <a:cxnLst/>
              <a:rect l="l" t="t" r="r" b="b"/>
              <a:pathLst>
                <a:path w="193675" h="22859">
                  <a:moveTo>
                    <a:pt x="192024" y="3048"/>
                  </a:moveTo>
                  <a:lnTo>
                    <a:pt x="1524" y="3048"/>
                  </a:lnTo>
                  <a:lnTo>
                    <a:pt x="1524" y="1524"/>
                  </a:lnTo>
                  <a:lnTo>
                    <a:pt x="3048" y="0"/>
                  </a:lnTo>
                  <a:lnTo>
                    <a:pt x="190500" y="0"/>
                  </a:lnTo>
                  <a:lnTo>
                    <a:pt x="192024" y="1524"/>
                  </a:lnTo>
                  <a:lnTo>
                    <a:pt x="192024" y="3048"/>
                  </a:lnTo>
                  <a:close/>
                </a:path>
                <a:path w="193675" h="22859">
                  <a:moveTo>
                    <a:pt x="192024" y="22860"/>
                  </a:moveTo>
                  <a:lnTo>
                    <a:pt x="1524" y="22860"/>
                  </a:lnTo>
                  <a:lnTo>
                    <a:pt x="1524" y="21336"/>
                  </a:lnTo>
                  <a:lnTo>
                    <a:pt x="0" y="19812"/>
                  </a:lnTo>
                  <a:lnTo>
                    <a:pt x="0" y="3048"/>
                  </a:lnTo>
                  <a:lnTo>
                    <a:pt x="193548" y="3048"/>
                  </a:lnTo>
                  <a:lnTo>
                    <a:pt x="193548" y="19812"/>
                  </a:lnTo>
                  <a:lnTo>
                    <a:pt x="192024" y="21336"/>
                  </a:lnTo>
                  <a:lnTo>
                    <a:pt x="192024" y="22860"/>
                  </a:lnTo>
                  <a:close/>
                </a:path>
              </a:pathLst>
            </a:custGeom>
            <a:solidFill>
              <a:srgbClr val="000000"/>
            </a:solidFill>
          </p:spPr>
          <p:txBody>
            <a:bodyPr wrap="square" lIns="0" tIns="0" rIns="0" bIns="0" rtlCol="0"/>
            <a:lstStyle/>
            <a:p>
              <a:endParaRPr/>
            </a:p>
          </p:txBody>
        </p:sp>
        <p:pic>
          <p:nvPicPr>
            <p:cNvPr id="16" name="object 21">
              <a:extLst>
                <a:ext uri="{FF2B5EF4-FFF2-40B4-BE49-F238E27FC236}">
                  <a16:creationId xmlns:a16="http://schemas.microsoft.com/office/drawing/2014/main" id="{1C2EC6E3-9EE2-F1A0-346E-D3859969D0B2}"/>
                </a:ext>
              </a:extLst>
            </p:cNvPr>
            <p:cNvPicPr/>
            <p:nvPr/>
          </p:nvPicPr>
          <p:blipFill>
            <a:blip r:embed="rId13" cstate="print"/>
            <a:stretch>
              <a:fillRect/>
            </a:stretch>
          </p:blipFill>
          <p:spPr>
            <a:xfrm>
              <a:off x="3747515" y="8221979"/>
              <a:ext cx="216408" cy="213360"/>
            </a:xfrm>
            <a:prstGeom prst="rect">
              <a:avLst/>
            </a:prstGeom>
          </p:spPr>
        </p:pic>
      </p:grpSp>
      <p:pic>
        <p:nvPicPr>
          <p:cNvPr id="17" name="object 22">
            <a:extLst>
              <a:ext uri="{FF2B5EF4-FFF2-40B4-BE49-F238E27FC236}">
                <a16:creationId xmlns:a16="http://schemas.microsoft.com/office/drawing/2014/main" id="{71EEE2C0-AAF2-0F6B-2719-2F9A8B2F7AAF}"/>
              </a:ext>
            </a:extLst>
          </p:cNvPr>
          <p:cNvPicPr/>
          <p:nvPr/>
        </p:nvPicPr>
        <p:blipFill>
          <a:blip r:embed="rId14" cstate="print"/>
          <a:stretch>
            <a:fillRect/>
          </a:stretch>
        </p:blipFill>
        <p:spPr>
          <a:xfrm rot="5400000">
            <a:off x="2473170" y="3295186"/>
            <a:ext cx="229607" cy="282489"/>
          </a:xfrm>
          <a:prstGeom prst="rect">
            <a:avLst/>
          </a:prstGeom>
        </p:spPr>
      </p:pic>
      <p:grpSp>
        <p:nvGrpSpPr>
          <p:cNvPr id="18" name="object 23">
            <a:extLst>
              <a:ext uri="{FF2B5EF4-FFF2-40B4-BE49-F238E27FC236}">
                <a16:creationId xmlns:a16="http://schemas.microsoft.com/office/drawing/2014/main" id="{4E2C37D9-149D-B702-07A7-C601526E04D6}"/>
              </a:ext>
            </a:extLst>
          </p:cNvPr>
          <p:cNvGrpSpPr/>
          <p:nvPr/>
        </p:nvGrpSpPr>
        <p:grpSpPr>
          <a:xfrm rot="5400000">
            <a:off x="2924036" y="3210108"/>
            <a:ext cx="228422" cy="455015"/>
            <a:chOff x="3720083" y="7484364"/>
            <a:chExt cx="195580" cy="365760"/>
          </a:xfrm>
        </p:grpSpPr>
        <p:pic>
          <p:nvPicPr>
            <p:cNvPr id="19" name="object 24">
              <a:extLst>
                <a:ext uri="{FF2B5EF4-FFF2-40B4-BE49-F238E27FC236}">
                  <a16:creationId xmlns:a16="http://schemas.microsoft.com/office/drawing/2014/main" id="{461F14F3-7964-6F60-F83E-DA1A58CA6BC9}"/>
                </a:ext>
              </a:extLst>
            </p:cNvPr>
            <p:cNvPicPr/>
            <p:nvPr/>
          </p:nvPicPr>
          <p:blipFill>
            <a:blip r:embed="rId15" cstate="print"/>
            <a:stretch>
              <a:fillRect/>
            </a:stretch>
          </p:blipFill>
          <p:spPr>
            <a:xfrm>
              <a:off x="3747515" y="7767827"/>
              <a:ext cx="167640" cy="82296"/>
            </a:xfrm>
            <a:prstGeom prst="rect">
              <a:avLst/>
            </a:prstGeom>
          </p:spPr>
        </p:pic>
        <p:pic>
          <p:nvPicPr>
            <p:cNvPr id="20" name="object 25">
              <a:extLst>
                <a:ext uri="{FF2B5EF4-FFF2-40B4-BE49-F238E27FC236}">
                  <a16:creationId xmlns:a16="http://schemas.microsoft.com/office/drawing/2014/main" id="{1D57598C-1550-8383-6B65-0FEF5589D91D}"/>
                </a:ext>
              </a:extLst>
            </p:cNvPr>
            <p:cNvPicPr/>
            <p:nvPr/>
          </p:nvPicPr>
          <p:blipFill>
            <a:blip r:embed="rId16" cstate="print"/>
            <a:stretch>
              <a:fillRect/>
            </a:stretch>
          </p:blipFill>
          <p:spPr>
            <a:xfrm>
              <a:off x="3720083" y="7630667"/>
              <a:ext cx="193548" cy="108204"/>
            </a:xfrm>
            <a:prstGeom prst="rect">
              <a:avLst/>
            </a:prstGeom>
          </p:spPr>
        </p:pic>
        <p:pic>
          <p:nvPicPr>
            <p:cNvPr id="21" name="object 26">
              <a:extLst>
                <a:ext uri="{FF2B5EF4-FFF2-40B4-BE49-F238E27FC236}">
                  <a16:creationId xmlns:a16="http://schemas.microsoft.com/office/drawing/2014/main" id="{3883C6E3-5701-3547-C540-696ECEC62114}"/>
                </a:ext>
              </a:extLst>
            </p:cNvPr>
            <p:cNvPicPr/>
            <p:nvPr/>
          </p:nvPicPr>
          <p:blipFill>
            <a:blip r:embed="rId17" cstate="print"/>
            <a:stretch>
              <a:fillRect/>
            </a:stretch>
          </p:blipFill>
          <p:spPr>
            <a:xfrm>
              <a:off x="3777995" y="7484364"/>
              <a:ext cx="137160" cy="114300"/>
            </a:xfrm>
            <a:prstGeom prst="rect">
              <a:avLst/>
            </a:prstGeom>
          </p:spPr>
        </p:pic>
      </p:grpSp>
      <p:grpSp>
        <p:nvGrpSpPr>
          <p:cNvPr id="22" name="object 27">
            <a:extLst>
              <a:ext uri="{FF2B5EF4-FFF2-40B4-BE49-F238E27FC236}">
                <a16:creationId xmlns:a16="http://schemas.microsoft.com/office/drawing/2014/main" id="{5E64A644-B869-B3BF-4592-9C5BEAEF9585}"/>
              </a:ext>
            </a:extLst>
          </p:cNvPr>
          <p:cNvGrpSpPr/>
          <p:nvPr/>
        </p:nvGrpSpPr>
        <p:grpSpPr>
          <a:xfrm rot="5400000">
            <a:off x="3606558" y="3086875"/>
            <a:ext cx="228422" cy="701481"/>
            <a:chOff x="3720083" y="6836664"/>
            <a:chExt cx="195580" cy="563880"/>
          </a:xfrm>
        </p:grpSpPr>
        <p:pic>
          <p:nvPicPr>
            <p:cNvPr id="23" name="object 28">
              <a:extLst>
                <a:ext uri="{FF2B5EF4-FFF2-40B4-BE49-F238E27FC236}">
                  <a16:creationId xmlns:a16="http://schemas.microsoft.com/office/drawing/2014/main" id="{8D210941-0269-D9C1-C745-994E020BBFA5}"/>
                </a:ext>
              </a:extLst>
            </p:cNvPr>
            <p:cNvPicPr/>
            <p:nvPr/>
          </p:nvPicPr>
          <p:blipFill>
            <a:blip r:embed="rId18" cstate="print"/>
            <a:stretch>
              <a:fillRect/>
            </a:stretch>
          </p:blipFill>
          <p:spPr>
            <a:xfrm>
              <a:off x="3777995" y="7071359"/>
              <a:ext cx="137160" cy="329184"/>
            </a:xfrm>
            <a:prstGeom prst="rect">
              <a:avLst/>
            </a:prstGeom>
          </p:spPr>
        </p:pic>
        <p:pic>
          <p:nvPicPr>
            <p:cNvPr id="24" name="object 29">
              <a:extLst>
                <a:ext uri="{FF2B5EF4-FFF2-40B4-BE49-F238E27FC236}">
                  <a16:creationId xmlns:a16="http://schemas.microsoft.com/office/drawing/2014/main" id="{B29D8E2F-15DC-026F-FAEC-48EE5F74B42B}"/>
                </a:ext>
              </a:extLst>
            </p:cNvPr>
            <p:cNvPicPr/>
            <p:nvPr/>
          </p:nvPicPr>
          <p:blipFill>
            <a:blip r:embed="rId19" cstate="print"/>
            <a:stretch>
              <a:fillRect/>
            </a:stretch>
          </p:blipFill>
          <p:spPr>
            <a:xfrm>
              <a:off x="3777995" y="6964680"/>
              <a:ext cx="135636" cy="73152"/>
            </a:xfrm>
            <a:prstGeom prst="rect">
              <a:avLst/>
            </a:prstGeom>
          </p:spPr>
        </p:pic>
        <p:pic>
          <p:nvPicPr>
            <p:cNvPr id="25" name="object 30">
              <a:extLst>
                <a:ext uri="{FF2B5EF4-FFF2-40B4-BE49-F238E27FC236}">
                  <a16:creationId xmlns:a16="http://schemas.microsoft.com/office/drawing/2014/main" id="{9D47E03F-267E-D5D1-FC79-1FCB7D4F8C34}"/>
                </a:ext>
              </a:extLst>
            </p:cNvPr>
            <p:cNvPicPr/>
            <p:nvPr/>
          </p:nvPicPr>
          <p:blipFill>
            <a:blip r:embed="rId20" cstate="print"/>
            <a:stretch>
              <a:fillRect/>
            </a:stretch>
          </p:blipFill>
          <p:spPr>
            <a:xfrm>
              <a:off x="3720083" y="6836664"/>
              <a:ext cx="193548" cy="102108"/>
            </a:xfrm>
            <a:prstGeom prst="rect">
              <a:avLst/>
            </a:prstGeom>
          </p:spPr>
        </p:pic>
      </p:grpSp>
      <p:pic>
        <p:nvPicPr>
          <p:cNvPr id="26" name="object 32">
            <a:extLst>
              <a:ext uri="{FF2B5EF4-FFF2-40B4-BE49-F238E27FC236}">
                <a16:creationId xmlns:a16="http://schemas.microsoft.com/office/drawing/2014/main" id="{DFE6CB20-86AB-509B-8263-159F79A67CAF}"/>
              </a:ext>
            </a:extLst>
          </p:cNvPr>
          <p:cNvPicPr/>
          <p:nvPr/>
        </p:nvPicPr>
        <p:blipFill>
          <a:blip r:embed="rId21" cstate="print"/>
          <a:stretch>
            <a:fillRect/>
          </a:stretch>
        </p:blipFill>
        <p:spPr>
          <a:xfrm rot="5400000">
            <a:off x="1788592" y="3258879"/>
            <a:ext cx="283006" cy="1294896"/>
          </a:xfrm>
          <a:prstGeom prst="rect">
            <a:avLst/>
          </a:prstGeom>
        </p:spPr>
      </p:pic>
      <p:grpSp>
        <p:nvGrpSpPr>
          <p:cNvPr id="27" name="object 33">
            <a:extLst>
              <a:ext uri="{FF2B5EF4-FFF2-40B4-BE49-F238E27FC236}">
                <a16:creationId xmlns:a16="http://schemas.microsoft.com/office/drawing/2014/main" id="{1FAA4139-D6A2-040D-04F0-28B0697462CF}"/>
              </a:ext>
            </a:extLst>
          </p:cNvPr>
          <p:cNvGrpSpPr/>
          <p:nvPr/>
        </p:nvGrpSpPr>
        <p:grpSpPr>
          <a:xfrm rot="5400000">
            <a:off x="2927086" y="3527255"/>
            <a:ext cx="229905" cy="701481"/>
            <a:chOff x="4096511" y="7382256"/>
            <a:chExt cx="196850" cy="563880"/>
          </a:xfrm>
        </p:grpSpPr>
        <p:pic>
          <p:nvPicPr>
            <p:cNvPr id="28" name="object 34">
              <a:extLst>
                <a:ext uri="{FF2B5EF4-FFF2-40B4-BE49-F238E27FC236}">
                  <a16:creationId xmlns:a16="http://schemas.microsoft.com/office/drawing/2014/main" id="{AE7282B5-081F-A66D-DFCB-C49E7E279443}"/>
                </a:ext>
              </a:extLst>
            </p:cNvPr>
            <p:cNvPicPr/>
            <p:nvPr/>
          </p:nvPicPr>
          <p:blipFill>
            <a:blip r:embed="rId22" cstate="print"/>
            <a:stretch>
              <a:fillRect/>
            </a:stretch>
          </p:blipFill>
          <p:spPr>
            <a:xfrm>
              <a:off x="4155947" y="7616952"/>
              <a:ext cx="137160" cy="329183"/>
            </a:xfrm>
            <a:prstGeom prst="rect">
              <a:avLst/>
            </a:prstGeom>
          </p:spPr>
        </p:pic>
        <p:pic>
          <p:nvPicPr>
            <p:cNvPr id="29" name="object 35">
              <a:extLst>
                <a:ext uri="{FF2B5EF4-FFF2-40B4-BE49-F238E27FC236}">
                  <a16:creationId xmlns:a16="http://schemas.microsoft.com/office/drawing/2014/main" id="{A8C3C6C7-0660-DABB-F7C4-771EAFC4FBC7}"/>
                </a:ext>
              </a:extLst>
            </p:cNvPr>
            <p:cNvPicPr/>
            <p:nvPr/>
          </p:nvPicPr>
          <p:blipFill>
            <a:blip r:embed="rId23" cstate="print"/>
            <a:stretch>
              <a:fillRect/>
            </a:stretch>
          </p:blipFill>
          <p:spPr>
            <a:xfrm>
              <a:off x="4155947" y="7510272"/>
              <a:ext cx="135636" cy="73152"/>
            </a:xfrm>
            <a:prstGeom prst="rect">
              <a:avLst/>
            </a:prstGeom>
          </p:spPr>
        </p:pic>
        <p:pic>
          <p:nvPicPr>
            <p:cNvPr id="30" name="object 36">
              <a:extLst>
                <a:ext uri="{FF2B5EF4-FFF2-40B4-BE49-F238E27FC236}">
                  <a16:creationId xmlns:a16="http://schemas.microsoft.com/office/drawing/2014/main" id="{11485C98-D35B-88B1-FBCC-54DC6E459F82}"/>
                </a:ext>
              </a:extLst>
            </p:cNvPr>
            <p:cNvPicPr/>
            <p:nvPr/>
          </p:nvPicPr>
          <p:blipFill>
            <a:blip r:embed="rId24" cstate="print"/>
            <a:stretch>
              <a:fillRect/>
            </a:stretch>
          </p:blipFill>
          <p:spPr>
            <a:xfrm>
              <a:off x="4096511" y="7382256"/>
              <a:ext cx="195072" cy="102108"/>
            </a:xfrm>
            <a:prstGeom prst="rect">
              <a:avLst/>
            </a:prstGeom>
          </p:spPr>
        </p:pic>
      </p:grpSp>
      <p:grpSp>
        <p:nvGrpSpPr>
          <p:cNvPr id="31" name="object 38">
            <a:extLst>
              <a:ext uri="{FF2B5EF4-FFF2-40B4-BE49-F238E27FC236}">
                <a16:creationId xmlns:a16="http://schemas.microsoft.com/office/drawing/2014/main" id="{4DF8E5F0-3C2B-C481-5445-7AD28E9BB59F}"/>
              </a:ext>
            </a:extLst>
          </p:cNvPr>
          <p:cNvGrpSpPr/>
          <p:nvPr/>
        </p:nvGrpSpPr>
        <p:grpSpPr>
          <a:xfrm rot="5400000">
            <a:off x="2084172" y="3400682"/>
            <a:ext cx="284787" cy="1888785"/>
            <a:chOff x="4472939" y="7560564"/>
            <a:chExt cx="243840" cy="1518285"/>
          </a:xfrm>
        </p:grpSpPr>
        <p:pic>
          <p:nvPicPr>
            <p:cNvPr id="32" name="object 39">
              <a:extLst>
                <a:ext uri="{FF2B5EF4-FFF2-40B4-BE49-F238E27FC236}">
                  <a16:creationId xmlns:a16="http://schemas.microsoft.com/office/drawing/2014/main" id="{8CFAC97D-A693-68FB-872C-0489CAAC1C29}"/>
                </a:ext>
              </a:extLst>
            </p:cNvPr>
            <p:cNvPicPr/>
            <p:nvPr/>
          </p:nvPicPr>
          <p:blipFill>
            <a:blip r:embed="rId25" cstate="print"/>
            <a:stretch>
              <a:fillRect/>
            </a:stretch>
          </p:blipFill>
          <p:spPr>
            <a:xfrm>
              <a:off x="4472939" y="8043671"/>
              <a:ext cx="195072" cy="1034796"/>
            </a:xfrm>
            <a:prstGeom prst="rect">
              <a:avLst/>
            </a:prstGeom>
          </p:spPr>
        </p:pic>
        <p:sp>
          <p:nvSpPr>
            <p:cNvPr id="33" name="object 40">
              <a:extLst>
                <a:ext uri="{FF2B5EF4-FFF2-40B4-BE49-F238E27FC236}">
                  <a16:creationId xmlns:a16="http://schemas.microsoft.com/office/drawing/2014/main" id="{2D4BB7C8-A6A4-35D2-1159-F31945D9EAB0}"/>
                </a:ext>
              </a:extLst>
            </p:cNvPr>
            <p:cNvSpPr/>
            <p:nvPr/>
          </p:nvSpPr>
          <p:spPr>
            <a:xfrm>
              <a:off x="4472939" y="7987283"/>
              <a:ext cx="193675" cy="22860"/>
            </a:xfrm>
            <a:custGeom>
              <a:avLst/>
              <a:gdLst/>
              <a:ahLst/>
              <a:cxnLst/>
              <a:rect l="l" t="t" r="r" b="b"/>
              <a:pathLst>
                <a:path w="193675" h="22859">
                  <a:moveTo>
                    <a:pt x="192024" y="22860"/>
                  </a:moveTo>
                  <a:lnTo>
                    <a:pt x="1524" y="22860"/>
                  </a:lnTo>
                  <a:lnTo>
                    <a:pt x="1524" y="19812"/>
                  </a:lnTo>
                  <a:lnTo>
                    <a:pt x="0" y="18288"/>
                  </a:lnTo>
                  <a:lnTo>
                    <a:pt x="0" y="4572"/>
                  </a:lnTo>
                  <a:lnTo>
                    <a:pt x="1524" y="3048"/>
                  </a:lnTo>
                  <a:lnTo>
                    <a:pt x="1524" y="1524"/>
                  </a:lnTo>
                  <a:lnTo>
                    <a:pt x="3048" y="1524"/>
                  </a:lnTo>
                  <a:lnTo>
                    <a:pt x="3048" y="0"/>
                  </a:lnTo>
                  <a:lnTo>
                    <a:pt x="190500" y="0"/>
                  </a:lnTo>
                  <a:lnTo>
                    <a:pt x="192024" y="1524"/>
                  </a:lnTo>
                  <a:lnTo>
                    <a:pt x="192024" y="3048"/>
                  </a:lnTo>
                  <a:lnTo>
                    <a:pt x="193548" y="3048"/>
                  </a:lnTo>
                  <a:lnTo>
                    <a:pt x="193548" y="19812"/>
                  </a:lnTo>
                  <a:lnTo>
                    <a:pt x="192024" y="21336"/>
                  </a:lnTo>
                  <a:lnTo>
                    <a:pt x="192024" y="22860"/>
                  </a:lnTo>
                  <a:close/>
                </a:path>
              </a:pathLst>
            </a:custGeom>
            <a:solidFill>
              <a:srgbClr val="000000"/>
            </a:solidFill>
          </p:spPr>
          <p:txBody>
            <a:bodyPr wrap="square" lIns="0" tIns="0" rIns="0" bIns="0" rtlCol="0"/>
            <a:lstStyle/>
            <a:p>
              <a:endParaRPr/>
            </a:p>
          </p:txBody>
        </p:sp>
        <p:pic>
          <p:nvPicPr>
            <p:cNvPr id="34" name="object 41">
              <a:extLst>
                <a:ext uri="{FF2B5EF4-FFF2-40B4-BE49-F238E27FC236}">
                  <a16:creationId xmlns:a16="http://schemas.microsoft.com/office/drawing/2014/main" id="{6746179C-2F54-C486-8AB4-F938A8222702}"/>
                </a:ext>
              </a:extLst>
            </p:cNvPr>
            <p:cNvPicPr/>
            <p:nvPr/>
          </p:nvPicPr>
          <p:blipFill>
            <a:blip r:embed="rId26" cstate="print"/>
            <a:stretch>
              <a:fillRect/>
            </a:stretch>
          </p:blipFill>
          <p:spPr>
            <a:xfrm>
              <a:off x="4532375" y="7828788"/>
              <a:ext cx="135636" cy="124968"/>
            </a:xfrm>
            <a:prstGeom prst="rect">
              <a:avLst/>
            </a:prstGeom>
          </p:spPr>
        </p:pic>
        <p:pic>
          <p:nvPicPr>
            <p:cNvPr id="35" name="object 42">
              <a:extLst>
                <a:ext uri="{FF2B5EF4-FFF2-40B4-BE49-F238E27FC236}">
                  <a16:creationId xmlns:a16="http://schemas.microsoft.com/office/drawing/2014/main" id="{B8746947-05A7-80D8-28AF-286F53B4BA3D}"/>
                </a:ext>
              </a:extLst>
            </p:cNvPr>
            <p:cNvPicPr/>
            <p:nvPr/>
          </p:nvPicPr>
          <p:blipFill>
            <a:blip r:embed="rId27" cstate="print"/>
            <a:stretch>
              <a:fillRect/>
            </a:stretch>
          </p:blipFill>
          <p:spPr>
            <a:xfrm>
              <a:off x="4532375" y="7560564"/>
              <a:ext cx="184403" cy="248411"/>
            </a:xfrm>
            <a:prstGeom prst="rect">
              <a:avLst/>
            </a:prstGeom>
          </p:spPr>
        </p:pic>
      </p:grpSp>
      <p:grpSp>
        <p:nvGrpSpPr>
          <p:cNvPr id="36" name="object 44">
            <a:extLst>
              <a:ext uri="{FF2B5EF4-FFF2-40B4-BE49-F238E27FC236}">
                <a16:creationId xmlns:a16="http://schemas.microsoft.com/office/drawing/2014/main" id="{1196C4DF-F7C4-9289-C980-87BA96E24B6C}"/>
              </a:ext>
            </a:extLst>
          </p:cNvPr>
          <p:cNvGrpSpPr/>
          <p:nvPr/>
        </p:nvGrpSpPr>
        <p:grpSpPr>
          <a:xfrm rot="5400000">
            <a:off x="1983724" y="3916601"/>
            <a:ext cx="283302" cy="1734744"/>
            <a:chOff x="4849367" y="7703819"/>
            <a:chExt cx="242570" cy="1394460"/>
          </a:xfrm>
        </p:grpSpPr>
        <p:pic>
          <p:nvPicPr>
            <p:cNvPr id="37" name="object 45">
              <a:extLst>
                <a:ext uri="{FF2B5EF4-FFF2-40B4-BE49-F238E27FC236}">
                  <a16:creationId xmlns:a16="http://schemas.microsoft.com/office/drawing/2014/main" id="{B9BFFC11-7933-062C-7152-249D637D107A}"/>
                </a:ext>
              </a:extLst>
            </p:cNvPr>
            <p:cNvPicPr/>
            <p:nvPr/>
          </p:nvPicPr>
          <p:blipFill>
            <a:blip r:embed="rId28" cstate="print"/>
            <a:stretch>
              <a:fillRect/>
            </a:stretch>
          </p:blipFill>
          <p:spPr>
            <a:xfrm>
              <a:off x="4861559" y="8942831"/>
              <a:ext cx="181356" cy="155448"/>
            </a:xfrm>
            <a:prstGeom prst="rect">
              <a:avLst/>
            </a:prstGeom>
          </p:spPr>
        </p:pic>
        <p:pic>
          <p:nvPicPr>
            <p:cNvPr id="38" name="object 46">
              <a:extLst>
                <a:ext uri="{FF2B5EF4-FFF2-40B4-BE49-F238E27FC236}">
                  <a16:creationId xmlns:a16="http://schemas.microsoft.com/office/drawing/2014/main" id="{8E18DCCB-BB8A-B8E0-9487-3F7D1CE1512B}"/>
                </a:ext>
              </a:extLst>
            </p:cNvPr>
            <p:cNvPicPr/>
            <p:nvPr/>
          </p:nvPicPr>
          <p:blipFill>
            <a:blip r:embed="rId29" cstate="print"/>
            <a:stretch>
              <a:fillRect/>
            </a:stretch>
          </p:blipFill>
          <p:spPr>
            <a:xfrm>
              <a:off x="4907280" y="8802623"/>
              <a:ext cx="184404" cy="114300"/>
            </a:xfrm>
            <a:prstGeom prst="rect">
              <a:avLst/>
            </a:prstGeom>
          </p:spPr>
        </p:pic>
        <p:pic>
          <p:nvPicPr>
            <p:cNvPr id="39" name="object 47">
              <a:extLst>
                <a:ext uri="{FF2B5EF4-FFF2-40B4-BE49-F238E27FC236}">
                  <a16:creationId xmlns:a16="http://schemas.microsoft.com/office/drawing/2014/main" id="{0A2F5A19-65F8-05EE-CB34-1E14DC12763C}"/>
                </a:ext>
              </a:extLst>
            </p:cNvPr>
            <p:cNvPicPr/>
            <p:nvPr/>
          </p:nvPicPr>
          <p:blipFill>
            <a:blip r:embed="rId30" cstate="print"/>
            <a:stretch>
              <a:fillRect/>
            </a:stretch>
          </p:blipFill>
          <p:spPr>
            <a:xfrm>
              <a:off x="4907280" y="8654819"/>
              <a:ext cx="184404" cy="114276"/>
            </a:xfrm>
            <a:prstGeom prst="rect">
              <a:avLst/>
            </a:prstGeom>
          </p:spPr>
        </p:pic>
        <p:pic>
          <p:nvPicPr>
            <p:cNvPr id="40" name="object 48">
              <a:extLst>
                <a:ext uri="{FF2B5EF4-FFF2-40B4-BE49-F238E27FC236}">
                  <a16:creationId xmlns:a16="http://schemas.microsoft.com/office/drawing/2014/main" id="{A58C4BE8-CCDB-856D-B11A-14256426B334}"/>
                </a:ext>
              </a:extLst>
            </p:cNvPr>
            <p:cNvPicPr/>
            <p:nvPr/>
          </p:nvPicPr>
          <p:blipFill>
            <a:blip r:embed="rId31" cstate="print"/>
            <a:stretch>
              <a:fillRect/>
            </a:stretch>
          </p:blipFill>
          <p:spPr>
            <a:xfrm>
              <a:off x="4849367" y="7703819"/>
              <a:ext cx="195072" cy="917447"/>
            </a:xfrm>
            <a:prstGeom prst="rect">
              <a:avLst/>
            </a:prstGeom>
          </p:spPr>
        </p:pic>
      </p:grpSp>
      <p:pic>
        <p:nvPicPr>
          <p:cNvPr id="41" name="object 49">
            <a:extLst>
              <a:ext uri="{FF2B5EF4-FFF2-40B4-BE49-F238E27FC236}">
                <a16:creationId xmlns:a16="http://schemas.microsoft.com/office/drawing/2014/main" id="{8E657045-54DC-8E64-E0C7-D899BEA00C4A}"/>
              </a:ext>
            </a:extLst>
          </p:cNvPr>
          <p:cNvPicPr/>
          <p:nvPr/>
        </p:nvPicPr>
        <p:blipFill>
          <a:blip r:embed="rId32" cstate="print"/>
          <a:stretch>
            <a:fillRect/>
          </a:stretch>
        </p:blipFill>
        <p:spPr>
          <a:xfrm rot="5400000">
            <a:off x="3124410" y="4615052"/>
            <a:ext cx="229607" cy="280592"/>
          </a:xfrm>
          <a:prstGeom prst="rect">
            <a:avLst/>
          </a:prstGeom>
        </p:spPr>
      </p:pic>
      <p:grpSp>
        <p:nvGrpSpPr>
          <p:cNvPr id="42" name="object 50">
            <a:extLst>
              <a:ext uri="{FF2B5EF4-FFF2-40B4-BE49-F238E27FC236}">
                <a16:creationId xmlns:a16="http://schemas.microsoft.com/office/drawing/2014/main" id="{E17E9DC4-E697-B8A2-5E69-DCC638FBBCAF}"/>
              </a:ext>
            </a:extLst>
          </p:cNvPr>
          <p:cNvGrpSpPr/>
          <p:nvPr/>
        </p:nvGrpSpPr>
        <p:grpSpPr>
          <a:xfrm rot="5400000">
            <a:off x="3575038" y="4527840"/>
            <a:ext cx="228422" cy="457385"/>
            <a:chOff x="4849368" y="6960107"/>
            <a:chExt cx="195580" cy="367665"/>
          </a:xfrm>
        </p:grpSpPr>
        <p:pic>
          <p:nvPicPr>
            <p:cNvPr id="43" name="object 51">
              <a:extLst>
                <a:ext uri="{FF2B5EF4-FFF2-40B4-BE49-F238E27FC236}">
                  <a16:creationId xmlns:a16="http://schemas.microsoft.com/office/drawing/2014/main" id="{506DEBCE-E4C0-FE36-859D-97C1155463BF}"/>
                </a:ext>
              </a:extLst>
            </p:cNvPr>
            <p:cNvPicPr/>
            <p:nvPr/>
          </p:nvPicPr>
          <p:blipFill>
            <a:blip r:embed="rId33" cstate="print"/>
            <a:stretch>
              <a:fillRect/>
            </a:stretch>
          </p:blipFill>
          <p:spPr>
            <a:xfrm>
              <a:off x="4876800" y="7245096"/>
              <a:ext cx="167640" cy="82296"/>
            </a:xfrm>
            <a:prstGeom prst="rect">
              <a:avLst/>
            </a:prstGeom>
          </p:spPr>
        </p:pic>
        <p:pic>
          <p:nvPicPr>
            <p:cNvPr id="44" name="object 52">
              <a:extLst>
                <a:ext uri="{FF2B5EF4-FFF2-40B4-BE49-F238E27FC236}">
                  <a16:creationId xmlns:a16="http://schemas.microsoft.com/office/drawing/2014/main" id="{8F9F3231-3EA1-246D-8DEF-660B26113265}"/>
                </a:ext>
              </a:extLst>
            </p:cNvPr>
            <p:cNvPicPr/>
            <p:nvPr/>
          </p:nvPicPr>
          <p:blipFill>
            <a:blip r:embed="rId34" cstate="print"/>
            <a:stretch>
              <a:fillRect/>
            </a:stretch>
          </p:blipFill>
          <p:spPr>
            <a:xfrm>
              <a:off x="4849368" y="7107935"/>
              <a:ext cx="193548" cy="106680"/>
            </a:xfrm>
            <a:prstGeom prst="rect">
              <a:avLst/>
            </a:prstGeom>
          </p:spPr>
        </p:pic>
        <p:pic>
          <p:nvPicPr>
            <p:cNvPr id="45" name="object 53">
              <a:extLst>
                <a:ext uri="{FF2B5EF4-FFF2-40B4-BE49-F238E27FC236}">
                  <a16:creationId xmlns:a16="http://schemas.microsoft.com/office/drawing/2014/main" id="{92092F75-4D2C-7ABE-F195-CC2563099C3B}"/>
                </a:ext>
              </a:extLst>
            </p:cNvPr>
            <p:cNvPicPr/>
            <p:nvPr/>
          </p:nvPicPr>
          <p:blipFill>
            <a:blip r:embed="rId35" cstate="print"/>
            <a:stretch>
              <a:fillRect/>
            </a:stretch>
          </p:blipFill>
          <p:spPr>
            <a:xfrm>
              <a:off x="4907280" y="6960107"/>
              <a:ext cx="137160" cy="114300"/>
            </a:xfrm>
            <a:prstGeom prst="rect">
              <a:avLst/>
            </a:prstGeom>
          </p:spPr>
        </p:pic>
      </p:grpSp>
      <p:pic>
        <p:nvPicPr>
          <p:cNvPr id="46" name="object 54">
            <a:extLst>
              <a:ext uri="{FF2B5EF4-FFF2-40B4-BE49-F238E27FC236}">
                <a16:creationId xmlns:a16="http://schemas.microsoft.com/office/drawing/2014/main" id="{61E0EBE7-9402-651B-543F-457D4E4D20A4}"/>
              </a:ext>
            </a:extLst>
          </p:cNvPr>
          <p:cNvPicPr/>
          <p:nvPr/>
        </p:nvPicPr>
        <p:blipFill>
          <a:blip r:embed="rId36" cstate="print"/>
          <a:stretch>
            <a:fillRect/>
          </a:stretch>
        </p:blipFill>
        <p:spPr>
          <a:xfrm rot="5400000">
            <a:off x="4547123" y="4132585"/>
            <a:ext cx="283006" cy="1302480"/>
          </a:xfrm>
          <a:prstGeom prst="rect">
            <a:avLst/>
          </a:prstGeom>
        </p:spPr>
      </p:pic>
      <p:grpSp>
        <p:nvGrpSpPr>
          <p:cNvPr id="47" name="object 55">
            <a:extLst>
              <a:ext uri="{FF2B5EF4-FFF2-40B4-BE49-F238E27FC236}">
                <a16:creationId xmlns:a16="http://schemas.microsoft.com/office/drawing/2014/main" id="{3E0696B9-85AE-6461-280E-4272ED8A8BA4}"/>
              </a:ext>
            </a:extLst>
          </p:cNvPr>
          <p:cNvGrpSpPr/>
          <p:nvPr/>
        </p:nvGrpSpPr>
        <p:grpSpPr>
          <a:xfrm rot="5400000">
            <a:off x="5688253" y="4405791"/>
            <a:ext cx="228422" cy="701481"/>
            <a:chOff x="4849367" y="5163311"/>
            <a:chExt cx="195580" cy="563880"/>
          </a:xfrm>
        </p:grpSpPr>
        <p:pic>
          <p:nvPicPr>
            <p:cNvPr id="48" name="object 56">
              <a:extLst>
                <a:ext uri="{FF2B5EF4-FFF2-40B4-BE49-F238E27FC236}">
                  <a16:creationId xmlns:a16="http://schemas.microsoft.com/office/drawing/2014/main" id="{289ABB50-D464-9FBE-EB61-289C908E88A9}"/>
                </a:ext>
              </a:extLst>
            </p:cNvPr>
            <p:cNvPicPr/>
            <p:nvPr/>
          </p:nvPicPr>
          <p:blipFill>
            <a:blip r:embed="rId37" cstate="print"/>
            <a:stretch>
              <a:fillRect/>
            </a:stretch>
          </p:blipFill>
          <p:spPr>
            <a:xfrm>
              <a:off x="4907279" y="5398007"/>
              <a:ext cx="137160" cy="329183"/>
            </a:xfrm>
            <a:prstGeom prst="rect">
              <a:avLst/>
            </a:prstGeom>
          </p:spPr>
        </p:pic>
        <p:pic>
          <p:nvPicPr>
            <p:cNvPr id="49" name="object 57">
              <a:extLst>
                <a:ext uri="{FF2B5EF4-FFF2-40B4-BE49-F238E27FC236}">
                  <a16:creationId xmlns:a16="http://schemas.microsoft.com/office/drawing/2014/main" id="{309C7C82-71B8-92C4-65AD-AAB8B4948895}"/>
                </a:ext>
              </a:extLst>
            </p:cNvPr>
            <p:cNvPicPr/>
            <p:nvPr/>
          </p:nvPicPr>
          <p:blipFill>
            <a:blip r:embed="rId38" cstate="print"/>
            <a:stretch>
              <a:fillRect/>
            </a:stretch>
          </p:blipFill>
          <p:spPr>
            <a:xfrm>
              <a:off x="4907279" y="5291327"/>
              <a:ext cx="135636" cy="73152"/>
            </a:xfrm>
            <a:prstGeom prst="rect">
              <a:avLst/>
            </a:prstGeom>
          </p:spPr>
        </p:pic>
        <p:pic>
          <p:nvPicPr>
            <p:cNvPr id="50" name="object 58">
              <a:extLst>
                <a:ext uri="{FF2B5EF4-FFF2-40B4-BE49-F238E27FC236}">
                  <a16:creationId xmlns:a16="http://schemas.microsoft.com/office/drawing/2014/main" id="{6CDA7CD2-28F9-BD5E-A156-709566B9C4EC}"/>
                </a:ext>
              </a:extLst>
            </p:cNvPr>
            <p:cNvPicPr/>
            <p:nvPr/>
          </p:nvPicPr>
          <p:blipFill>
            <a:blip r:embed="rId39" cstate="print"/>
            <a:stretch>
              <a:fillRect/>
            </a:stretch>
          </p:blipFill>
          <p:spPr>
            <a:xfrm>
              <a:off x="4849367" y="5163311"/>
              <a:ext cx="193548" cy="102108"/>
            </a:xfrm>
            <a:prstGeom prst="rect">
              <a:avLst/>
            </a:prstGeom>
          </p:spPr>
        </p:pic>
      </p:grpSp>
      <p:pic>
        <p:nvPicPr>
          <p:cNvPr id="51" name="object 60">
            <a:extLst>
              <a:ext uri="{FF2B5EF4-FFF2-40B4-BE49-F238E27FC236}">
                <a16:creationId xmlns:a16="http://schemas.microsoft.com/office/drawing/2014/main" id="{C43C28DE-8DB6-FE8F-C770-2A58900B7F8E}"/>
              </a:ext>
            </a:extLst>
          </p:cNvPr>
          <p:cNvPicPr/>
          <p:nvPr/>
        </p:nvPicPr>
        <p:blipFill>
          <a:blip r:embed="rId40" cstate="print"/>
          <a:stretch>
            <a:fillRect/>
          </a:stretch>
        </p:blipFill>
        <p:spPr>
          <a:xfrm rot="5400000">
            <a:off x="1936572" y="4416546"/>
            <a:ext cx="227828" cy="1562217"/>
          </a:xfrm>
          <a:prstGeom prst="rect">
            <a:avLst/>
          </a:prstGeom>
        </p:spPr>
      </p:pic>
      <p:pic>
        <p:nvPicPr>
          <p:cNvPr id="52" name="object 61">
            <a:extLst>
              <a:ext uri="{FF2B5EF4-FFF2-40B4-BE49-F238E27FC236}">
                <a16:creationId xmlns:a16="http://schemas.microsoft.com/office/drawing/2014/main" id="{C54CA78A-0C1F-5B94-1C61-27A6B1670290}"/>
              </a:ext>
            </a:extLst>
          </p:cNvPr>
          <p:cNvPicPr/>
          <p:nvPr/>
        </p:nvPicPr>
        <p:blipFill>
          <a:blip r:embed="rId41" cstate="print"/>
          <a:stretch>
            <a:fillRect/>
          </a:stretch>
        </p:blipFill>
        <p:spPr>
          <a:xfrm rot="5400000">
            <a:off x="3487008" y="4562123"/>
            <a:ext cx="215370" cy="1283521"/>
          </a:xfrm>
          <a:prstGeom prst="rect">
            <a:avLst/>
          </a:prstGeom>
        </p:spPr>
      </p:pic>
      <p:pic>
        <p:nvPicPr>
          <p:cNvPr id="53" name="object 63">
            <a:extLst>
              <a:ext uri="{FF2B5EF4-FFF2-40B4-BE49-F238E27FC236}">
                <a16:creationId xmlns:a16="http://schemas.microsoft.com/office/drawing/2014/main" id="{60FFDC02-3E4F-7378-F151-540C71CB49A1}"/>
              </a:ext>
            </a:extLst>
          </p:cNvPr>
          <p:cNvPicPr/>
          <p:nvPr/>
        </p:nvPicPr>
        <p:blipFill>
          <a:blip r:embed="rId42" cstate="print"/>
          <a:stretch>
            <a:fillRect/>
          </a:stretch>
        </p:blipFill>
        <p:spPr>
          <a:xfrm rot="5400000">
            <a:off x="1908132" y="4870637"/>
            <a:ext cx="227828" cy="1526195"/>
          </a:xfrm>
          <a:prstGeom prst="rect">
            <a:avLst/>
          </a:prstGeom>
        </p:spPr>
      </p:pic>
      <p:sp>
        <p:nvSpPr>
          <p:cNvPr id="57" name="Footer Placeholder 56">
            <a:extLst>
              <a:ext uri="{FF2B5EF4-FFF2-40B4-BE49-F238E27FC236}">
                <a16:creationId xmlns:a16="http://schemas.microsoft.com/office/drawing/2014/main" id="{680CA915-8080-80DB-BEEB-58BE7D87B183}"/>
              </a:ext>
            </a:extLst>
          </p:cNvPr>
          <p:cNvSpPr>
            <a:spLocks noGrp="1"/>
          </p:cNvSpPr>
          <p:nvPr>
            <p:ph type="ftr" sz="quarter" idx="11"/>
          </p:nvPr>
        </p:nvSpPr>
        <p:spPr/>
        <p:txBody>
          <a:bodyPr/>
          <a:lstStyle/>
          <a:p>
            <a:r>
              <a:rPr lang="en-US" dirty="0"/>
              <a:t>PRO600 problem Statement Presentation by Faculty</a:t>
            </a:r>
            <a:endParaRPr lang="en-IN" dirty="0"/>
          </a:p>
        </p:txBody>
      </p:sp>
    </p:spTree>
    <p:extLst>
      <p:ext uri="{BB962C8B-B14F-4D97-AF65-F5344CB8AC3E}">
        <p14:creationId xmlns:p14="http://schemas.microsoft.com/office/powerpoint/2010/main" val="2201157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92E4FA1-5A7E-67AB-871F-586537CC9F1C}"/>
              </a:ext>
            </a:extLst>
          </p:cNvPr>
          <p:cNvSpPr>
            <a:spLocks noGrp="1"/>
          </p:cNvSpPr>
          <p:nvPr>
            <p:ph type="ftr" sz="quarter" idx="11"/>
          </p:nvPr>
        </p:nvSpPr>
        <p:spPr/>
        <p:txBody>
          <a:bodyPr/>
          <a:lstStyle/>
          <a:p>
            <a:r>
              <a:rPr lang="en-US"/>
              <a:t>PRO600 Publication Statement by Faculty</a:t>
            </a:r>
            <a:endParaRPr lang="en-IN"/>
          </a:p>
        </p:txBody>
      </p:sp>
      <p:sp>
        <p:nvSpPr>
          <p:cNvPr id="8" name="TextBox 7">
            <a:extLst>
              <a:ext uri="{FF2B5EF4-FFF2-40B4-BE49-F238E27FC236}">
                <a16:creationId xmlns:a16="http://schemas.microsoft.com/office/drawing/2014/main" id="{C7F9F366-A7D0-F6E1-1B31-98D36426557E}"/>
              </a:ext>
            </a:extLst>
          </p:cNvPr>
          <p:cNvSpPr txBox="1"/>
          <p:nvPr/>
        </p:nvSpPr>
        <p:spPr>
          <a:xfrm>
            <a:off x="641023" y="584462"/>
            <a:ext cx="6787299" cy="707886"/>
          </a:xfrm>
          <a:prstGeom prst="rect">
            <a:avLst/>
          </a:prstGeom>
          <a:noFill/>
        </p:spPr>
        <p:txBody>
          <a:bodyPr wrap="square" rtlCol="0">
            <a:spAutoFit/>
          </a:bodyPr>
          <a:lstStyle/>
          <a:p>
            <a:r>
              <a:rPr lang="en-US" sz="4000" dirty="0">
                <a:solidFill>
                  <a:srgbClr val="7030A0"/>
                </a:solidFill>
              </a:rPr>
              <a:t>Introduction</a:t>
            </a:r>
            <a:endParaRPr lang="en-IN" sz="4000" dirty="0">
              <a:solidFill>
                <a:srgbClr val="7030A0"/>
              </a:solidFill>
            </a:endParaRPr>
          </a:p>
        </p:txBody>
      </p:sp>
      <p:sp>
        <p:nvSpPr>
          <p:cNvPr id="5" name="TextBox 4">
            <a:extLst>
              <a:ext uri="{FF2B5EF4-FFF2-40B4-BE49-F238E27FC236}">
                <a16:creationId xmlns:a16="http://schemas.microsoft.com/office/drawing/2014/main" id="{B2716F07-0860-750D-6481-7AA2C376C9D2}"/>
              </a:ext>
            </a:extLst>
          </p:cNvPr>
          <p:cNvSpPr txBox="1"/>
          <p:nvPr/>
        </p:nvSpPr>
        <p:spPr>
          <a:xfrm>
            <a:off x="812800" y="1536893"/>
            <a:ext cx="10532534" cy="4199611"/>
          </a:xfrm>
          <a:prstGeom prst="rect">
            <a:avLst/>
          </a:prstGeom>
          <a:noFill/>
        </p:spPr>
        <p:txBody>
          <a:bodyPr wrap="square">
            <a:spAutoFit/>
          </a:bodyPr>
          <a:lstStyle/>
          <a:p>
            <a:pPr algn="just">
              <a:lnSpc>
                <a:spcPct val="150000"/>
              </a:lnSpc>
            </a:pPr>
            <a:r>
              <a:rPr lang="en-US" sz="2000" dirty="0"/>
              <a:t>	Programming environments are traditionally designed around intensive keyboard and mouse usage, which creates accessibility barriers for developers with physical or motor impairments. Although assistive technologies such as screen readers and voice typing exist, they provide limited support for programming-specific tasks such as code generation, editing, navigation, and execution. The proposed </a:t>
            </a:r>
            <a:r>
              <a:rPr lang="en-US" sz="2000" b="1" dirty="0"/>
              <a:t>AI-Based Voice-Driven Coding Assistant</a:t>
            </a:r>
            <a:r>
              <a:rPr lang="en-US" sz="2000" dirty="0"/>
              <a:t> is a Visual Studio Code extension that enables hands-free coding through natural voice commands. By integrating speech-to-text processing with artificial intelligence–based intent interpretation, the system allows users to write, modify, navigate, and execute code using voice interaction. This approach promotes inclusive and accessible software development while preserving professional IDE workflows.</a:t>
            </a:r>
            <a:endParaRPr lang="en-IN" sz="2000" dirty="0"/>
          </a:p>
        </p:txBody>
      </p:sp>
    </p:spTree>
    <p:extLst>
      <p:ext uri="{BB962C8B-B14F-4D97-AF65-F5344CB8AC3E}">
        <p14:creationId xmlns:p14="http://schemas.microsoft.com/office/powerpoint/2010/main" val="2266592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5">
            <a:extLst>
              <a:ext uri="{FF2B5EF4-FFF2-40B4-BE49-F238E27FC236}">
                <a16:creationId xmlns:a16="http://schemas.microsoft.com/office/drawing/2014/main" id="{3FCF8548-7D39-85B1-0010-E833D651D73E}"/>
              </a:ext>
            </a:extLst>
          </p:cNvPr>
          <p:cNvGraphicFramePr>
            <a:graphicFrameLocks noGrp="1"/>
          </p:cNvGraphicFramePr>
          <p:nvPr>
            <p:extLst>
              <p:ext uri="{D42A27DB-BD31-4B8C-83A1-F6EECF244321}">
                <p14:modId xmlns:p14="http://schemas.microsoft.com/office/powerpoint/2010/main" val="2387592545"/>
              </p:ext>
            </p:extLst>
          </p:nvPr>
        </p:nvGraphicFramePr>
        <p:xfrm>
          <a:off x="750160" y="1597892"/>
          <a:ext cx="10592094" cy="4160520"/>
        </p:xfrm>
        <a:graphic>
          <a:graphicData uri="http://schemas.openxmlformats.org/drawingml/2006/table">
            <a:tbl>
              <a:tblPr firstRow="1" bandRow="1">
                <a:tableStyleId>{2D5ABB26-0587-4C30-8999-92F81FD0307C}</a:tableStyleId>
              </a:tblPr>
              <a:tblGrid>
                <a:gridCol w="4569985">
                  <a:extLst>
                    <a:ext uri="{9D8B030D-6E8A-4147-A177-3AD203B41FA5}">
                      <a16:colId xmlns:a16="http://schemas.microsoft.com/office/drawing/2014/main" val="584953370"/>
                    </a:ext>
                  </a:extLst>
                </a:gridCol>
                <a:gridCol w="6022109">
                  <a:extLst>
                    <a:ext uri="{9D8B030D-6E8A-4147-A177-3AD203B41FA5}">
                      <a16:colId xmlns:a16="http://schemas.microsoft.com/office/drawing/2014/main" val="3532460066"/>
                    </a:ext>
                  </a:extLst>
                </a:gridCol>
              </a:tblGrid>
              <a:tr h="268074">
                <a:tc>
                  <a:txBody>
                    <a:bodyPr/>
                    <a:lstStyle/>
                    <a:p>
                      <a:r>
                        <a:rPr lang="en-US" sz="1500" b="1" dirty="0">
                          <a:latin typeface="+mn-lt"/>
                          <a:cs typeface="Times New Roman" panose="02020603050405020304" pitchFamily="18" charset="0"/>
                        </a:rPr>
                        <a:t>Category </a:t>
                      </a:r>
                      <a:endParaRPr lang="en-IN" sz="1500" b="1"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latin typeface="+mn-lt"/>
                          <a:cs typeface="Times New Roman" panose="02020603050405020304" pitchFamily="18" charset="0"/>
                        </a:rPr>
                        <a:t> </a:t>
                      </a:r>
                      <a:r>
                        <a:rPr lang="en-US" sz="1500" b="1" dirty="0">
                          <a:latin typeface="+mn-lt"/>
                          <a:cs typeface="Times New Roman" panose="02020603050405020304" pitchFamily="18" charset="0"/>
                        </a:rPr>
                        <a:t>Base Document Required </a:t>
                      </a:r>
                      <a:endParaRPr lang="en-IN" sz="1500" b="1"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5630222"/>
                  </a:ext>
                </a:extLst>
              </a:tr>
              <a:tr h="1822636">
                <a:tc>
                  <a:txBody>
                    <a:bodyPr/>
                    <a:lstStyle/>
                    <a:p>
                      <a:r>
                        <a:rPr lang="en-US" sz="1500" b="1" dirty="0">
                          <a:latin typeface="+mn-lt"/>
                          <a:cs typeface="Times New Roman" panose="02020603050405020304" pitchFamily="18" charset="0"/>
                        </a:rPr>
                        <a:t>Publication Category</a:t>
                      </a:r>
                      <a:endParaRPr lang="en-IN" sz="1500" b="1"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500" dirty="0">
                          <a:latin typeface="+mn-lt"/>
                        </a:rPr>
                        <a:t>• </a:t>
                      </a:r>
                      <a:r>
                        <a:rPr lang="en-IN" sz="1500" i="1" dirty="0">
                          <a:latin typeface="+mn-lt"/>
                        </a:rPr>
                        <a:t>Voice-Based Programming for Developers with Motor Disabilities</a:t>
                      </a:r>
                      <a:r>
                        <a:rPr lang="en-IN" sz="1500" dirty="0">
                          <a:latin typeface="+mn-lt"/>
                        </a:rPr>
                        <a:t>, IEEE Access, 2023</a:t>
                      </a:r>
                      <a:br>
                        <a:rPr lang="en-IN" sz="1500" dirty="0">
                          <a:latin typeface="+mn-lt"/>
                        </a:rPr>
                      </a:br>
                      <a:r>
                        <a:rPr lang="en-IN" sz="1500" dirty="0">
                          <a:latin typeface="+mn-lt"/>
                        </a:rPr>
                        <a:t>• </a:t>
                      </a:r>
                      <a:r>
                        <a:rPr lang="en-IN" sz="1500" i="1" dirty="0">
                          <a:latin typeface="+mn-lt"/>
                        </a:rPr>
                        <a:t>Accessible Software Development Using Speech and AI Techniques</a:t>
                      </a:r>
                      <a:r>
                        <a:rPr lang="en-IN" sz="1500" dirty="0">
                          <a:latin typeface="+mn-lt"/>
                        </a:rPr>
                        <a:t>, IEEE Transactions on Human-Machine Systems, 2022</a:t>
                      </a:r>
                      <a:br>
                        <a:rPr lang="en-IN" sz="1500" dirty="0">
                          <a:latin typeface="+mn-lt"/>
                        </a:rPr>
                      </a:br>
                      <a:r>
                        <a:rPr lang="en-IN" sz="1500" dirty="0">
                          <a:latin typeface="+mn-lt"/>
                        </a:rPr>
                        <a:t>• </a:t>
                      </a:r>
                      <a:r>
                        <a:rPr lang="en-IN" sz="1500" i="1" dirty="0">
                          <a:latin typeface="+mn-lt"/>
                        </a:rPr>
                        <a:t>Natural Language Interfaces for Programming: A Survey</a:t>
                      </a:r>
                      <a:r>
                        <a:rPr lang="en-IN" sz="1500" dirty="0">
                          <a:latin typeface="+mn-lt"/>
                        </a:rPr>
                        <a:t>, ACM Computing Surveys, 2023</a:t>
                      </a:r>
                      <a:br>
                        <a:rPr lang="en-IN" sz="1500" dirty="0">
                          <a:latin typeface="+mn-lt"/>
                        </a:rPr>
                      </a:br>
                      <a:r>
                        <a:rPr lang="en-IN" sz="1500" dirty="0">
                          <a:latin typeface="+mn-lt"/>
                        </a:rPr>
                        <a:t>• </a:t>
                      </a:r>
                      <a:r>
                        <a:rPr lang="en-IN" sz="1500" i="1" dirty="0">
                          <a:latin typeface="+mn-lt"/>
                        </a:rPr>
                        <a:t>AI-Powered Developer Tools: Enhancing Productivity and Accessibility</a:t>
                      </a:r>
                      <a:r>
                        <a:rPr lang="en-IN" sz="1500" dirty="0">
                          <a:latin typeface="+mn-lt"/>
                        </a:rPr>
                        <a:t>, Microsoft Research Technical Report, 2022</a:t>
                      </a:r>
                      <a:endParaRPr lang="en-IN" sz="15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6003264"/>
                  </a:ext>
                </a:extLst>
              </a:tr>
              <a:tr h="1581637">
                <a:tc>
                  <a:txBody>
                    <a:bodyPr/>
                    <a:lstStyle/>
                    <a:p>
                      <a:r>
                        <a:rPr lang="en-US" sz="1500" b="1" dirty="0">
                          <a:latin typeface="+mn-lt"/>
                          <a:cs typeface="Times New Roman" panose="02020603050405020304" pitchFamily="18" charset="0"/>
                        </a:rPr>
                        <a:t>Patent Category</a:t>
                      </a:r>
                      <a:endParaRPr lang="en-IN" sz="1500" b="1"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dirty="0">
                          <a:latin typeface="+mn-lt"/>
                        </a:rPr>
                        <a:t>• </a:t>
                      </a:r>
                      <a:r>
                        <a:rPr lang="en-IN" sz="1500" i="1" dirty="0">
                          <a:latin typeface="+mn-lt"/>
                        </a:rPr>
                        <a:t>System and Method for Voice-Controlled Code Generation</a:t>
                      </a:r>
                      <a:r>
                        <a:rPr lang="en-IN" sz="1500" dirty="0">
                          <a:latin typeface="+mn-lt"/>
                        </a:rPr>
                        <a:t>, US Patent, 2023</a:t>
                      </a:r>
                      <a:br>
                        <a:rPr lang="en-IN" sz="1500" dirty="0">
                          <a:latin typeface="+mn-lt"/>
                        </a:rPr>
                      </a:br>
                      <a:r>
                        <a:rPr lang="en-IN" sz="1500" dirty="0">
                          <a:latin typeface="+mn-lt"/>
                        </a:rPr>
                        <a:t>• </a:t>
                      </a:r>
                      <a:r>
                        <a:rPr lang="en-IN" sz="1500" i="1" dirty="0">
                          <a:latin typeface="+mn-lt"/>
                        </a:rPr>
                        <a:t>Assistive Programming Interface Using Speech Recognition</a:t>
                      </a:r>
                      <a:r>
                        <a:rPr lang="en-IN" sz="1500" dirty="0">
                          <a:latin typeface="+mn-lt"/>
                        </a:rPr>
                        <a:t>, WIPO Patent, 2022</a:t>
                      </a:r>
                      <a:br>
                        <a:rPr lang="en-IN" sz="1500" dirty="0">
                          <a:latin typeface="+mn-lt"/>
                        </a:rPr>
                      </a:br>
                      <a:r>
                        <a:rPr lang="en-IN" sz="1500" dirty="0">
                          <a:latin typeface="+mn-lt"/>
                        </a:rPr>
                        <a:t>• </a:t>
                      </a:r>
                      <a:r>
                        <a:rPr lang="en-IN" sz="1500" i="1" dirty="0">
                          <a:latin typeface="+mn-lt"/>
                        </a:rPr>
                        <a:t>Voice-Driven Software Development Environment</a:t>
                      </a:r>
                      <a:r>
                        <a:rPr lang="en-IN" sz="1500" dirty="0">
                          <a:latin typeface="+mn-lt"/>
                        </a:rPr>
                        <a:t>, European Patent Office, 2023</a:t>
                      </a:r>
                      <a:br>
                        <a:rPr lang="en-IN" sz="1500" dirty="0">
                          <a:latin typeface="+mn-lt"/>
                        </a:rPr>
                      </a:br>
                      <a:r>
                        <a:rPr lang="en-IN" sz="1500" dirty="0">
                          <a:latin typeface="+mn-lt"/>
                        </a:rPr>
                        <a:t>• </a:t>
                      </a:r>
                      <a:r>
                        <a:rPr lang="en-IN" sz="1500" i="1" dirty="0">
                          <a:latin typeface="+mn-lt"/>
                        </a:rPr>
                        <a:t>Accessibility-Focused Programming Interfaces</a:t>
                      </a:r>
                      <a:r>
                        <a:rPr lang="en-IN" sz="1500" dirty="0">
                          <a:latin typeface="+mn-lt"/>
                        </a:rPr>
                        <a:t>, IEEE Q1 Journal Article,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1984910"/>
                  </a:ext>
                </a:extLst>
              </a:tr>
            </a:tbl>
          </a:graphicData>
        </a:graphic>
      </p:graphicFrame>
      <p:sp>
        <p:nvSpPr>
          <p:cNvPr id="2" name="Title 1"/>
          <p:cNvSpPr>
            <a:spLocks noGrp="1"/>
          </p:cNvSpPr>
          <p:nvPr>
            <p:ph type="title"/>
          </p:nvPr>
        </p:nvSpPr>
        <p:spPr>
          <a:xfrm>
            <a:off x="838200" y="365126"/>
            <a:ext cx="10515600" cy="1232766"/>
          </a:xfrm>
        </p:spPr>
        <p:txBody>
          <a:bodyPr>
            <a:normAutofit/>
          </a:bodyPr>
          <a:lstStyle/>
          <a:p>
            <a:br>
              <a:rPr lang="en-IN" sz="2000" dirty="0">
                <a:latin typeface="+mn-lt"/>
              </a:rPr>
            </a:br>
            <a:r>
              <a:rPr lang="en-IN" sz="2000" dirty="0">
                <a:latin typeface="+mn-lt"/>
              </a:rPr>
              <a:t>Inductive base documents for conducting research project</a:t>
            </a:r>
          </a:p>
        </p:txBody>
      </p:sp>
      <p:sp>
        <p:nvSpPr>
          <p:cNvPr id="101" name="Footer Placeholder 100">
            <a:extLst>
              <a:ext uri="{FF2B5EF4-FFF2-40B4-BE49-F238E27FC236}">
                <a16:creationId xmlns:a16="http://schemas.microsoft.com/office/drawing/2014/main" id="{B75AB437-003D-0501-970C-BCBE998B90A7}"/>
              </a:ext>
            </a:extLst>
          </p:cNvPr>
          <p:cNvSpPr>
            <a:spLocks noGrp="1"/>
          </p:cNvSpPr>
          <p:nvPr>
            <p:ph type="ftr" sz="quarter" idx="11"/>
          </p:nvPr>
        </p:nvSpPr>
        <p:spPr/>
        <p:txBody>
          <a:bodyPr/>
          <a:lstStyle/>
          <a:p>
            <a:r>
              <a:rPr lang="en-US"/>
              <a:t>PRO600 Publication Statement by Faculty</a:t>
            </a:r>
            <a:endParaRPr lang="en-IN"/>
          </a:p>
        </p:txBody>
      </p:sp>
      <p:sp>
        <p:nvSpPr>
          <p:cNvPr id="102" name="TextBox 101">
            <a:extLst>
              <a:ext uri="{FF2B5EF4-FFF2-40B4-BE49-F238E27FC236}">
                <a16:creationId xmlns:a16="http://schemas.microsoft.com/office/drawing/2014/main" id="{441AEF7C-2BB3-182D-9B51-10B5D19EB861}"/>
              </a:ext>
            </a:extLst>
          </p:cNvPr>
          <p:cNvSpPr txBox="1"/>
          <p:nvPr/>
        </p:nvSpPr>
        <p:spPr>
          <a:xfrm>
            <a:off x="750160" y="365125"/>
            <a:ext cx="4759392" cy="523220"/>
          </a:xfrm>
          <a:prstGeom prst="rect">
            <a:avLst/>
          </a:prstGeom>
          <a:noFill/>
        </p:spPr>
        <p:txBody>
          <a:bodyPr wrap="square" rtlCol="0">
            <a:spAutoFit/>
          </a:bodyPr>
          <a:lstStyle/>
          <a:p>
            <a:r>
              <a:rPr lang="en-US" sz="2800" dirty="0">
                <a:solidFill>
                  <a:srgbClr val="7030A0"/>
                </a:solidFill>
              </a:rPr>
              <a:t>Literature survey</a:t>
            </a:r>
            <a:endParaRPr lang="en-IN" sz="2800" dirty="0">
              <a:solidFill>
                <a:srgbClr val="7030A0"/>
              </a:solidFill>
            </a:endParaRPr>
          </a:p>
        </p:txBody>
      </p:sp>
    </p:spTree>
    <p:extLst>
      <p:ext uri="{BB962C8B-B14F-4D97-AF65-F5344CB8AC3E}">
        <p14:creationId xmlns:p14="http://schemas.microsoft.com/office/powerpoint/2010/main" val="215140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0508AAE-E938-C5EA-31CE-A2FB3CD9CE16}"/>
              </a:ext>
            </a:extLst>
          </p:cNvPr>
          <p:cNvSpPr>
            <a:spLocks noGrp="1"/>
          </p:cNvSpPr>
          <p:nvPr>
            <p:ph type="ftr" sz="quarter" idx="11"/>
          </p:nvPr>
        </p:nvSpPr>
        <p:spPr/>
        <p:txBody>
          <a:bodyPr/>
          <a:lstStyle/>
          <a:p>
            <a:r>
              <a:rPr lang="en-US"/>
              <a:t>PRO600 Publication Statement by Faculty</a:t>
            </a:r>
            <a:endParaRPr lang="en-IN"/>
          </a:p>
        </p:txBody>
      </p:sp>
      <p:sp>
        <p:nvSpPr>
          <p:cNvPr id="11" name="TextBox 10">
            <a:extLst>
              <a:ext uri="{FF2B5EF4-FFF2-40B4-BE49-F238E27FC236}">
                <a16:creationId xmlns:a16="http://schemas.microsoft.com/office/drawing/2014/main" id="{D597C15B-7081-9887-62C8-A632720C2DAF}"/>
              </a:ext>
            </a:extLst>
          </p:cNvPr>
          <p:cNvSpPr txBox="1"/>
          <p:nvPr/>
        </p:nvSpPr>
        <p:spPr>
          <a:xfrm>
            <a:off x="605673" y="729733"/>
            <a:ext cx="6094428" cy="523220"/>
          </a:xfrm>
          <a:prstGeom prst="rect">
            <a:avLst/>
          </a:prstGeom>
          <a:noFill/>
        </p:spPr>
        <p:txBody>
          <a:bodyPr wrap="square">
            <a:spAutoFit/>
          </a:bodyPr>
          <a:lstStyle/>
          <a:p>
            <a:r>
              <a:rPr lang="en-US" sz="2800" dirty="0">
                <a:solidFill>
                  <a:srgbClr val="7030A0"/>
                </a:solidFill>
              </a:rPr>
              <a:t>Literature survey</a:t>
            </a:r>
            <a:endParaRPr lang="en-IN" sz="2800" dirty="0">
              <a:solidFill>
                <a:srgbClr val="7030A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160450225"/>
              </p:ext>
            </p:extLst>
          </p:nvPr>
        </p:nvGraphicFramePr>
        <p:xfrm>
          <a:off x="1265385" y="1431637"/>
          <a:ext cx="9790543" cy="4750216"/>
        </p:xfrm>
        <a:graphic>
          <a:graphicData uri="http://schemas.openxmlformats.org/drawingml/2006/table">
            <a:tbl>
              <a:tblPr/>
              <a:tblGrid>
                <a:gridCol w="1398649">
                  <a:extLst>
                    <a:ext uri="{9D8B030D-6E8A-4147-A177-3AD203B41FA5}">
                      <a16:colId xmlns:a16="http://schemas.microsoft.com/office/drawing/2014/main" val="20000"/>
                    </a:ext>
                  </a:extLst>
                </a:gridCol>
                <a:gridCol w="1398649">
                  <a:extLst>
                    <a:ext uri="{9D8B030D-6E8A-4147-A177-3AD203B41FA5}">
                      <a16:colId xmlns:a16="http://schemas.microsoft.com/office/drawing/2014/main" val="20001"/>
                    </a:ext>
                  </a:extLst>
                </a:gridCol>
                <a:gridCol w="1398649">
                  <a:extLst>
                    <a:ext uri="{9D8B030D-6E8A-4147-A177-3AD203B41FA5}">
                      <a16:colId xmlns:a16="http://schemas.microsoft.com/office/drawing/2014/main" val="20002"/>
                    </a:ext>
                  </a:extLst>
                </a:gridCol>
                <a:gridCol w="1398649">
                  <a:extLst>
                    <a:ext uri="{9D8B030D-6E8A-4147-A177-3AD203B41FA5}">
                      <a16:colId xmlns:a16="http://schemas.microsoft.com/office/drawing/2014/main" val="20003"/>
                    </a:ext>
                  </a:extLst>
                </a:gridCol>
                <a:gridCol w="1398649">
                  <a:extLst>
                    <a:ext uri="{9D8B030D-6E8A-4147-A177-3AD203B41FA5}">
                      <a16:colId xmlns:a16="http://schemas.microsoft.com/office/drawing/2014/main" val="20004"/>
                    </a:ext>
                  </a:extLst>
                </a:gridCol>
                <a:gridCol w="1398649">
                  <a:extLst>
                    <a:ext uri="{9D8B030D-6E8A-4147-A177-3AD203B41FA5}">
                      <a16:colId xmlns:a16="http://schemas.microsoft.com/office/drawing/2014/main" val="20005"/>
                    </a:ext>
                  </a:extLst>
                </a:gridCol>
                <a:gridCol w="1398649">
                  <a:extLst>
                    <a:ext uri="{9D8B030D-6E8A-4147-A177-3AD203B41FA5}">
                      <a16:colId xmlns:a16="http://schemas.microsoft.com/office/drawing/2014/main" val="20006"/>
                    </a:ext>
                  </a:extLst>
                </a:gridCol>
              </a:tblGrid>
              <a:tr h="734393">
                <a:tc>
                  <a:txBody>
                    <a:bodyPr/>
                    <a:lstStyle/>
                    <a:p>
                      <a:r>
                        <a:rPr lang="en-IN" sz="1400" b="1" dirty="0"/>
                        <a:t>Feature / Parameter</a:t>
                      </a:r>
                      <a:endParaRPr lang="en-IN" sz="1400" dirty="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Base Document 1</a:t>
                      </a:r>
                      <a:endParaRPr lang="en-IN" sz="1400" dirty="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Base Document 2</a:t>
                      </a:r>
                      <a:endParaRPr lang="en-IN" sz="1400" dirty="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Base Document 3</a:t>
                      </a:r>
                      <a:endParaRPr lang="en-IN" sz="140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Base Document 4</a:t>
                      </a:r>
                      <a:endParaRPr lang="en-IN" sz="140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Observed Gap / Limitation</a:t>
                      </a:r>
                      <a:endParaRPr lang="en-IN" sz="140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Proposed Modification / Improvement</a:t>
                      </a:r>
                      <a:endParaRPr lang="en-IN" sz="1400"/>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34393">
                <a:tc>
                  <a:txBody>
                    <a:bodyPr/>
                    <a:lstStyle/>
                    <a:p>
                      <a:r>
                        <a:rPr lang="en-IN" sz="1400" dirty="0"/>
                        <a:t>Mode of Interaction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Voice-assisted coding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Voice + keyboard input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Speech-to-text programming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Text-based coding assistant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Voice not used as primary control</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Fully voice-driven coding workflow</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73343">
                <a:tc>
                  <a:txBody>
                    <a:bodyPr/>
                    <a:lstStyle/>
                    <a:p>
                      <a:r>
                        <a:rPr lang="en-IN" sz="1400"/>
                        <a:t>Accessibility Support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Partial support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General users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Limited disability focus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No accessibility focus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Lack of inclusive design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Designed specifically for developers with disabilities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4918">
                <a:tc>
                  <a:txBody>
                    <a:bodyPr/>
                    <a:lstStyle/>
                    <a:p>
                      <a:r>
                        <a:rPr lang="en-IN" sz="1400"/>
                        <a:t>IDE Integration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Standalone tool</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Web-based editor</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Custom environment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External assistant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No native IDE integration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Native VS Code extension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08776">
                <a:tc>
                  <a:txBody>
                    <a:bodyPr/>
                    <a:lstStyle/>
                    <a:p>
                      <a:r>
                        <a:rPr lang="en-IN" sz="1400"/>
                        <a:t>AI Command Understanding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Rule-based</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Basic NLP</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Keyword mapping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Manual commands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Poor intent understanding</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AI-based natural language command interpretation</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34393">
                <a:tc>
                  <a:txBody>
                    <a:bodyPr/>
                    <a:lstStyle/>
                    <a:p>
                      <a:r>
                        <a:rPr lang="en-IN" sz="1400"/>
                        <a:t>Language Support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Single language</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Limited languages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Few popular languages</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Language-specific</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Limited scalability</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Multi-language coding support</a:t>
                      </a:r>
                    </a:p>
                  </a:txBody>
                  <a:tcPr marL="51802" marR="51802" marT="25901" marB="259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10254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A857E7D-A2E2-8CD9-69C1-6DF196BA312F}"/>
              </a:ext>
            </a:extLst>
          </p:cNvPr>
          <p:cNvSpPr>
            <a:spLocks noGrp="1"/>
          </p:cNvSpPr>
          <p:nvPr>
            <p:ph type="ftr" sz="quarter" idx="11"/>
          </p:nvPr>
        </p:nvSpPr>
        <p:spPr/>
        <p:txBody>
          <a:bodyPr/>
          <a:lstStyle/>
          <a:p>
            <a:r>
              <a:rPr lang="en-US" dirty="0"/>
              <a:t>PRO600 Publication Statement by Faculty</a:t>
            </a:r>
            <a:endParaRPr lang="en-IN" dirty="0"/>
          </a:p>
        </p:txBody>
      </p:sp>
      <p:sp>
        <p:nvSpPr>
          <p:cNvPr id="5" name="TextBox 4">
            <a:extLst>
              <a:ext uri="{FF2B5EF4-FFF2-40B4-BE49-F238E27FC236}">
                <a16:creationId xmlns:a16="http://schemas.microsoft.com/office/drawing/2014/main" id="{9A57B0B8-B631-5356-AA74-2FD917370C26}"/>
              </a:ext>
            </a:extLst>
          </p:cNvPr>
          <p:cNvSpPr txBox="1"/>
          <p:nvPr/>
        </p:nvSpPr>
        <p:spPr>
          <a:xfrm>
            <a:off x="709368" y="786294"/>
            <a:ext cx="6094428" cy="584775"/>
          </a:xfrm>
          <a:prstGeom prst="rect">
            <a:avLst/>
          </a:prstGeom>
          <a:noFill/>
        </p:spPr>
        <p:txBody>
          <a:bodyPr wrap="square">
            <a:spAutoFit/>
          </a:bodyPr>
          <a:lstStyle/>
          <a:p>
            <a:r>
              <a:rPr lang="en-US" sz="3200" dirty="0">
                <a:solidFill>
                  <a:srgbClr val="7030A0"/>
                </a:solidFill>
              </a:rPr>
              <a:t>Objectives</a:t>
            </a:r>
            <a:endParaRPr lang="en-IN" sz="3200" dirty="0">
              <a:solidFill>
                <a:srgbClr val="7030A0"/>
              </a:solidFill>
            </a:endParaRPr>
          </a:p>
        </p:txBody>
      </p:sp>
      <p:sp>
        <p:nvSpPr>
          <p:cNvPr id="6" name="TextBox 5">
            <a:extLst>
              <a:ext uri="{FF2B5EF4-FFF2-40B4-BE49-F238E27FC236}">
                <a16:creationId xmlns:a16="http://schemas.microsoft.com/office/drawing/2014/main" id="{7ECB6991-3387-8C61-3ED9-6273399A2391}"/>
              </a:ext>
            </a:extLst>
          </p:cNvPr>
          <p:cNvSpPr txBox="1"/>
          <p:nvPr/>
        </p:nvSpPr>
        <p:spPr>
          <a:xfrm>
            <a:off x="1108217" y="1686960"/>
            <a:ext cx="9975565" cy="4353499"/>
          </a:xfrm>
          <a:prstGeom prst="rect">
            <a:avLst/>
          </a:prstGeom>
          <a:noFill/>
        </p:spPr>
        <p:txBody>
          <a:bodyPr wrap="square">
            <a:spAutoFit/>
          </a:bodyPr>
          <a:lstStyle/>
          <a:p>
            <a:pPr marL="285750" indent="-285750" algn="just">
              <a:lnSpc>
                <a:spcPct val="150000"/>
              </a:lnSpc>
              <a:spcBef>
                <a:spcPts val="600"/>
              </a:spcBef>
              <a:spcAft>
                <a:spcPts val="600"/>
              </a:spcAft>
              <a:buFont typeface="Arial" panose="020B0604020202020204" pitchFamily="34" charset="0"/>
              <a:buChar char="•"/>
            </a:pPr>
            <a:r>
              <a:rPr lang="en-US" sz="2000" dirty="0"/>
              <a:t>To design a voice-based coding assistant that enables hands-free programming for developers with disabilities.</a:t>
            </a:r>
          </a:p>
          <a:p>
            <a:pPr marL="285750" indent="-285750" algn="just">
              <a:lnSpc>
                <a:spcPct val="150000"/>
              </a:lnSpc>
              <a:spcBef>
                <a:spcPts val="600"/>
              </a:spcBef>
              <a:spcAft>
                <a:spcPts val="600"/>
              </a:spcAft>
              <a:buFont typeface="Arial" panose="020B0604020202020204" pitchFamily="34" charset="0"/>
              <a:buChar char="•"/>
            </a:pPr>
            <a:r>
              <a:rPr lang="en-US" sz="2000" dirty="0"/>
              <a:t>To integrate speech-to-text and AI-based intent interpretation for natural language voice commands.</a:t>
            </a:r>
          </a:p>
          <a:p>
            <a:pPr marL="285750" indent="-285750" algn="just">
              <a:lnSpc>
                <a:spcPct val="150000"/>
              </a:lnSpc>
              <a:spcBef>
                <a:spcPts val="600"/>
              </a:spcBef>
              <a:spcAft>
                <a:spcPts val="600"/>
              </a:spcAft>
              <a:buFont typeface="Arial" panose="020B0604020202020204" pitchFamily="34" charset="0"/>
              <a:buChar char="•"/>
            </a:pPr>
            <a:r>
              <a:rPr lang="en-US" sz="2000" dirty="0"/>
              <a:t>To support code generation, modification, navigation, and execution within Visual Studio Code.</a:t>
            </a:r>
          </a:p>
          <a:p>
            <a:pPr marL="285750" indent="-285750" algn="just">
              <a:lnSpc>
                <a:spcPct val="150000"/>
              </a:lnSpc>
              <a:spcBef>
                <a:spcPts val="600"/>
              </a:spcBef>
              <a:spcAft>
                <a:spcPts val="600"/>
              </a:spcAft>
              <a:buFont typeface="Arial" panose="020B0604020202020204" pitchFamily="34" charset="0"/>
              <a:buChar char="•"/>
            </a:pPr>
            <a:r>
              <a:rPr lang="en-US" sz="2000" dirty="0"/>
              <a:t>To provide real-time feedback and context-aware actions for improved usability.</a:t>
            </a:r>
          </a:p>
          <a:p>
            <a:pPr marL="285750" indent="-285750" algn="just">
              <a:lnSpc>
                <a:spcPct val="150000"/>
              </a:lnSpc>
              <a:spcBef>
                <a:spcPts val="600"/>
              </a:spcBef>
              <a:spcAft>
                <a:spcPts val="600"/>
              </a:spcAft>
              <a:buFont typeface="Arial" panose="020B0604020202020204" pitchFamily="34" charset="0"/>
              <a:buChar char="•"/>
            </a:pPr>
            <a:r>
              <a:rPr lang="en-US" sz="2000" dirty="0"/>
              <a:t>To promote inclusive and accessible software development practices.</a:t>
            </a:r>
            <a:endParaRPr lang="en-IN" sz="2000" dirty="0"/>
          </a:p>
        </p:txBody>
      </p:sp>
    </p:spTree>
    <p:extLst>
      <p:ext uri="{BB962C8B-B14F-4D97-AF65-F5344CB8AC3E}">
        <p14:creationId xmlns:p14="http://schemas.microsoft.com/office/powerpoint/2010/main" val="149444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2C17A3B-1004-4530-0DA2-F42C417962D7}"/>
              </a:ext>
            </a:extLst>
          </p:cNvPr>
          <p:cNvSpPr>
            <a:spLocks noGrp="1"/>
          </p:cNvSpPr>
          <p:nvPr>
            <p:ph type="ftr" sz="quarter" idx="11"/>
          </p:nvPr>
        </p:nvSpPr>
        <p:spPr/>
        <p:txBody>
          <a:bodyPr/>
          <a:lstStyle/>
          <a:p>
            <a:r>
              <a:rPr lang="en-US"/>
              <a:t>PRO600 Publication Statement by Faculty</a:t>
            </a:r>
            <a:endParaRPr lang="en-IN"/>
          </a:p>
        </p:txBody>
      </p:sp>
      <p:sp>
        <p:nvSpPr>
          <p:cNvPr id="6" name="TextBox 5">
            <a:extLst>
              <a:ext uri="{FF2B5EF4-FFF2-40B4-BE49-F238E27FC236}">
                <a16:creationId xmlns:a16="http://schemas.microsoft.com/office/drawing/2014/main" id="{D9E3D4A4-568F-C01F-17FC-E0A36D0D0E92}"/>
              </a:ext>
            </a:extLst>
          </p:cNvPr>
          <p:cNvSpPr txBox="1"/>
          <p:nvPr/>
        </p:nvSpPr>
        <p:spPr>
          <a:xfrm>
            <a:off x="633953" y="767441"/>
            <a:ext cx="6094428" cy="584775"/>
          </a:xfrm>
          <a:prstGeom prst="rect">
            <a:avLst/>
          </a:prstGeom>
          <a:noFill/>
        </p:spPr>
        <p:txBody>
          <a:bodyPr wrap="square">
            <a:spAutoFit/>
          </a:bodyPr>
          <a:lstStyle/>
          <a:p>
            <a:r>
              <a:rPr lang="en-US" sz="3200" dirty="0">
                <a:solidFill>
                  <a:srgbClr val="7030A0"/>
                </a:solidFill>
              </a:rPr>
              <a:t>Problem Statement</a:t>
            </a:r>
            <a:endParaRPr lang="en-IN" sz="3200" dirty="0">
              <a:solidFill>
                <a:srgbClr val="7030A0"/>
              </a:solidFill>
            </a:endParaRPr>
          </a:p>
        </p:txBody>
      </p:sp>
      <p:sp>
        <p:nvSpPr>
          <p:cNvPr id="3" name="TextBox 2">
            <a:extLst>
              <a:ext uri="{FF2B5EF4-FFF2-40B4-BE49-F238E27FC236}">
                <a16:creationId xmlns:a16="http://schemas.microsoft.com/office/drawing/2014/main" id="{99A538D4-C01D-98A0-DE03-87A6CAB618D4}"/>
              </a:ext>
            </a:extLst>
          </p:cNvPr>
          <p:cNvSpPr txBox="1"/>
          <p:nvPr/>
        </p:nvSpPr>
        <p:spPr>
          <a:xfrm>
            <a:off x="1080655" y="1619240"/>
            <a:ext cx="9891359" cy="4199611"/>
          </a:xfrm>
          <a:prstGeom prst="rect">
            <a:avLst/>
          </a:prstGeom>
          <a:noFill/>
        </p:spPr>
        <p:txBody>
          <a:bodyPr wrap="square">
            <a:spAutoFit/>
          </a:bodyPr>
          <a:lstStyle/>
          <a:p>
            <a:pPr algn="just">
              <a:lnSpc>
                <a:spcPct val="150000"/>
              </a:lnSpc>
            </a:pPr>
            <a:r>
              <a:rPr lang="en-US" sz="2000" dirty="0"/>
              <a:t>Most Integrated Development Environments rely heavily on keyboard and mouse input, making programming difficult for individuals with physical or motor disabilities. Existing assistive tools such as speech-to-text systems are not optimized for programming tasks and fail to handle syntax, structure, and contextual coding operations effectively.</a:t>
            </a:r>
          </a:p>
          <a:p>
            <a:pPr algn="just">
              <a:lnSpc>
                <a:spcPct val="150000"/>
              </a:lnSpc>
            </a:pPr>
            <a:br>
              <a:rPr lang="en-US" sz="2000" dirty="0"/>
            </a:br>
            <a:r>
              <a:rPr lang="en-US" sz="2000" dirty="0"/>
              <a:t>Additionally, many voice-based coding solutions operate as standalone systems or depend on rigid command templates, limiting adaptability and real-world usability. There is a lack of accessible, AI-driven, IDE-integrated solutions that allow developers to code naturally using voice while maintaining professional workflows.</a:t>
            </a:r>
            <a:endParaRPr lang="en-IN" sz="2000" dirty="0"/>
          </a:p>
        </p:txBody>
      </p:sp>
    </p:spTree>
    <p:extLst>
      <p:ext uri="{BB962C8B-B14F-4D97-AF65-F5344CB8AC3E}">
        <p14:creationId xmlns:p14="http://schemas.microsoft.com/office/powerpoint/2010/main" val="3133764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7A1CCBA-7CF6-767B-1D2B-30E2C92445CC}"/>
              </a:ext>
            </a:extLst>
          </p:cNvPr>
          <p:cNvSpPr txBox="1"/>
          <p:nvPr/>
        </p:nvSpPr>
        <p:spPr>
          <a:xfrm>
            <a:off x="837746" y="626301"/>
            <a:ext cx="6425852" cy="646331"/>
          </a:xfrm>
          <a:prstGeom prst="rect">
            <a:avLst/>
          </a:prstGeom>
          <a:noFill/>
        </p:spPr>
        <p:txBody>
          <a:bodyPr wrap="square" rtlCol="0">
            <a:spAutoFit/>
          </a:bodyPr>
          <a:lstStyle/>
          <a:p>
            <a:r>
              <a:rPr lang="en-US" sz="3600" dirty="0">
                <a:solidFill>
                  <a:srgbClr val="7030A0"/>
                </a:solidFill>
              </a:rPr>
              <a:t>Novelty of the work</a:t>
            </a:r>
            <a:endParaRPr lang="en-IN" sz="3600" dirty="0">
              <a:solidFill>
                <a:srgbClr val="7030A0"/>
              </a:solidFill>
            </a:endParaRPr>
          </a:p>
        </p:txBody>
      </p:sp>
      <p:sp>
        <p:nvSpPr>
          <p:cNvPr id="7" name="Footer Placeholder 6">
            <a:extLst>
              <a:ext uri="{FF2B5EF4-FFF2-40B4-BE49-F238E27FC236}">
                <a16:creationId xmlns:a16="http://schemas.microsoft.com/office/drawing/2014/main" id="{60562064-705F-C2C1-5146-F7C910773B63}"/>
              </a:ext>
            </a:extLst>
          </p:cNvPr>
          <p:cNvSpPr>
            <a:spLocks noGrp="1"/>
          </p:cNvSpPr>
          <p:nvPr>
            <p:ph type="ftr" sz="quarter" idx="11"/>
          </p:nvPr>
        </p:nvSpPr>
        <p:spPr/>
        <p:txBody>
          <a:bodyPr/>
          <a:lstStyle/>
          <a:p>
            <a:r>
              <a:rPr lang="en-US"/>
              <a:t>PRO600 Publication Statement by Faculty</a:t>
            </a:r>
            <a:endParaRPr lang="en-IN"/>
          </a:p>
        </p:txBody>
      </p:sp>
      <p:sp>
        <p:nvSpPr>
          <p:cNvPr id="3" name="TextBox 2">
            <a:extLst>
              <a:ext uri="{FF2B5EF4-FFF2-40B4-BE49-F238E27FC236}">
                <a16:creationId xmlns:a16="http://schemas.microsoft.com/office/drawing/2014/main" id="{D55BA9F6-79EC-F88A-9FCE-EC00F9010885}"/>
              </a:ext>
            </a:extLst>
          </p:cNvPr>
          <p:cNvSpPr txBox="1"/>
          <p:nvPr/>
        </p:nvSpPr>
        <p:spPr>
          <a:xfrm>
            <a:off x="1134533" y="1713705"/>
            <a:ext cx="9922933" cy="3477875"/>
          </a:xfrm>
          <a:prstGeom prst="rect">
            <a:avLst/>
          </a:prstGeom>
          <a:noFill/>
        </p:spPr>
        <p:txBody>
          <a:bodyPr wrap="square">
            <a:spAutoFit/>
          </a:bodyPr>
          <a:lstStyle/>
          <a:p>
            <a:pPr marL="285750" indent="-285750" algn="just">
              <a:buFont typeface="Arial" panose="020B0604020202020204" pitchFamily="34" charset="0"/>
              <a:buChar char="•"/>
            </a:pPr>
            <a:r>
              <a:rPr lang="en-US" sz="2000" dirty="0"/>
              <a:t>The novelty of the proposed work lies in integrating </a:t>
            </a:r>
            <a:r>
              <a:rPr lang="en-US" sz="2000" b="1" dirty="0"/>
              <a:t>AI-based intent understanding</a:t>
            </a:r>
            <a:r>
              <a:rPr lang="en-US" sz="2000" dirty="0"/>
              <a:t> with </a:t>
            </a:r>
            <a:r>
              <a:rPr lang="en-US" sz="2000" b="1" dirty="0"/>
              <a:t>voice-driven interaction directly inside Visual Studio Code</a:t>
            </a:r>
            <a:r>
              <a:rPr lang="en-US" sz="2000" dirty="0"/>
              <a:t>.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Unlike existing rule-based or standalone voice coding systems, this project focuses on natural language interpretation, context awareness, and multi-language adaptability.</a:t>
            </a:r>
          </a:p>
          <a:p>
            <a:pPr marL="285750" indent="-285750" algn="just">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system leverages free and local AI models and speech-to-text engines to ensure privacy, accessibility, and independence from paid cloud services.</a:t>
            </a:r>
          </a:p>
          <a:p>
            <a:pPr marL="285750" indent="-285750">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 By enabling inclusive coding within an industry-standard IDE, the proposed approach represents a significant advancement in accessible software development tools.</a:t>
            </a:r>
            <a:endParaRPr lang="en-IN" sz="2000" dirty="0"/>
          </a:p>
        </p:txBody>
      </p:sp>
    </p:spTree>
    <p:extLst>
      <p:ext uri="{BB962C8B-B14F-4D97-AF65-F5344CB8AC3E}">
        <p14:creationId xmlns:p14="http://schemas.microsoft.com/office/powerpoint/2010/main" val="2502049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15E46-BA26-3429-2C92-7F73FAA13D2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66CA737-06E2-C89A-1D11-0230C3E7505D}"/>
              </a:ext>
            </a:extLst>
          </p:cNvPr>
          <p:cNvSpPr txBox="1"/>
          <p:nvPr/>
        </p:nvSpPr>
        <p:spPr>
          <a:xfrm>
            <a:off x="825674" y="550467"/>
            <a:ext cx="6425852" cy="646331"/>
          </a:xfrm>
          <a:prstGeom prst="rect">
            <a:avLst/>
          </a:prstGeom>
          <a:noFill/>
        </p:spPr>
        <p:txBody>
          <a:bodyPr wrap="square" rtlCol="0">
            <a:spAutoFit/>
          </a:bodyPr>
          <a:lstStyle/>
          <a:p>
            <a:r>
              <a:rPr lang="en-US" sz="3600" dirty="0">
                <a:solidFill>
                  <a:srgbClr val="7030A0"/>
                </a:solidFill>
              </a:rPr>
              <a:t>Proposed work</a:t>
            </a:r>
            <a:endParaRPr lang="en-IN" sz="3600" dirty="0">
              <a:solidFill>
                <a:srgbClr val="7030A0"/>
              </a:solidFill>
            </a:endParaRPr>
          </a:p>
        </p:txBody>
      </p:sp>
      <p:sp>
        <p:nvSpPr>
          <p:cNvPr id="2" name="Footer Placeholder 1">
            <a:extLst>
              <a:ext uri="{FF2B5EF4-FFF2-40B4-BE49-F238E27FC236}">
                <a16:creationId xmlns:a16="http://schemas.microsoft.com/office/drawing/2014/main" id="{ECA8589E-7A4E-5FAC-28F7-5C3C14D72A54}"/>
              </a:ext>
            </a:extLst>
          </p:cNvPr>
          <p:cNvSpPr>
            <a:spLocks noGrp="1"/>
          </p:cNvSpPr>
          <p:nvPr>
            <p:ph type="ftr" sz="quarter" idx="11"/>
          </p:nvPr>
        </p:nvSpPr>
        <p:spPr/>
        <p:txBody>
          <a:bodyPr/>
          <a:lstStyle/>
          <a:p>
            <a:r>
              <a:rPr lang="en-US"/>
              <a:t>PRO600 Publication Statement by Faculty</a:t>
            </a:r>
            <a:endParaRPr lang="en-IN"/>
          </a:p>
        </p:txBody>
      </p:sp>
      <p:sp>
        <p:nvSpPr>
          <p:cNvPr id="14" name="Rectangle 6"/>
          <p:cNvSpPr>
            <a:spLocks noGrp="1" noChangeArrowheads="1"/>
          </p:cNvSpPr>
          <p:nvPr>
            <p:ph idx="1"/>
          </p:nvPr>
        </p:nvSpPr>
        <p:spPr bwMode="auto">
          <a:xfrm>
            <a:off x="706582" y="1564719"/>
            <a:ext cx="10778836" cy="4199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Design and implement a </a:t>
            </a:r>
            <a:r>
              <a:rPr kumimoji="0" lang="en-US" altLang="en-US" sz="2000" b="1" i="0" u="none" strike="noStrike" cap="none" normalizeH="0" baseline="0" dirty="0">
                <a:ln>
                  <a:noFill/>
                </a:ln>
                <a:solidFill>
                  <a:schemeClr val="tx1"/>
                </a:solidFill>
                <a:effectLst/>
              </a:rPr>
              <a:t>voice-driven coding assistant</a:t>
            </a:r>
            <a:r>
              <a:rPr kumimoji="0" lang="en-US" altLang="en-US" sz="2000" b="0" i="0" u="none" strike="noStrike" cap="none" normalizeH="0" baseline="0" dirty="0">
                <a:ln>
                  <a:noFill/>
                </a:ln>
                <a:solidFill>
                  <a:schemeClr val="tx1"/>
                </a:solidFill>
                <a:effectLst/>
              </a:rPr>
              <a:t> as a </a:t>
            </a:r>
            <a:r>
              <a:rPr kumimoji="0" lang="en-US" altLang="en-US" sz="2000" b="1" i="0" u="none" strike="noStrike" cap="none" normalizeH="0" baseline="0" dirty="0">
                <a:ln>
                  <a:noFill/>
                </a:ln>
                <a:solidFill>
                  <a:schemeClr val="tx1"/>
                </a:solidFill>
                <a:effectLst/>
              </a:rPr>
              <a:t>VS Code extension</a:t>
            </a:r>
            <a:r>
              <a:rPr kumimoji="0" lang="en-US" altLang="en-US" sz="2000" b="0" i="0" u="none" strike="noStrike" cap="none" normalizeH="0" baseline="0" dirty="0">
                <a:ln>
                  <a:noFill/>
                </a:ln>
                <a:solidFill>
                  <a:schemeClr val="tx1"/>
                </a:solidFill>
                <a:effectLst/>
              </a:rPr>
              <a:t>.</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Users issue </a:t>
            </a:r>
            <a:r>
              <a:rPr kumimoji="0" lang="en-US" altLang="en-US" sz="2000" b="1" i="0" u="none" strike="noStrike" cap="none" normalizeH="0" baseline="0" dirty="0">
                <a:ln>
                  <a:noFill/>
                </a:ln>
                <a:solidFill>
                  <a:schemeClr val="tx1"/>
                </a:solidFill>
                <a:effectLst/>
              </a:rPr>
              <a:t>spoken commands</a:t>
            </a:r>
            <a:r>
              <a:rPr kumimoji="0" lang="en-US" altLang="en-US" sz="2000" b="0" i="0" u="none" strike="noStrike" cap="none" normalizeH="0" baseline="0" dirty="0">
                <a:ln>
                  <a:noFill/>
                </a:ln>
                <a:solidFill>
                  <a:schemeClr val="tx1"/>
                </a:solidFill>
                <a:effectLst/>
              </a:rPr>
              <a:t>, converted to text via </a:t>
            </a:r>
            <a:r>
              <a:rPr kumimoji="0" lang="en-US" altLang="en-US" sz="2000" b="1" i="0" u="none" strike="noStrike" cap="none" normalizeH="0" baseline="0" dirty="0">
                <a:ln>
                  <a:noFill/>
                </a:ln>
                <a:solidFill>
                  <a:schemeClr val="tx1"/>
                </a:solidFill>
                <a:effectLst/>
              </a:rPr>
              <a:t>speech-to-text processing</a:t>
            </a:r>
            <a:r>
              <a:rPr kumimoji="0" lang="en-US" altLang="en-US" sz="2000" b="0" i="0" u="none" strike="noStrike" cap="none" normalizeH="0" baseline="0" dirty="0">
                <a:ln>
                  <a:noFill/>
                </a:ln>
                <a:solidFill>
                  <a:schemeClr val="tx1"/>
                </a:solidFill>
                <a:effectLst/>
              </a:rPr>
              <a:t>.</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rPr>
              <a:t>AI model interprets intent</a:t>
            </a:r>
            <a:r>
              <a:rPr kumimoji="0" lang="en-US" altLang="en-US" sz="2000" b="0" i="0" u="none" strike="noStrike" cap="none" normalizeH="0" baseline="0" dirty="0">
                <a:ln>
                  <a:noFill/>
                </a:ln>
                <a:solidFill>
                  <a:schemeClr val="tx1"/>
                </a:solidFill>
                <a:effectLst/>
              </a:rPr>
              <a:t> and maps it to coding actions: generation, modification, navigation, or execution.</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Real-time interaction with VS Code enables </a:t>
            </a:r>
            <a:r>
              <a:rPr kumimoji="0" lang="en-US" altLang="en-US" sz="2000" b="1" i="0" u="none" strike="noStrike" cap="none" normalizeH="0" baseline="0" dirty="0">
                <a:ln>
                  <a:noFill/>
                </a:ln>
                <a:solidFill>
                  <a:schemeClr val="tx1"/>
                </a:solidFill>
                <a:effectLst/>
              </a:rPr>
              <a:t>insertion or modification of code</a:t>
            </a:r>
            <a:r>
              <a:rPr kumimoji="0" lang="en-US" altLang="en-US" sz="2000" b="0" i="0" u="none" strike="noStrike" cap="none" normalizeH="0" baseline="0" dirty="0">
                <a:ln>
                  <a:noFill/>
                </a:ln>
                <a:solidFill>
                  <a:schemeClr val="tx1"/>
                </a:solidFill>
                <a:effectLst/>
              </a:rPr>
              <a:t> based on programming context.</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rPr>
              <a:t>Provides </a:t>
            </a:r>
            <a:r>
              <a:rPr kumimoji="0" lang="en-US" altLang="en-US" sz="2000" b="1" i="0" u="none" strike="noStrike" cap="none" normalizeH="0" baseline="0" dirty="0">
                <a:ln>
                  <a:noFill/>
                </a:ln>
                <a:solidFill>
                  <a:schemeClr val="tx1"/>
                </a:solidFill>
                <a:effectLst/>
              </a:rPr>
              <a:t>immediate feedback</a:t>
            </a:r>
            <a:r>
              <a:rPr kumimoji="0" lang="en-US" altLang="en-US" sz="2000" b="0" i="0" u="none" strike="noStrike" cap="none" normalizeH="0" baseline="0" dirty="0">
                <a:ln>
                  <a:noFill/>
                </a:ln>
                <a:solidFill>
                  <a:schemeClr val="tx1"/>
                </a:solidFill>
                <a:effectLst/>
              </a:rPr>
              <a:t> for continuous </a:t>
            </a:r>
            <a:r>
              <a:rPr kumimoji="0" lang="en-US" altLang="en-US" sz="2000" b="1" i="0" u="none" strike="noStrike" cap="none" normalizeH="0" baseline="0" dirty="0">
                <a:ln>
                  <a:noFill/>
                </a:ln>
                <a:solidFill>
                  <a:schemeClr val="tx1"/>
                </a:solidFill>
                <a:effectLst/>
              </a:rPr>
              <a:t>hands-free coding</a:t>
            </a:r>
            <a:r>
              <a:rPr kumimoji="0" lang="en-US" altLang="en-US" sz="2000" b="0" i="0" u="none" strike="noStrike" cap="none" normalizeH="0" baseline="0" dirty="0">
                <a:ln>
                  <a:noFill/>
                </a:ln>
                <a:solidFill>
                  <a:schemeClr val="tx1"/>
                </a:solidFill>
                <a:effectLst/>
              </a:rPr>
              <a:t>.</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rPr>
              <a:t>Modular architecture</a:t>
            </a:r>
            <a:r>
              <a:rPr kumimoji="0" lang="en-US" altLang="en-US" sz="2000" b="0" i="0" u="none" strike="noStrike" cap="none" normalizeH="0" baseline="0" dirty="0">
                <a:ln>
                  <a:noFill/>
                </a:ln>
                <a:solidFill>
                  <a:schemeClr val="tx1"/>
                </a:solidFill>
                <a:effectLst/>
              </a:rPr>
              <a:t> allows future expansion to </a:t>
            </a:r>
            <a:r>
              <a:rPr kumimoji="0" lang="en-US" altLang="en-US" sz="2000" b="1" i="0" u="none" strike="noStrike" cap="none" normalizeH="0" baseline="0" dirty="0">
                <a:ln>
                  <a:noFill/>
                </a:ln>
                <a:solidFill>
                  <a:schemeClr val="tx1"/>
                </a:solidFill>
                <a:effectLst/>
              </a:rPr>
              <a:t>additional programming languages</a:t>
            </a:r>
            <a:r>
              <a:rPr kumimoji="0" lang="en-US" altLang="en-US" sz="2000" b="0" i="0" u="none" strike="noStrike" cap="none" normalizeH="0" baseline="0" dirty="0">
                <a:ln>
                  <a:noFill/>
                </a:ln>
                <a:solidFill>
                  <a:schemeClr val="tx1"/>
                </a:solidFill>
                <a:effectLst/>
              </a:rPr>
              <a:t> and </a:t>
            </a:r>
            <a:r>
              <a:rPr kumimoji="0" lang="en-US" altLang="en-US" sz="2000" b="1" i="0" u="none" strike="noStrike" cap="none" normalizeH="0" baseline="0" dirty="0">
                <a:ln>
                  <a:noFill/>
                </a:ln>
                <a:solidFill>
                  <a:schemeClr val="tx1"/>
                </a:solidFill>
                <a:effectLst/>
              </a:rPr>
              <a:t>advanced accessibility features</a:t>
            </a:r>
            <a:r>
              <a:rPr kumimoji="0" lang="en-US" altLang="en-US" sz="20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274212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8633D-56F0-967A-22E0-17999965AAC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6100A8-8F1C-04E8-91EA-BD6F18F799AB}"/>
              </a:ext>
            </a:extLst>
          </p:cNvPr>
          <p:cNvSpPr txBox="1"/>
          <p:nvPr/>
        </p:nvSpPr>
        <p:spPr>
          <a:xfrm>
            <a:off x="837746" y="626301"/>
            <a:ext cx="6425852" cy="646331"/>
          </a:xfrm>
          <a:prstGeom prst="rect">
            <a:avLst/>
          </a:prstGeom>
          <a:noFill/>
        </p:spPr>
        <p:txBody>
          <a:bodyPr wrap="square" rtlCol="0">
            <a:spAutoFit/>
          </a:bodyPr>
          <a:lstStyle/>
          <a:p>
            <a:r>
              <a:rPr lang="en-US" sz="3600" dirty="0">
                <a:solidFill>
                  <a:srgbClr val="7030A0"/>
                </a:solidFill>
              </a:rPr>
              <a:t>Methodology</a:t>
            </a:r>
            <a:endParaRPr lang="en-IN" sz="3600" dirty="0">
              <a:solidFill>
                <a:srgbClr val="7030A0"/>
              </a:solidFill>
            </a:endParaRPr>
          </a:p>
        </p:txBody>
      </p:sp>
      <p:sp>
        <p:nvSpPr>
          <p:cNvPr id="3" name="Footer Placeholder 2">
            <a:extLst>
              <a:ext uri="{FF2B5EF4-FFF2-40B4-BE49-F238E27FC236}">
                <a16:creationId xmlns:a16="http://schemas.microsoft.com/office/drawing/2014/main" id="{01CB62B1-DD8F-3533-2F95-07D75C1CAB88}"/>
              </a:ext>
            </a:extLst>
          </p:cNvPr>
          <p:cNvSpPr>
            <a:spLocks noGrp="1"/>
          </p:cNvSpPr>
          <p:nvPr>
            <p:ph type="ftr" sz="quarter" idx="11"/>
          </p:nvPr>
        </p:nvSpPr>
        <p:spPr>
          <a:xfrm>
            <a:off x="4038600" y="6402197"/>
            <a:ext cx="4114800" cy="365125"/>
          </a:xfrm>
        </p:spPr>
        <p:txBody>
          <a:bodyPr/>
          <a:lstStyle/>
          <a:p>
            <a:r>
              <a:rPr lang="en-US"/>
              <a:t>PRO600 Publication Statement by Faculty</a:t>
            </a:r>
            <a:endParaRPr lang="en-IN"/>
          </a:p>
        </p:txBody>
      </p:sp>
      <p:pic>
        <p:nvPicPr>
          <p:cNvPr id="5" name="Picture 4">
            <a:extLst>
              <a:ext uri="{FF2B5EF4-FFF2-40B4-BE49-F238E27FC236}">
                <a16:creationId xmlns:a16="http://schemas.microsoft.com/office/drawing/2014/main" id="{7B30B917-3513-66A9-84C0-AAFA313601B8}"/>
              </a:ext>
            </a:extLst>
          </p:cNvPr>
          <p:cNvPicPr>
            <a:picLocks noChangeAspect="1"/>
          </p:cNvPicPr>
          <p:nvPr/>
        </p:nvPicPr>
        <p:blipFill>
          <a:blip r:embed="rId2">
            <a:extLst>
              <a:ext uri="{28A0092B-C50C-407E-A947-70E740481C1C}">
                <a14:useLocalDpi xmlns:a14="http://schemas.microsoft.com/office/drawing/2010/main" val="0"/>
              </a:ext>
            </a:extLst>
          </a:blip>
          <a:srcRect t="4753" b="11551"/>
          <a:stretch>
            <a:fillRect/>
          </a:stretch>
        </p:blipFill>
        <p:spPr>
          <a:xfrm>
            <a:off x="1797050" y="1398495"/>
            <a:ext cx="8597900" cy="4797346"/>
          </a:xfrm>
          <a:prstGeom prst="rect">
            <a:avLst/>
          </a:prstGeom>
        </p:spPr>
      </p:pic>
    </p:spTree>
    <p:extLst>
      <p:ext uri="{BB962C8B-B14F-4D97-AF65-F5344CB8AC3E}">
        <p14:creationId xmlns:p14="http://schemas.microsoft.com/office/powerpoint/2010/main" val="79106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85D0-2EEA-C55D-318C-5B9ED8D8E23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9FCE12-0887-F659-36B8-9D7487E9A14B}"/>
              </a:ext>
            </a:extLst>
          </p:cNvPr>
          <p:cNvSpPr>
            <a:spLocks noGrp="1"/>
          </p:cNvSpPr>
          <p:nvPr>
            <p:ph type="ftr" sz="quarter" idx="11"/>
          </p:nvPr>
        </p:nvSpPr>
        <p:spPr/>
        <p:txBody>
          <a:bodyPr/>
          <a:lstStyle/>
          <a:p>
            <a:r>
              <a:rPr lang="en-US"/>
              <a:t>PRO600 Publication Statement by Faculty</a:t>
            </a:r>
            <a:endParaRPr lang="en-IN"/>
          </a:p>
        </p:txBody>
      </p:sp>
      <p:sp>
        <p:nvSpPr>
          <p:cNvPr id="4" name="TextBox 3">
            <a:extLst>
              <a:ext uri="{FF2B5EF4-FFF2-40B4-BE49-F238E27FC236}">
                <a16:creationId xmlns:a16="http://schemas.microsoft.com/office/drawing/2014/main" id="{B138DEC0-DF7D-98BF-C08D-C258E35616A5}"/>
              </a:ext>
            </a:extLst>
          </p:cNvPr>
          <p:cNvSpPr txBox="1"/>
          <p:nvPr/>
        </p:nvSpPr>
        <p:spPr>
          <a:xfrm>
            <a:off x="999110" y="1248968"/>
            <a:ext cx="9148938" cy="4014945"/>
          </a:xfrm>
          <a:prstGeom prst="rect">
            <a:avLst/>
          </a:prstGeom>
          <a:noFill/>
        </p:spPr>
        <p:txBody>
          <a:bodyPr wrap="square">
            <a:spAutoFit/>
          </a:bodyPr>
          <a:lstStyle/>
          <a:p>
            <a:pPr>
              <a:buNone/>
            </a:pPr>
            <a:r>
              <a:rPr lang="en-IN" sz="2400" b="1" dirty="0"/>
              <a:t>2. Tools / Technologies to be Used</a:t>
            </a:r>
          </a:p>
          <a:p>
            <a:pPr>
              <a:buNone/>
            </a:pPr>
            <a:endParaRPr lang="en-IN" sz="2400" b="1" dirty="0"/>
          </a:p>
          <a:p>
            <a:pPr marL="457200" indent="-457200">
              <a:lnSpc>
                <a:spcPct val="150000"/>
              </a:lnSpc>
              <a:buFont typeface="Arial" panose="020B0604020202020204" pitchFamily="34" charset="0"/>
              <a:buChar char="•"/>
            </a:pPr>
            <a:r>
              <a:rPr lang="en-IN" sz="2000" b="1" dirty="0"/>
              <a:t>IDE Platform:</a:t>
            </a:r>
            <a:r>
              <a:rPr lang="en-IN" sz="2000" dirty="0"/>
              <a:t> Visual Studio Code</a:t>
            </a:r>
          </a:p>
          <a:p>
            <a:pPr marL="457200" indent="-457200">
              <a:lnSpc>
                <a:spcPct val="150000"/>
              </a:lnSpc>
              <a:buFont typeface="Arial" panose="020B0604020202020204" pitchFamily="34" charset="0"/>
              <a:buChar char="•"/>
            </a:pPr>
            <a:r>
              <a:rPr lang="en-IN" sz="2000" b="1" dirty="0"/>
              <a:t>Extension Development:</a:t>
            </a:r>
            <a:r>
              <a:rPr lang="en-IN" sz="2000" dirty="0"/>
              <a:t> JavaScript / TypeScript</a:t>
            </a:r>
          </a:p>
          <a:p>
            <a:pPr marL="457200" indent="-457200">
              <a:lnSpc>
                <a:spcPct val="150000"/>
              </a:lnSpc>
              <a:buFont typeface="Arial" panose="020B0604020202020204" pitchFamily="34" charset="0"/>
              <a:buChar char="•"/>
            </a:pPr>
            <a:r>
              <a:rPr lang="en-IN" sz="2000" b="1" dirty="0"/>
              <a:t>Backend Processing:</a:t>
            </a:r>
            <a:r>
              <a:rPr lang="en-IN" sz="2000" dirty="0"/>
              <a:t> Python</a:t>
            </a:r>
          </a:p>
          <a:p>
            <a:pPr marL="457200" indent="-457200">
              <a:lnSpc>
                <a:spcPct val="150000"/>
              </a:lnSpc>
              <a:buFont typeface="Arial" panose="020B0604020202020204" pitchFamily="34" charset="0"/>
              <a:buChar char="•"/>
            </a:pPr>
            <a:r>
              <a:rPr lang="en-IN" sz="2000" b="1" dirty="0"/>
              <a:t>Speech-to-Text:</a:t>
            </a:r>
            <a:r>
              <a:rPr lang="en-IN" sz="2000" dirty="0"/>
              <a:t> Free offline/open-source STT engine (e.g., </a:t>
            </a:r>
            <a:r>
              <a:rPr lang="en-IN" sz="2000" dirty="0" err="1"/>
              <a:t>Vosk</a:t>
            </a:r>
            <a:r>
              <a:rPr lang="en-IN" sz="2000" dirty="0"/>
              <a:t>)</a:t>
            </a:r>
          </a:p>
          <a:p>
            <a:pPr marL="457200" indent="-457200">
              <a:lnSpc>
                <a:spcPct val="150000"/>
              </a:lnSpc>
              <a:buFont typeface="Arial" panose="020B0604020202020204" pitchFamily="34" charset="0"/>
              <a:buChar char="•"/>
            </a:pPr>
            <a:r>
              <a:rPr lang="en-IN" sz="2000" b="1" dirty="0"/>
              <a:t>AI Model:</a:t>
            </a:r>
            <a:r>
              <a:rPr lang="en-IN" sz="2000" dirty="0"/>
              <a:t> Xiaomi </a:t>
            </a:r>
            <a:r>
              <a:rPr lang="en-IN" sz="2000" dirty="0" err="1"/>
              <a:t>MiMo</a:t>
            </a:r>
            <a:r>
              <a:rPr lang="en-IN" sz="2000" dirty="0"/>
              <a:t> v2 Flash</a:t>
            </a:r>
          </a:p>
          <a:p>
            <a:pPr marL="457200" indent="-457200">
              <a:lnSpc>
                <a:spcPct val="150000"/>
              </a:lnSpc>
              <a:buFont typeface="Arial" panose="020B0604020202020204" pitchFamily="34" charset="0"/>
              <a:buChar char="•"/>
            </a:pPr>
            <a:r>
              <a:rPr lang="en-IN" sz="2000" b="1" dirty="0"/>
              <a:t>Communication:</a:t>
            </a:r>
            <a:r>
              <a:rPr lang="en-IN" sz="2000" dirty="0"/>
              <a:t> REST API / local server</a:t>
            </a:r>
          </a:p>
          <a:p>
            <a:pPr marL="457200" indent="-457200">
              <a:lnSpc>
                <a:spcPct val="150000"/>
              </a:lnSpc>
              <a:buFont typeface="Arial" panose="020B0604020202020204" pitchFamily="34" charset="0"/>
              <a:buChar char="•"/>
            </a:pPr>
            <a:r>
              <a:rPr lang="en-IN" sz="2000" b="1" dirty="0"/>
              <a:t>Development Tools:</a:t>
            </a:r>
            <a:r>
              <a:rPr lang="en-IN" sz="2000" dirty="0"/>
              <a:t> VS Code, Git, Postman</a:t>
            </a:r>
          </a:p>
        </p:txBody>
      </p:sp>
    </p:spTree>
    <p:extLst>
      <p:ext uri="{BB962C8B-B14F-4D97-AF65-F5344CB8AC3E}">
        <p14:creationId xmlns:p14="http://schemas.microsoft.com/office/powerpoint/2010/main" val="1092803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1712C-8A7C-003E-7136-7AC080D21B0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F550F6E-9473-F9A7-2EE2-9771BEAD5FF4}"/>
              </a:ext>
            </a:extLst>
          </p:cNvPr>
          <p:cNvSpPr>
            <a:spLocks noGrp="1"/>
          </p:cNvSpPr>
          <p:nvPr>
            <p:ph type="ftr" sz="quarter" idx="11"/>
          </p:nvPr>
        </p:nvSpPr>
        <p:spPr/>
        <p:txBody>
          <a:bodyPr/>
          <a:lstStyle/>
          <a:p>
            <a:r>
              <a:rPr lang="en-US"/>
              <a:t>PRO600 Publication Statement by Faculty</a:t>
            </a:r>
            <a:endParaRPr lang="en-IN"/>
          </a:p>
        </p:txBody>
      </p:sp>
      <p:sp>
        <p:nvSpPr>
          <p:cNvPr id="4" name="TextBox 3">
            <a:extLst>
              <a:ext uri="{FF2B5EF4-FFF2-40B4-BE49-F238E27FC236}">
                <a16:creationId xmlns:a16="http://schemas.microsoft.com/office/drawing/2014/main" id="{543ABD01-3DA1-3B78-D365-5EDC8ED952DC}"/>
              </a:ext>
            </a:extLst>
          </p:cNvPr>
          <p:cNvSpPr txBox="1"/>
          <p:nvPr/>
        </p:nvSpPr>
        <p:spPr>
          <a:xfrm>
            <a:off x="1093694" y="852288"/>
            <a:ext cx="10004612" cy="4938275"/>
          </a:xfrm>
          <a:prstGeom prst="rect">
            <a:avLst/>
          </a:prstGeom>
          <a:noFill/>
        </p:spPr>
        <p:txBody>
          <a:bodyPr wrap="square">
            <a:spAutoFit/>
          </a:bodyPr>
          <a:lstStyle/>
          <a:p>
            <a:pPr>
              <a:lnSpc>
                <a:spcPct val="150000"/>
              </a:lnSpc>
              <a:buNone/>
            </a:pPr>
            <a:r>
              <a:rPr lang="en-IN" sz="2400" b="1" dirty="0"/>
              <a:t>3. Datasets / Experimental Setup</a:t>
            </a:r>
          </a:p>
          <a:p>
            <a:pPr>
              <a:lnSpc>
                <a:spcPct val="150000"/>
              </a:lnSpc>
              <a:buNone/>
            </a:pPr>
            <a:r>
              <a:rPr lang="en-IN" sz="2400" b="1" dirty="0"/>
              <a:t>Datasets:</a:t>
            </a:r>
            <a:endParaRPr lang="en-IN" sz="2400" dirty="0"/>
          </a:p>
          <a:p>
            <a:pPr marL="457200" indent="-457200">
              <a:lnSpc>
                <a:spcPct val="150000"/>
              </a:lnSpc>
              <a:buFont typeface="Arial" panose="020B0604020202020204" pitchFamily="34" charset="0"/>
              <a:buChar char="•"/>
            </a:pPr>
            <a:r>
              <a:rPr lang="en-IN" sz="2000" dirty="0"/>
              <a:t>Sample voice commands for programming tasks</a:t>
            </a:r>
          </a:p>
          <a:p>
            <a:pPr marL="457200" indent="-457200">
              <a:lnSpc>
                <a:spcPct val="150000"/>
              </a:lnSpc>
              <a:buFont typeface="Arial" panose="020B0604020202020204" pitchFamily="34" charset="0"/>
              <a:buChar char="•"/>
            </a:pPr>
            <a:r>
              <a:rPr lang="en-IN" sz="2000" dirty="0"/>
              <a:t>Intent categories (code generation, modification, navigation, execution)</a:t>
            </a:r>
          </a:p>
          <a:p>
            <a:pPr marL="457200" indent="-457200">
              <a:lnSpc>
                <a:spcPct val="150000"/>
              </a:lnSpc>
              <a:buFont typeface="Arial" panose="020B0604020202020204" pitchFamily="34" charset="0"/>
              <a:buChar char="•"/>
            </a:pPr>
            <a:r>
              <a:rPr lang="en-IN" sz="2000" dirty="0"/>
              <a:t>Programming language templates (Python, Java, etc.)</a:t>
            </a:r>
          </a:p>
          <a:p>
            <a:pPr>
              <a:lnSpc>
                <a:spcPct val="150000"/>
              </a:lnSpc>
              <a:buNone/>
            </a:pPr>
            <a:r>
              <a:rPr lang="en-IN" sz="2400" b="1" dirty="0"/>
              <a:t>Experimental Setup:</a:t>
            </a:r>
            <a:endParaRPr lang="en-IN" sz="2400" dirty="0"/>
          </a:p>
          <a:p>
            <a:pPr marL="457200" indent="-457200">
              <a:lnSpc>
                <a:spcPct val="150000"/>
              </a:lnSpc>
              <a:buFont typeface="Arial" panose="020B0604020202020204" pitchFamily="34" charset="0"/>
              <a:buChar char="•"/>
            </a:pPr>
            <a:r>
              <a:rPr lang="en-IN" sz="2000" dirty="0"/>
              <a:t>Local development environment</a:t>
            </a:r>
          </a:p>
          <a:p>
            <a:pPr marL="457200" indent="-457200">
              <a:lnSpc>
                <a:spcPct val="150000"/>
              </a:lnSpc>
              <a:buFont typeface="Arial" panose="020B0604020202020204" pitchFamily="34" charset="0"/>
              <a:buChar char="•"/>
            </a:pPr>
            <a:r>
              <a:rPr lang="en-IN" sz="2000" dirty="0"/>
              <a:t>Controlled testing with predefined voice commands</a:t>
            </a:r>
          </a:p>
          <a:p>
            <a:pPr marL="457200" indent="-457200">
              <a:lnSpc>
                <a:spcPct val="150000"/>
              </a:lnSpc>
              <a:buFont typeface="Arial" panose="020B0604020202020204" pitchFamily="34" charset="0"/>
              <a:buChar char="•"/>
            </a:pPr>
            <a:r>
              <a:rPr lang="en-IN" sz="2000" dirty="0"/>
              <a:t>Evaluation based on response time, command accuracy, and successful code execution</a:t>
            </a:r>
          </a:p>
          <a:p>
            <a:pPr marL="457200" indent="-457200">
              <a:lnSpc>
                <a:spcPct val="150000"/>
              </a:lnSpc>
              <a:buFont typeface="Arial" panose="020B0604020202020204" pitchFamily="34" charset="0"/>
              <a:buChar char="•"/>
            </a:pPr>
            <a:r>
              <a:rPr lang="en-IN" sz="2000" dirty="0"/>
              <a:t>Testing across multiple programming scenarios</a:t>
            </a:r>
          </a:p>
        </p:txBody>
      </p:sp>
    </p:spTree>
    <p:extLst>
      <p:ext uri="{BB962C8B-B14F-4D97-AF65-F5344CB8AC3E}">
        <p14:creationId xmlns:p14="http://schemas.microsoft.com/office/powerpoint/2010/main" val="2549657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075FE-7474-32E5-137C-CB990B7E06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940739A-0B1D-C98E-0336-56CECB154124}"/>
              </a:ext>
            </a:extLst>
          </p:cNvPr>
          <p:cNvSpPr txBox="1"/>
          <p:nvPr/>
        </p:nvSpPr>
        <p:spPr>
          <a:xfrm>
            <a:off x="837746" y="626301"/>
            <a:ext cx="7391854" cy="646331"/>
          </a:xfrm>
          <a:prstGeom prst="rect">
            <a:avLst/>
          </a:prstGeom>
          <a:noFill/>
        </p:spPr>
        <p:txBody>
          <a:bodyPr wrap="square" rtlCol="0">
            <a:spAutoFit/>
          </a:bodyPr>
          <a:lstStyle/>
          <a:p>
            <a:r>
              <a:rPr lang="en-US" sz="3600" dirty="0">
                <a:solidFill>
                  <a:srgbClr val="7030A0"/>
                </a:solidFill>
              </a:rPr>
              <a:t>Applications of the proposed work</a:t>
            </a:r>
            <a:endParaRPr lang="en-IN" sz="3600" dirty="0">
              <a:solidFill>
                <a:srgbClr val="7030A0"/>
              </a:solidFill>
            </a:endParaRPr>
          </a:p>
        </p:txBody>
      </p:sp>
      <p:sp>
        <p:nvSpPr>
          <p:cNvPr id="2" name="Footer Placeholder 1">
            <a:extLst>
              <a:ext uri="{FF2B5EF4-FFF2-40B4-BE49-F238E27FC236}">
                <a16:creationId xmlns:a16="http://schemas.microsoft.com/office/drawing/2014/main" id="{D6EDB0B7-4DEF-50FA-DE0A-96C9347AECDE}"/>
              </a:ext>
            </a:extLst>
          </p:cNvPr>
          <p:cNvSpPr>
            <a:spLocks noGrp="1"/>
          </p:cNvSpPr>
          <p:nvPr>
            <p:ph type="ftr" sz="quarter" idx="11"/>
          </p:nvPr>
        </p:nvSpPr>
        <p:spPr/>
        <p:txBody>
          <a:bodyPr/>
          <a:lstStyle/>
          <a:p>
            <a:r>
              <a:rPr lang="en-US"/>
              <a:t>PRO600 Publication Statement by Faculty</a:t>
            </a:r>
            <a:endParaRPr lang="en-IN"/>
          </a:p>
        </p:txBody>
      </p:sp>
      <p:sp>
        <p:nvSpPr>
          <p:cNvPr id="5" name="TextBox 4">
            <a:extLst>
              <a:ext uri="{FF2B5EF4-FFF2-40B4-BE49-F238E27FC236}">
                <a16:creationId xmlns:a16="http://schemas.microsoft.com/office/drawing/2014/main" id="{40B9401C-1DE0-D10E-AAB9-75EFCE237EC4}"/>
              </a:ext>
            </a:extLst>
          </p:cNvPr>
          <p:cNvSpPr txBox="1"/>
          <p:nvPr/>
        </p:nvSpPr>
        <p:spPr>
          <a:xfrm>
            <a:off x="1222698" y="1955301"/>
            <a:ext cx="9746604" cy="3083921"/>
          </a:xfrm>
          <a:prstGeom prst="rect">
            <a:avLst/>
          </a:prstGeom>
          <a:noFill/>
        </p:spPr>
        <p:txBody>
          <a:bodyPr wrap="square">
            <a:spAutoFit/>
          </a:bodyPr>
          <a:lstStyle/>
          <a:p>
            <a:pPr marL="457200" indent="-457200">
              <a:lnSpc>
                <a:spcPct val="200000"/>
              </a:lnSpc>
              <a:buFont typeface="Arial" panose="020B0604020202020204" pitchFamily="34" charset="0"/>
              <a:buChar char="•"/>
            </a:pPr>
            <a:r>
              <a:rPr lang="en-US" sz="2000" dirty="0"/>
              <a:t>Accessible programming for developers with disabilities</a:t>
            </a:r>
          </a:p>
          <a:p>
            <a:pPr marL="457200" indent="-457200">
              <a:lnSpc>
                <a:spcPct val="200000"/>
              </a:lnSpc>
              <a:buFont typeface="Arial" panose="020B0604020202020204" pitchFamily="34" charset="0"/>
              <a:buChar char="•"/>
            </a:pPr>
            <a:r>
              <a:rPr lang="en-US" sz="2000" dirty="0"/>
              <a:t>Hands-free coding for individuals with temporary injuries or repetitive strain conditions </a:t>
            </a:r>
          </a:p>
          <a:p>
            <a:pPr marL="457200" indent="-457200">
              <a:lnSpc>
                <a:spcPct val="200000"/>
              </a:lnSpc>
              <a:buFont typeface="Arial" panose="020B0604020202020204" pitchFamily="34" charset="0"/>
              <a:buChar char="•"/>
            </a:pPr>
            <a:r>
              <a:rPr lang="en-US" sz="2000" dirty="0"/>
              <a:t>Educational support for beginner programmers</a:t>
            </a:r>
          </a:p>
          <a:p>
            <a:pPr marL="457200" indent="-457200">
              <a:lnSpc>
                <a:spcPct val="200000"/>
              </a:lnSpc>
              <a:buFont typeface="Arial" panose="020B0604020202020204" pitchFamily="34" charset="0"/>
              <a:buChar char="•"/>
            </a:pPr>
            <a:r>
              <a:rPr lang="en-US" sz="2000" dirty="0"/>
              <a:t>Voice-assisted coding in low-interaction environments</a:t>
            </a:r>
          </a:p>
          <a:p>
            <a:pPr marL="457200" indent="-457200">
              <a:lnSpc>
                <a:spcPct val="200000"/>
              </a:lnSpc>
              <a:buFont typeface="Arial" panose="020B0604020202020204" pitchFamily="34" charset="0"/>
              <a:buChar char="•"/>
            </a:pPr>
            <a:r>
              <a:rPr lang="en-US" sz="2000" dirty="0"/>
              <a:t>Inclusive developer tools in academic and professional settings</a:t>
            </a:r>
            <a:endParaRPr lang="en-IN" sz="2000" dirty="0"/>
          </a:p>
        </p:txBody>
      </p:sp>
    </p:spTree>
    <p:extLst>
      <p:ext uri="{BB962C8B-B14F-4D97-AF65-F5344CB8AC3E}">
        <p14:creationId xmlns:p14="http://schemas.microsoft.com/office/powerpoint/2010/main" val="4110801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26639-6BD9-0C7B-E3B6-EC202075CB6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5D8FF9C-DDF4-7216-5719-43D9925C60F4}"/>
              </a:ext>
            </a:extLst>
          </p:cNvPr>
          <p:cNvSpPr txBox="1"/>
          <p:nvPr/>
        </p:nvSpPr>
        <p:spPr>
          <a:xfrm>
            <a:off x="837746" y="626301"/>
            <a:ext cx="7391854" cy="646331"/>
          </a:xfrm>
          <a:prstGeom prst="rect">
            <a:avLst/>
          </a:prstGeom>
          <a:noFill/>
        </p:spPr>
        <p:txBody>
          <a:bodyPr wrap="square" rtlCol="0">
            <a:spAutoFit/>
          </a:bodyPr>
          <a:lstStyle/>
          <a:p>
            <a:r>
              <a:rPr lang="en-US" sz="3600" dirty="0">
                <a:solidFill>
                  <a:srgbClr val="7030A0"/>
                </a:solidFill>
              </a:rPr>
              <a:t>Committed Outcome </a:t>
            </a:r>
            <a:endParaRPr lang="en-IN" sz="3600" dirty="0">
              <a:solidFill>
                <a:srgbClr val="7030A0"/>
              </a:solidFill>
            </a:endParaRPr>
          </a:p>
        </p:txBody>
      </p:sp>
      <p:graphicFrame>
        <p:nvGraphicFramePr>
          <p:cNvPr id="2" name="Table 1">
            <a:extLst>
              <a:ext uri="{FF2B5EF4-FFF2-40B4-BE49-F238E27FC236}">
                <a16:creationId xmlns:a16="http://schemas.microsoft.com/office/drawing/2014/main" id="{68C8BF10-1989-726D-E707-63E83ED9F781}"/>
              </a:ext>
            </a:extLst>
          </p:cNvPr>
          <p:cNvGraphicFramePr>
            <a:graphicFrameLocks noGrp="1"/>
          </p:cNvGraphicFramePr>
          <p:nvPr>
            <p:extLst>
              <p:ext uri="{D42A27DB-BD31-4B8C-83A1-F6EECF244321}">
                <p14:modId xmlns:p14="http://schemas.microsoft.com/office/powerpoint/2010/main" val="4119605774"/>
              </p:ext>
            </p:extLst>
          </p:nvPr>
        </p:nvGraphicFramePr>
        <p:xfrm>
          <a:off x="720436" y="1493855"/>
          <a:ext cx="11120582" cy="4060894"/>
        </p:xfrm>
        <a:graphic>
          <a:graphicData uri="http://schemas.openxmlformats.org/drawingml/2006/table">
            <a:tbl>
              <a:tblPr firstRow="1" bandRow="1">
                <a:tableStyleId>{5C22544A-7EE6-4342-B048-85BDC9FD1C3A}</a:tableStyleId>
              </a:tblPr>
              <a:tblGrid>
                <a:gridCol w="5560291">
                  <a:extLst>
                    <a:ext uri="{9D8B030D-6E8A-4147-A177-3AD203B41FA5}">
                      <a16:colId xmlns:a16="http://schemas.microsoft.com/office/drawing/2014/main" val="3386346329"/>
                    </a:ext>
                  </a:extLst>
                </a:gridCol>
                <a:gridCol w="5560291">
                  <a:extLst>
                    <a:ext uri="{9D8B030D-6E8A-4147-A177-3AD203B41FA5}">
                      <a16:colId xmlns:a16="http://schemas.microsoft.com/office/drawing/2014/main" val="2738496179"/>
                    </a:ext>
                  </a:extLst>
                </a:gridCol>
              </a:tblGrid>
              <a:tr h="610289">
                <a:tc>
                  <a:txBody>
                    <a:bodyPr/>
                    <a:lstStyle/>
                    <a:p>
                      <a:pPr algn="ctr"/>
                      <a:r>
                        <a:rPr lang="en-US" dirty="0"/>
                        <a:t>Category </a:t>
                      </a:r>
                      <a:endParaRPr lang="en-IN" dirty="0"/>
                    </a:p>
                  </a:txBody>
                  <a:tcPr/>
                </a:tc>
                <a:tc>
                  <a:txBody>
                    <a:bodyPr/>
                    <a:lstStyle/>
                    <a:p>
                      <a:pPr algn="ctr"/>
                      <a:r>
                        <a:rPr lang="en-US" dirty="0"/>
                        <a:t>Project Research Outcome</a:t>
                      </a:r>
                    </a:p>
                    <a:p>
                      <a:pPr algn="ctr"/>
                      <a:r>
                        <a:rPr lang="en-US" dirty="0"/>
                        <a:t>(any one)</a:t>
                      </a:r>
                      <a:endParaRPr lang="en-IN" dirty="0"/>
                    </a:p>
                  </a:txBody>
                  <a:tcPr/>
                </a:tc>
                <a:extLst>
                  <a:ext uri="{0D108BD9-81ED-4DB2-BD59-A6C34878D82A}">
                    <a16:rowId xmlns:a16="http://schemas.microsoft.com/office/drawing/2014/main" val="3383322434"/>
                  </a:ext>
                </a:extLst>
              </a:tr>
              <a:tr h="1957774">
                <a:tc>
                  <a:txBody>
                    <a:bodyPr/>
                    <a:lstStyle/>
                    <a:p>
                      <a:r>
                        <a:rPr lang="en-US" dirty="0"/>
                        <a:t>Indexed International Conference</a:t>
                      </a:r>
                      <a:endParaRPr lang="en-IN" dirty="0"/>
                    </a:p>
                  </a:txBody>
                  <a:tcPr/>
                </a:tc>
                <a:tc>
                  <a:txBody>
                    <a:bodyPr/>
                    <a:lstStyle/>
                    <a:p>
                      <a:r>
                        <a:rPr lang="en-GB" sz="1700" dirty="0"/>
                        <a:t>The outcome of this project is intended for presentation at an indexed international conference. The research focuses on developing an AI-assisted voice coding system for differently-abled users, demonstrating both technical innovation and practical applicability. The work will be submitted to a peer-reviewed conference recognized in databases such as IEEE </a:t>
                      </a:r>
                      <a:r>
                        <a:rPr lang="en-GB" sz="1700" dirty="0" err="1"/>
                        <a:t>Xplore</a:t>
                      </a:r>
                      <a:r>
                        <a:rPr lang="en-GB" sz="1700" dirty="0"/>
                        <a:t>, Scopus, or Web of Science</a:t>
                      </a:r>
                      <a:r>
                        <a:rPr lang="en-GB" dirty="0"/>
                        <a:t>.</a:t>
                      </a:r>
                      <a:endParaRPr lang="en-IN" dirty="0"/>
                    </a:p>
                  </a:txBody>
                  <a:tcPr/>
                </a:tc>
                <a:extLst>
                  <a:ext uri="{0D108BD9-81ED-4DB2-BD59-A6C34878D82A}">
                    <a16:rowId xmlns:a16="http://schemas.microsoft.com/office/drawing/2014/main" val="4142274275"/>
                  </a:ext>
                </a:extLst>
              </a:tr>
              <a:tr h="348737">
                <a:tc>
                  <a:txBody>
                    <a:bodyPr/>
                    <a:lstStyle/>
                    <a:p>
                      <a:r>
                        <a:rPr lang="en-US" dirty="0"/>
                        <a:t>Indexed Book Chapter</a:t>
                      </a:r>
                      <a:endParaRPr lang="en-IN" dirty="0"/>
                    </a:p>
                  </a:txBody>
                  <a:tcPr/>
                </a:tc>
                <a:tc>
                  <a:txBody>
                    <a:bodyPr/>
                    <a:lstStyle/>
                    <a:p>
                      <a:endParaRPr lang="en-IN" dirty="0"/>
                    </a:p>
                  </a:txBody>
                  <a:tcPr/>
                </a:tc>
                <a:extLst>
                  <a:ext uri="{0D108BD9-81ED-4DB2-BD59-A6C34878D82A}">
                    <a16:rowId xmlns:a16="http://schemas.microsoft.com/office/drawing/2014/main" val="1016504596"/>
                  </a:ext>
                </a:extLst>
              </a:tr>
              <a:tr h="348737">
                <a:tc>
                  <a:txBody>
                    <a:bodyPr/>
                    <a:lstStyle/>
                    <a:p>
                      <a:r>
                        <a:rPr lang="en-US" dirty="0"/>
                        <a:t>Indexed Journal Publication</a:t>
                      </a:r>
                    </a:p>
                  </a:txBody>
                  <a:tcPr/>
                </a:tc>
                <a:tc>
                  <a:txBody>
                    <a:bodyPr/>
                    <a:lstStyle/>
                    <a:p>
                      <a:r>
                        <a:rPr lang="en-IN" dirty="0"/>
                        <a:t>   </a:t>
                      </a:r>
                    </a:p>
                  </a:txBody>
                  <a:tcPr/>
                </a:tc>
                <a:extLst>
                  <a:ext uri="{0D108BD9-81ED-4DB2-BD59-A6C34878D82A}">
                    <a16:rowId xmlns:a16="http://schemas.microsoft.com/office/drawing/2014/main" val="2585956526"/>
                  </a:ext>
                </a:extLst>
              </a:tr>
              <a:tr h="348737">
                <a:tc>
                  <a:txBody>
                    <a:bodyPr/>
                    <a:lstStyle/>
                    <a:p>
                      <a:r>
                        <a:rPr lang="en-US" dirty="0"/>
                        <a:t>Patent Filling</a:t>
                      </a:r>
                      <a:endParaRPr lang="en-IN" dirty="0"/>
                    </a:p>
                  </a:txBody>
                  <a:tcPr/>
                </a:tc>
                <a:tc>
                  <a:txBody>
                    <a:bodyPr/>
                    <a:lstStyle/>
                    <a:p>
                      <a:endParaRPr lang="en-IN" dirty="0"/>
                    </a:p>
                  </a:txBody>
                  <a:tcPr/>
                </a:tc>
                <a:extLst>
                  <a:ext uri="{0D108BD9-81ED-4DB2-BD59-A6C34878D82A}">
                    <a16:rowId xmlns:a16="http://schemas.microsoft.com/office/drawing/2014/main" val="3879483303"/>
                  </a:ext>
                </a:extLst>
              </a:tr>
              <a:tr h="348737">
                <a:tc>
                  <a:txBody>
                    <a:bodyPr/>
                    <a:lstStyle/>
                    <a:p>
                      <a:r>
                        <a:rPr lang="en-US" dirty="0"/>
                        <a:t>Patent Grant</a:t>
                      </a:r>
                      <a:endParaRPr lang="en-IN" dirty="0"/>
                    </a:p>
                  </a:txBody>
                  <a:tcPr/>
                </a:tc>
                <a:tc>
                  <a:txBody>
                    <a:bodyPr/>
                    <a:lstStyle/>
                    <a:p>
                      <a:endParaRPr lang="en-IN" dirty="0"/>
                    </a:p>
                  </a:txBody>
                  <a:tcPr/>
                </a:tc>
                <a:extLst>
                  <a:ext uri="{0D108BD9-81ED-4DB2-BD59-A6C34878D82A}">
                    <a16:rowId xmlns:a16="http://schemas.microsoft.com/office/drawing/2014/main" val="869768731"/>
                  </a:ext>
                </a:extLst>
              </a:tr>
            </a:tbl>
          </a:graphicData>
        </a:graphic>
      </p:graphicFrame>
      <p:sp>
        <p:nvSpPr>
          <p:cNvPr id="3" name="Footer Placeholder 2">
            <a:extLst>
              <a:ext uri="{FF2B5EF4-FFF2-40B4-BE49-F238E27FC236}">
                <a16:creationId xmlns:a16="http://schemas.microsoft.com/office/drawing/2014/main" id="{8072A9F0-D809-BE41-892D-382A7A4AA187}"/>
              </a:ext>
            </a:extLst>
          </p:cNvPr>
          <p:cNvSpPr>
            <a:spLocks noGrp="1"/>
          </p:cNvSpPr>
          <p:nvPr>
            <p:ph type="ftr" sz="quarter" idx="11"/>
          </p:nvPr>
        </p:nvSpPr>
        <p:spPr/>
        <p:txBody>
          <a:bodyPr/>
          <a:lstStyle/>
          <a:p>
            <a:r>
              <a:rPr lang="en-US"/>
              <a:t>PRO600 Publication Statement by Faculty</a:t>
            </a:r>
            <a:endParaRPr lang="en-IN"/>
          </a:p>
        </p:txBody>
      </p:sp>
    </p:spTree>
    <p:extLst>
      <p:ext uri="{BB962C8B-B14F-4D97-AF65-F5344CB8AC3E}">
        <p14:creationId xmlns:p14="http://schemas.microsoft.com/office/powerpoint/2010/main" val="1736123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98675-AC86-5381-09F0-E1F238340E5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CBC3BDA-9AD4-F002-486B-8A577CFA1BB6}"/>
              </a:ext>
            </a:extLst>
          </p:cNvPr>
          <p:cNvSpPr>
            <a:spLocks noGrp="1"/>
          </p:cNvSpPr>
          <p:nvPr>
            <p:ph type="ftr" sz="quarter" idx="11"/>
          </p:nvPr>
        </p:nvSpPr>
        <p:spPr/>
        <p:txBody>
          <a:bodyPr/>
          <a:lstStyle/>
          <a:p>
            <a:r>
              <a:rPr lang="en-US"/>
              <a:t>PRO600 Publication Statement by Faculty</a:t>
            </a:r>
            <a:endParaRPr lang="en-IN"/>
          </a:p>
        </p:txBody>
      </p:sp>
      <p:sp>
        <p:nvSpPr>
          <p:cNvPr id="13" name="Title 12">
            <a:extLst>
              <a:ext uri="{FF2B5EF4-FFF2-40B4-BE49-F238E27FC236}">
                <a16:creationId xmlns:a16="http://schemas.microsoft.com/office/drawing/2014/main" id="{202D9B50-2659-645D-C140-FC4997CF2606}"/>
              </a:ext>
            </a:extLst>
          </p:cNvPr>
          <p:cNvSpPr txBox="1">
            <a:spLocks noGrp="1"/>
          </p:cNvSpPr>
          <p:nvPr>
            <p:ph type="ctrTitle"/>
          </p:nvPr>
        </p:nvSpPr>
        <p:spPr>
          <a:xfrm>
            <a:off x="895094" y="450066"/>
            <a:ext cx="6287012" cy="590931"/>
          </a:xfrm>
          <a:prstGeom prst="rect">
            <a:avLst/>
          </a:prstGeom>
          <a:noFill/>
        </p:spPr>
        <p:txBody>
          <a:bodyPr wrap="square" rtlCol="0">
            <a:spAutoFit/>
          </a:bodyPr>
          <a:lstStyle/>
          <a:p>
            <a:pPr algn="l">
              <a:spcBef>
                <a:spcPts val="0"/>
              </a:spcBef>
            </a:pPr>
            <a:r>
              <a:rPr lang="en-US" sz="3600" dirty="0">
                <a:solidFill>
                  <a:srgbClr val="7030A0"/>
                </a:solidFill>
                <a:latin typeface="Calibri" panose="020F0502020204030204" pitchFamily="34" charset="0"/>
                <a:ea typeface="+mn-ea"/>
                <a:cs typeface="+mn-cs"/>
              </a:rPr>
              <a:t>References</a:t>
            </a:r>
            <a:endParaRPr lang="en-IN" sz="3600" dirty="0">
              <a:effectLst/>
            </a:endParaRPr>
          </a:p>
        </p:txBody>
      </p:sp>
      <p:sp>
        <p:nvSpPr>
          <p:cNvPr id="14" name="Rectangle 5"/>
          <p:cNvSpPr>
            <a:spLocks noGrp="1" noChangeArrowheads="1"/>
          </p:cNvSpPr>
          <p:nvPr>
            <p:ph type="subTitle" idx="1"/>
          </p:nvPr>
        </p:nvSpPr>
        <p:spPr bwMode="auto">
          <a:xfrm>
            <a:off x="697345" y="1206321"/>
            <a:ext cx="1079730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rPr>
              <a:t>Subhash</a:t>
            </a:r>
            <a:r>
              <a:rPr kumimoji="0" lang="en-US" altLang="en-US" sz="1800" b="0" i="0" u="none" strike="noStrike" cap="none" normalizeH="0" baseline="0" dirty="0">
                <a:ln>
                  <a:noFill/>
                </a:ln>
                <a:solidFill>
                  <a:schemeClr val="tx1"/>
                </a:solidFill>
                <a:effectLst/>
              </a:rPr>
              <a:t> S., P. N. Srivatsa, S. </a:t>
            </a:r>
            <a:r>
              <a:rPr kumimoji="0" lang="en-US" altLang="en-US" sz="1800" b="0" i="0" u="none" strike="noStrike" cap="none" normalizeH="0" baseline="0" dirty="0" err="1">
                <a:ln>
                  <a:noFill/>
                </a:ln>
                <a:solidFill>
                  <a:schemeClr val="tx1"/>
                </a:solidFill>
                <a:effectLst/>
              </a:rPr>
              <a:t>Siddesh</a:t>
            </a:r>
            <a:r>
              <a:rPr kumimoji="0" lang="en-US" altLang="en-US" sz="1800" b="0" i="0" u="none" strike="noStrike" cap="none" normalizeH="0" baseline="0" dirty="0">
                <a:ln>
                  <a:noFill/>
                </a:ln>
                <a:solidFill>
                  <a:schemeClr val="tx1"/>
                </a:solidFill>
                <a:effectLst/>
              </a:rPr>
              <a:t>, A. </a:t>
            </a:r>
            <a:r>
              <a:rPr kumimoji="0" lang="en-US" altLang="en-US" sz="1800" b="0" i="0" u="none" strike="noStrike" cap="none" normalizeH="0" baseline="0" dirty="0" err="1">
                <a:ln>
                  <a:noFill/>
                </a:ln>
                <a:solidFill>
                  <a:schemeClr val="tx1"/>
                </a:solidFill>
                <a:effectLst/>
              </a:rPr>
              <a:t>Ullas</a:t>
            </a:r>
            <a:r>
              <a:rPr kumimoji="0" lang="en-US" altLang="en-US" sz="1800" b="0" i="0" u="none" strike="noStrike" cap="none" normalizeH="0" baseline="0" dirty="0">
                <a:ln>
                  <a:noFill/>
                </a:ln>
                <a:solidFill>
                  <a:schemeClr val="tx1"/>
                </a:solidFill>
                <a:effectLst/>
              </a:rPr>
              <a:t>, and B. Santhosh, AI-Based Voice Assistant for Accessibility, </a:t>
            </a:r>
            <a:r>
              <a:rPr kumimoji="0" lang="en-US" altLang="en-US" sz="1800" b="0" i="1" u="none" strike="noStrike" cap="none" normalizeH="0" baseline="0" dirty="0">
                <a:ln>
                  <a:noFill/>
                </a:ln>
                <a:solidFill>
                  <a:schemeClr val="tx1"/>
                </a:solidFill>
                <a:effectLst/>
              </a:rPr>
              <a:t>2020 Fourth World Conference on Smart Trends in Systems, Security and Sustainability (WorldS4)</a:t>
            </a:r>
            <a:r>
              <a:rPr kumimoji="0" lang="en-US" altLang="en-US" sz="1800" b="0" i="0" u="none" strike="noStrike" cap="none" normalizeH="0" baseline="0" dirty="0">
                <a:ln>
                  <a:noFill/>
                </a:ln>
                <a:solidFill>
                  <a:schemeClr val="tx1"/>
                </a:solidFill>
                <a:effectLst/>
              </a:rPr>
              <a:t>, pp. 593–596, 2020.</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Felix S. M., S. Kumar, and A. </a:t>
            </a:r>
            <a:r>
              <a:rPr kumimoji="0" lang="en-US" altLang="en-US" sz="1800" b="0" i="0" u="none" strike="noStrike" cap="none" normalizeH="0" baseline="0" dirty="0" err="1">
                <a:ln>
                  <a:noFill/>
                </a:ln>
                <a:solidFill>
                  <a:schemeClr val="tx1"/>
                </a:solidFill>
                <a:effectLst/>
              </a:rPr>
              <a:t>Veeramuthu</a:t>
            </a:r>
            <a:r>
              <a:rPr kumimoji="0" lang="en-US" altLang="en-US" sz="1800" b="0" i="0" u="none" strike="noStrike" cap="none" normalizeH="0" baseline="0" dirty="0">
                <a:ln>
                  <a:noFill/>
                </a:ln>
                <a:solidFill>
                  <a:schemeClr val="tx1"/>
                </a:solidFill>
                <a:effectLst/>
              </a:rPr>
              <a:t>, A Smart Personal AI Assistant for Visually Impaired People, </a:t>
            </a:r>
            <a:r>
              <a:rPr kumimoji="0" lang="en-US" altLang="en-US" sz="1800" b="0" i="1" u="none" strike="noStrike" cap="none" normalizeH="0" baseline="0" dirty="0">
                <a:ln>
                  <a:noFill/>
                </a:ln>
                <a:solidFill>
                  <a:schemeClr val="tx1"/>
                </a:solidFill>
                <a:effectLst/>
              </a:rPr>
              <a:t>2018 2nd International Conference on Trends in Electronics and Informatics (ICOEI)</a:t>
            </a:r>
            <a:r>
              <a:rPr kumimoji="0" lang="en-US" altLang="en-US" sz="1800" b="0" i="0" u="none" strike="noStrike" cap="none" normalizeH="0" baseline="0" dirty="0">
                <a:ln>
                  <a:noFill/>
                </a:ln>
                <a:solidFill>
                  <a:schemeClr val="tx1"/>
                </a:solidFill>
                <a:effectLst/>
              </a:rPr>
              <a:t>, pp. 112–117, 2018.</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Chen R., Z. Tian, H. Liu, F. Zhao, and S. Zhang, Construction of a Voice-Driven Life Assistant System for Visually Impaired People, </a:t>
            </a:r>
            <a:r>
              <a:rPr kumimoji="0" lang="en-US" altLang="en-US" sz="1800" b="0" i="1" u="none" strike="noStrike" cap="none" normalizeH="0" baseline="0" dirty="0">
                <a:ln>
                  <a:noFill/>
                </a:ln>
                <a:solidFill>
                  <a:schemeClr val="tx1"/>
                </a:solidFill>
                <a:effectLst/>
              </a:rPr>
              <a:t>2018 International Conference on Artificial Intelligence and Big Data (ICAIBD)</a:t>
            </a:r>
            <a:r>
              <a:rPr kumimoji="0" lang="en-US" altLang="en-US" sz="1800" b="0" i="0" u="none" strike="noStrike" cap="none" normalizeH="0" baseline="0" dirty="0">
                <a:ln>
                  <a:noFill/>
                </a:ln>
                <a:solidFill>
                  <a:schemeClr val="tx1"/>
                </a:solidFill>
                <a:effectLst/>
              </a:rPr>
              <a:t>, pp. 87–92, 2018.</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Rani P. J., J. </a:t>
            </a:r>
            <a:r>
              <a:rPr kumimoji="0" lang="en-US" altLang="en-US" sz="1800" b="0" i="0" u="none" strike="noStrike" cap="none" normalizeH="0" baseline="0" dirty="0" err="1">
                <a:ln>
                  <a:noFill/>
                </a:ln>
                <a:solidFill>
                  <a:schemeClr val="tx1"/>
                </a:solidFill>
                <a:effectLst/>
              </a:rPr>
              <a:t>Bakthakumar</a:t>
            </a:r>
            <a:r>
              <a:rPr kumimoji="0" lang="en-US" altLang="en-US" sz="1800" b="0" i="0" u="none" strike="noStrike" cap="none" normalizeH="0" baseline="0" dirty="0">
                <a:ln>
                  <a:noFill/>
                </a:ln>
                <a:solidFill>
                  <a:schemeClr val="tx1"/>
                </a:solidFill>
                <a:effectLst/>
              </a:rPr>
              <a:t>, B. P. </a:t>
            </a:r>
            <a:r>
              <a:rPr kumimoji="0" lang="en-US" altLang="en-US" sz="1800" b="0" i="0" u="none" strike="noStrike" cap="none" normalizeH="0" baseline="0" dirty="0" err="1">
                <a:ln>
                  <a:noFill/>
                </a:ln>
                <a:solidFill>
                  <a:schemeClr val="tx1"/>
                </a:solidFill>
                <a:effectLst/>
              </a:rPr>
              <a:t>Kumaar</a:t>
            </a:r>
            <a:r>
              <a:rPr kumimoji="0" lang="en-US" altLang="en-US" sz="1800" b="0" i="0" u="none" strike="noStrike" cap="none" normalizeH="0" baseline="0" dirty="0">
                <a:ln>
                  <a:noFill/>
                </a:ln>
                <a:solidFill>
                  <a:schemeClr val="tx1"/>
                </a:solidFill>
                <a:effectLst/>
              </a:rPr>
              <a:t>, U. P. </a:t>
            </a:r>
            <a:r>
              <a:rPr kumimoji="0" lang="en-US" altLang="en-US" sz="1800" b="0" i="0" u="none" strike="noStrike" cap="none" normalizeH="0" baseline="0" dirty="0" err="1">
                <a:ln>
                  <a:noFill/>
                </a:ln>
                <a:solidFill>
                  <a:schemeClr val="tx1"/>
                </a:solidFill>
                <a:effectLst/>
              </a:rPr>
              <a:t>Kumaar</a:t>
            </a:r>
            <a:r>
              <a:rPr kumimoji="0" lang="en-US" altLang="en-US" sz="1800" b="0" i="0" u="none" strike="noStrike" cap="none" normalizeH="0" baseline="0" dirty="0">
                <a:ln>
                  <a:noFill/>
                </a:ln>
                <a:solidFill>
                  <a:schemeClr val="tx1"/>
                </a:solidFill>
                <a:effectLst/>
              </a:rPr>
              <a:t>, and S. Kumar, Voice Controlled Home Automation Using Natural Language Processing (NLP) and </a:t>
            </a:r>
            <a:r>
              <a:rPr kumimoji="0" lang="en-US" altLang="en-US" sz="1800" b="0" i="0" u="none" strike="noStrike" cap="none" normalizeH="0" baseline="0" dirty="0" err="1">
                <a:ln>
                  <a:noFill/>
                </a:ln>
                <a:solidFill>
                  <a:schemeClr val="tx1"/>
                </a:solidFill>
                <a:effectLst/>
              </a:rPr>
              <a:t>IoT</a:t>
            </a:r>
            <a:r>
              <a:rPr kumimoji="0" lang="en-US" altLang="en-US" sz="1800" b="0" i="0" u="none" strike="noStrike" cap="none" normalizeH="0" baseline="0" dirty="0">
                <a:ln>
                  <a:noFill/>
                </a:ln>
                <a:solidFill>
                  <a:schemeClr val="tx1"/>
                </a:solidFill>
                <a:effectLst/>
              </a:rPr>
              <a:t>, </a:t>
            </a:r>
            <a:r>
              <a:rPr kumimoji="0" lang="en-US" altLang="en-US" sz="1800" b="0" i="1" u="none" strike="noStrike" cap="none" normalizeH="0" baseline="0" dirty="0">
                <a:ln>
                  <a:noFill/>
                </a:ln>
                <a:solidFill>
                  <a:schemeClr val="tx1"/>
                </a:solidFill>
                <a:effectLst/>
              </a:rPr>
              <a:t>2017 Third International Conference on Science Technology Engineering &amp; Management (ICONSTEM)</a:t>
            </a:r>
            <a:r>
              <a:rPr kumimoji="0" lang="en-US" altLang="en-US" sz="1800" b="0" i="0" u="none" strike="noStrike" cap="none" normalizeH="0" baseline="0" dirty="0">
                <a:ln>
                  <a:noFill/>
                </a:ln>
                <a:solidFill>
                  <a:schemeClr val="tx1"/>
                </a:solidFill>
                <a:effectLst/>
              </a:rPr>
              <a:t>, pp. 45–50, 2017.</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rPr>
              <a:t>Iannizzotto</a:t>
            </a:r>
            <a:r>
              <a:rPr kumimoji="0" lang="en-US" altLang="en-US" sz="1800" b="0" i="0" u="none" strike="noStrike" cap="none" normalizeH="0" baseline="0" dirty="0">
                <a:ln>
                  <a:noFill/>
                </a:ln>
                <a:solidFill>
                  <a:schemeClr val="tx1"/>
                </a:solidFill>
                <a:effectLst/>
              </a:rPr>
              <a:t> G., L. L. Bello, A. </a:t>
            </a:r>
            <a:r>
              <a:rPr kumimoji="0" lang="en-US" altLang="en-US" sz="1800" b="0" i="0" u="none" strike="noStrike" cap="none" normalizeH="0" baseline="0" dirty="0" err="1">
                <a:ln>
                  <a:noFill/>
                </a:ln>
                <a:solidFill>
                  <a:schemeClr val="tx1"/>
                </a:solidFill>
                <a:effectLst/>
              </a:rPr>
              <a:t>Nucita</a:t>
            </a:r>
            <a:r>
              <a:rPr kumimoji="0" lang="en-US" altLang="en-US" sz="1800" b="0" i="0" u="none" strike="noStrike" cap="none" normalizeH="0" baseline="0" dirty="0">
                <a:ln>
                  <a:noFill/>
                </a:ln>
                <a:solidFill>
                  <a:schemeClr val="tx1"/>
                </a:solidFill>
                <a:effectLst/>
              </a:rPr>
              <a:t>, and G. M. Grasso, A Vision and Speech Enabled Customizable Virtual Assistant for Smart Environments, </a:t>
            </a:r>
            <a:r>
              <a:rPr kumimoji="0" lang="en-US" altLang="en-US" sz="1800" b="0" i="1" u="none" strike="noStrike" cap="none" normalizeH="0" baseline="0" dirty="0">
                <a:ln>
                  <a:noFill/>
                </a:ln>
                <a:solidFill>
                  <a:schemeClr val="tx1"/>
                </a:solidFill>
                <a:effectLst/>
              </a:rPr>
              <a:t>2018 11th International Conference on Human System Interaction (HSI)</a:t>
            </a:r>
            <a:r>
              <a:rPr kumimoji="0" lang="en-US" altLang="en-US" sz="1800" b="0" i="0" u="none" strike="noStrike" cap="none" normalizeH="0" baseline="0" dirty="0">
                <a:ln>
                  <a:noFill/>
                </a:ln>
                <a:solidFill>
                  <a:schemeClr val="tx1"/>
                </a:solidFill>
                <a:effectLst/>
              </a:rPr>
              <a:t>, pp. 50–56, 2018.</a:t>
            </a:r>
          </a:p>
        </p:txBody>
      </p:sp>
    </p:spTree>
    <p:extLst>
      <p:ext uri="{BB962C8B-B14F-4D97-AF65-F5344CB8AC3E}">
        <p14:creationId xmlns:p14="http://schemas.microsoft.com/office/powerpoint/2010/main" val="2869019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a:extLst>
              <a:ext uri="{FF2B5EF4-FFF2-40B4-BE49-F238E27FC236}">
                <a16:creationId xmlns:a16="http://schemas.microsoft.com/office/drawing/2014/main" id="{F61649C5-9A4B-D05E-7837-4B85B46C6EDB}"/>
              </a:ext>
            </a:extLst>
          </p:cNvPr>
          <p:cNvPicPr/>
          <p:nvPr/>
        </p:nvPicPr>
        <p:blipFill>
          <a:blip r:embed="rId2" cstate="print"/>
          <a:stretch>
            <a:fillRect/>
          </a:stretch>
        </p:blipFill>
        <p:spPr>
          <a:xfrm rot="5400000">
            <a:off x="5057913" y="2150056"/>
            <a:ext cx="1793539" cy="1837112"/>
          </a:xfrm>
          <a:prstGeom prst="rect">
            <a:avLst/>
          </a:prstGeom>
        </p:spPr>
      </p:pic>
      <p:sp>
        <p:nvSpPr>
          <p:cNvPr id="3" name="object 3">
            <a:extLst>
              <a:ext uri="{FF2B5EF4-FFF2-40B4-BE49-F238E27FC236}">
                <a16:creationId xmlns:a16="http://schemas.microsoft.com/office/drawing/2014/main" id="{A8D44FF3-4FEA-3763-0A4C-7A3B1DE0C4D2}"/>
              </a:ext>
            </a:extLst>
          </p:cNvPr>
          <p:cNvSpPr/>
          <p:nvPr/>
        </p:nvSpPr>
        <p:spPr>
          <a:xfrm rot="5400000">
            <a:off x="5454321" y="3668364"/>
            <a:ext cx="343967" cy="1230630"/>
          </a:xfrm>
          <a:custGeom>
            <a:avLst/>
            <a:gdLst/>
            <a:ahLst/>
            <a:cxnLst/>
            <a:rect l="l" t="t" r="r" b="b"/>
            <a:pathLst>
              <a:path w="445135" h="1592579">
                <a:moveTo>
                  <a:pt x="437375" y="1328915"/>
                </a:moveTo>
                <a:lnTo>
                  <a:pt x="428231" y="1328915"/>
                </a:lnTo>
                <a:lnTo>
                  <a:pt x="428231" y="1344155"/>
                </a:lnTo>
                <a:lnTo>
                  <a:pt x="427380" y="1355026"/>
                </a:lnTo>
                <a:lnTo>
                  <a:pt x="396227" y="1386268"/>
                </a:lnTo>
                <a:lnTo>
                  <a:pt x="364223" y="1388364"/>
                </a:lnTo>
                <a:lnTo>
                  <a:pt x="45707" y="1388364"/>
                </a:lnTo>
                <a:lnTo>
                  <a:pt x="45707" y="1330439"/>
                </a:lnTo>
                <a:lnTo>
                  <a:pt x="46050" y="1317561"/>
                </a:lnTo>
                <a:lnTo>
                  <a:pt x="58458" y="1280325"/>
                </a:lnTo>
                <a:lnTo>
                  <a:pt x="94284" y="1257668"/>
                </a:lnTo>
                <a:lnTo>
                  <a:pt x="117335" y="1254239"/>
                </a:lnTo>
                <a:lnTo>
                  <a:pt x="117335" y="1242047"/>
                </a:lnTo>
                <a:lnTo>
                  <a:pt x="19799" y="1246619"/>
                </a:lnTo>
                <a:lnTo>
                  <a:pt x="19799" y="1587995"/>
                </a:lnTo>
                <a:lnTo>
                  <a:pt x="117335" y="1592567"/>
                </a:lnTo>
                <a:lnTo>
                  <a:pt x="117335" y="1580375"/>
                </a:lnTo>
                <a:lnTo>
                  <a:pt x="103339" y="1578902"/>
                </a:lnTo>
                <a:lnTo>
                  <a:pt x="91046" y="1576565"/>
                </a:lnTo>
                <a:lnTo>
                  <a:pt x="57899" y="1555419"/>
                </a:lnTo>
                <a:lnTo>
                  <a:pt x="45974" y="1511795"/>
                </a:lnTo>
                <a:lnTo>
                  <a:pt x="45707" y="1498079"/>
                </a:lnTo>
                <a:lnTo>
                  <a:pt x="45707" y="1447787"/>
                </a:lnTo>
                <a:lnTo>
                  <a:pt x="364223" y="1447787"/>
                </a:lnTo>
                <a:lnTo>
                  <a:pt x="380822" y="1448346"/>
                </a:lnTo>
                <a:lnTo>
                  <a:pt x="418592" y="1461338"/>
                </a:lnTo>
                <a:lnTo>
                  <a:pt x="428231" y="1491983"/>
                </a:lnTo>
                <a:lnTo>
                  <a:pt x="428231" y="1507223"/>
                </a:lnTo>
                <a:lnTo>
                  <a:pt x="437375" y="1507223"/>
                </a:lnTo>
                <a:lnTo>
                  <a:pt x="437375" y="1328915"/>
                </a:lnTo>
                <a:close/>
              </a:path>
              <a:path w="445135" h="1592579">
                <a:moveTo>
                  <a:pt x="437375" y="915911"/>
                </a:moveTo>
                <a:lnTo>
                  <a:pt x="428244" y="915911"/>
                </a:lnTo>
                <a:lnTo>
                  <a:pt x="427951" y="924471"/>
                </a:lnTo>
                <a:lnTo>
                  <a:pt x="427101" y="931722"/>
                </a:lnTo>
                <a:lnTo>
                  <a:pt x="396430" y="955916"/>
                </a:lnTo>
                <a:lnTo>
                  <a:pt x="373380" y="957059"/>
                </a:lnTo>
                <a:lnTo>
                  <a:pt x="272796" y="957059"/>
                </a:lnTo>
                <a:lnTo>
                  <a:pt x="249377" y="957376"/>
                </a:lnTo>
                <a:lnTo>
                  <a:pt x="201168" y="963155"/>
                </a:lnTo>
                <a:lnTo>
                  <a:pt x="160020" y="989063"/>
                </a:lnTo>
                <a:lnTo>
                  <a:pt x="147828" y="1030211"/>
                </a:lnTo>
                <a:lnTo>
                  <a:pt x="148412" y="1040269"/>
                </a:lnTo>
                <a:lnTo>
                  <a:pt x="165011" y="1080985"/>
                </a:lnTo>
                <a:lnTo>
                  <a:pt x="205740" y="1124699"/>
                </a:lnTo>
                <a:lnTo>
                  <a:pt x="0" y="1124699"/>
                </a:lnTo>
                <a:lnTo>
                  <a:pt x="0" y="1138415"/>
                </a:lnTo>
                <a:lnTo>
                  <a:pt x="33528" y="1220711"/>
                </a:lnTo>
                <a:lnTo>
                  <a:pt x="42672" y="1216139"/>
                </a:lnTo>
                <a:lnTo>
                  <a:pt x="38100" y="1206995"/>
                </a:lnTo>
                <a:lnTo>
                  <a:pt x="36576" y="1200899"/>
                </a:lnTo>
                <a:lnTo>
                  <a:pt x="36576" y="1191755"/>
                </a:lnTo>
                <a:lnTo>
                  <a:pt x="38100" y="1187183"/>
                </a:lnTo>
                <a:lnTo>
                  <a:pt x="77152" y="1175181"/>
                </a:lnTo>
                <a:lnTo>
                  <a:pt x="117348" y="1174991"/>
                </a:lnTo>
                <a:lnTo>
                  <a:pt x="373380" y="1174991"/>
                </a:lnTo>
                <a:lnTo>
                  <a:pt x="416052" y="1181087"/>
                </a:lnTo>
                <a:lnTo>
                  <a:pt x="428244" y="1216139"/>
                </a:lnTo>
                <a:lnTo>
                  <a:pt x="437375" y="1216139"/>
                </a:lnTo>
                <a:lnTo>
                  <a:pt x="437375" y="1078979"/>
                </a:lnTo>
                <a:lnTo>
                  <a:pt x="428244" y="1078979"/>
                </a:lnTo>
                <a:lnTo>
                  <a:pt x="427926" y="1088682"/>
                </a:lnTo>
                <a:lnTo>
                  <a:pt x="426910" y="1097076"/>
                </a:lnTo>
                <a:lnTo>
                  <a:pt x="397383" y="1123746"/>
                </a:lnTo>
                <a:lnTo>
                  <a:pt x="373380" y="1124699"/>
                </a:lnTo>
                <a:lnTo>
                  <a:pt x="224028" y="1124699"/>
                </a:lnTo>
                <a:lnTo>
                  <a:pt x="196596" y="1093635"/>
                </a:lnTo>
                <a:lnTo>
                  <a:pt x="184404" y="1053071"/>
                </a:lnTo>
                <a:lnTo>
                  <a:pt x="184708" y="1046238"/>
                </a:lnTo>
                <a:lnTo>
                  <a:pt x="213360" y="1011923"/>
                </a:lnTo>
                <a:lnTo>
                  <a:pt x="251929" y="1007643"/>
                </a:lnTo>
                <a:lnTo>
                  <a:pt x="272796" y="1007351"/>
                </a:lnTo>
                <a:lnTo>
                  <a:pt x="384543" y="1007376"/>
                </a:lnTo>
                <a:lnTo>
                  <a:pt x="393001" y="1007541"/>
                </a:lnTo>
                <a:lnTo>
                  <a:pt x="398881" y="1007999"/>
                </a:lnTo>
                <a:lnTo>
                  <a:pt x="402336" y="1008875"/>
                </a:lnTo>
                <a:lnTo>
                  <a:pt x="411480" y="1010399"/>
                </a:lnTo>
                <a:lnTo>
                  <a:pt x="428244" y="1046975"/>
                </a:lnTo>
                <a:lnTo>
                  <a:pt x="428244" y="1053071"/>
                </a:lnTo>
                <a:lnTo>
                  <a:pt x="437375" y="1053071"/>
                </a:lnTo>
                <a:lnTo>
                  <a:pt x="437375" y="915911"/>
                </a:lnTo>
                <a:close/>
              </a:path>
              <a:path w="445135" h="1592579">
                <a:moveTo>
                  <a:pt x="437375" y="323075"/>
                </a:moveTo>
                <a:lnTo>
                  <a:pt x="428231" y="323075"/>
                </a:lnTo>
                <a:lnTo>
                  <a:pt x="427951" y="332511"/>
                </a:lnTo>
                <a:lnTo>
                  <a:pt x="427088" y="340220"/>
                </a:lnTo>
                <a:lnTo>
                  <a:pt x="396227" y="363842"/>
                </a:lnTo>
                <a:lnTo>
                  <a:pt x="252971" y="364223"/>
                </a:lnTo>
                <a:lnTo>
                  <a:pt x="234950" y="364782"/>
                </a:lnTo>
                <a:lnTo>
                  <a:pt x="196583" y="371843"/>
                </a:lnTo>
                <a:lnTo>
                  <a:pt x="158483" y="397751"/>
                </a:lnTo>
                <a:lnTo>
                  <a:pt x="147815" y="437375"/>
                </a:lnTo>
                <a:lnTo>
                  <a:pt x="151295" y="460502"/>
                </a:lnTo>
                <a:lnTo>
                  <a:pt x="161912" y="484047"/>
                </a:lnTo>
                <a:lnTo>
                  <a:pt x="179971" y="507885"/>
                </a:lnTo>
                <a:lnTo>
                  <a:pt x="205727" y="531863"/>
                </a:lnTo>
                <a:lnTo>
                  <a:pt x="147815" y="531863"/>
                </a:lnTo>
                <a:lnTo>
                  <a:pt x="147815" y="545579"/>
                </a:lnTo>
                <a:lnTo>
                  <a:pt x="181343" y="627875"/>
                </a:lnTo>
                <a:lnTo>
                  <a:pt x="190487" y="623303"/>
                </a:lnTo>
                <a:lnTo>
                  <a:pt x="187439" y="615683"/>
                </a:lnTo>
                <a:lnTo>
                  <a:pt x="185915" y="609587"/>
                </a:lnTo>
                <a:lnTo>
                  <a:pt x="185915" y="594347"/>
                </a:lnTo>
                <a:lnTo>
                  <a:pt x="192011" y="588251"/>
                </a:lnTo>
                <a:lnTo>
                  <a:pt x="244500" y="582422"/>
                </a:lnTo>
                <a:lnTo>
                  <a:pt x="268211" y="582155"/>
                </a:lnTo>
                <a:lnTo>
                  <a:pt x="373367" y="582155"/>
                </a:lnTo>
                <a:lnTo>
                  <a:pt x="416039" y="589775"/>
                </a:lnTo>
                <a:lnTo>
                  <a:pt x="428231" y="618731"/>
                </a:lnTo>
                <a:lnTo>
                  <a:pt x="428231" y="623303"/>
                </a:lnTo>
                <a:lnTo>
                  <a:pt x="437375" y="623303"/>
                </a:lnTo>
                <a:lnTo>
                  <a:pt x="437375" y="486143"/>
                </a:lnTo>
                <a:lnTo>
                  <a:pt x="428231" y="486143"/>
                </a:lnTo>
                <a:lnTo>
                  <a:pt x="427951" y="496697"/>
                </a:lnTo>
                <a:lnTo>
                  <a:pt x="427088" y="505383"/>
                </a:lnTo>
                <a:lnTo>
                  <a:pt x="397370" y="531482"/>
                </a:lnTo>
                <a:lnTo>
                  <a:pt x="224015" y="531863"/>
                </a:lnTo>
                <a:lnTo>
                  <a:pt x="206260" y="513575"/>
                </a:lnTo>
                <a:lnTo>
                  <a:pt x="193916" y="495287"/>
                </a:lnTo>
                <a:lnTo>
                  <a:pt x="186728" y="476999"/>
                </a:lnTo>
                <a:lnTo>
                  <a:pt x="184391" y="458711"/>
                </a:lnTo>
                <a:lnTo>
                  <a:pt x="185305" y="447903"/>
                </a:lnTo>
                <a:lnTo>
                  <a:pt x="224205" y="417563"/>
                </a:lnTo>
                <a:lnTo>
                  <a:pt x="257543" y="414515"/>
                </a:lnTo>
                <a:lnTo>
                  <a:pt x="373367" y="414515"/>
                </a:lnTo>
                <a:lnTo>
                  <a:pt x="411467" y="419087"/>
                </a:lnTo>
                <a:lnTo>
                  <a:pt x="428231" y="455663"/>
                </a:lnTo>
                <a:lnTo>
                  <a:pt x="428231" y="460235"/>
                </a:lnTo>
                <a:lnTo>
                  <a:pt x="437375" y="460235"/>
                </a:lnTo>
                <a:lnTo>
                  <a:pt x="437375" y="323075"/>
                </a:lnTo>
                <a:close/>
              </a:path>
              <a:path w="445135" h="1592579">
                <a:moveTo>
                  <a:pt x="437388" y="170688"/>
                </a:moveTo>
                <a:lnTo>
                  <a:pt x="428244" y="170688"/>
                </a:lnTo>
                <a:lnTo>
                  <a:pt x="426529" y="189928"/>
                </a:lnTo>
                <a:lnTo>
                  <a:pt x="425450" y="196608"/>
                </a:lnTo>
                <a:lnTo>
                  <a:pt x="385953" y="216141"/>
                </a:lnTo>
                <a:lnTo>
                  <a:pt x="373380" y="216408"/>
                </a:lnTo>
                <a:lnTo>
                  <a:pt x="278892" y="216408"/>
                </a:lnTo>
                <a:lnTo>
                  <a:pt x="0" y="216408"/>
                </a:lnTo>
                <a:lnTo>
                  <a:pt x="0" y="230124"/>
                </a:lnTo>
                <a:lnTo>
                  <a:pt x="33528" y="312420"/>
                </a:lnTo>
                <a:lnTo>
                  <a:pt x="42672" y="307848"/>
                </a:lnTo>
                <a:lnTo>
                  <a:pt x="38100" y="298704"/>
                </a:lnTo>
                <a:lnTo>
                  <a:pt x="36576" y="292608"/>
                </a:lnTo>
                <a:lnTo>
                  <a:pt x="36576" y="283464"/>
                </a:lnTo>
                <a:lnTo>
                  <a:pt x="38100" y="278892"/>
                </a:lnTo>
                <a:lnTo>
                  <a:pt x="44196" y="272796"/>
                </a:lnTo>
                <a:lnTo>
                  <a:pt x="48768" y="269748"/>
                </a:lnTo>
                <a:lnTo>
                  <a:pt x="56388" y="268224"/>
                </a:lnTo>
                <a:lnTo>
                  <a:pt x="64401" y="267982"/>
                </a:lnTo>
                <a:lnTo>
                  <a:pt x="77152" y="267462"/>
                </a:lnTo>
                <a:lnTo>
                  <a:pt x="94742" y="266928"/>
                </a:lnTo>
                <a:lnTo>
                  <a:pt x="117348" y="266700"/>
                </a:lnTo>
                <a:lnTo>
                  <a:pt x="373380" y="266700"/>
                </a:lnTo>
                <a:lnTo>
                  <a:pt x="383336" y="266928"/>
                </a:lnTo>
                <a:lnTo>
                  <a:pt x="384746" y="266928"/>
                </a:lnTo>
                <a:lnTo>
                  <a:pt x="419100" y="277368"/>
                </a:lnTo>
                <a:lnTo>
                  <a:pt x="422148" y="280416"/>
                </a:lnTo>
                <a:lnTo>
                  <a:pt x="424383" y="286702"/>
                </a:lnTo>
                <a:lnTo>
                  <a:pt x="426339" y="294132"/>
                </a:lnTo>
                <a:lnTo>
                  <a:pt x="427710" y="302704"/>
                </a:lnTo>
                <a:lnTo>
                  <a:pt x="428244" y="312420"/>
                </a:lnTo>
                <a:lnTo>
                  <a:pt x="437388" y="312420"/>
                </a:lnTo>
                <a:lnTo>
                  <a:pt x="437388" y="266700"/>
                </a:lnTo>
                <a:lnTo>
                  <a:pt x="437388" y="170688"/>
                </a:lnTo>
                <a:close/>
              </a:path>
              <a:path w="445135" h="1592579">
                <a:moveTo>
                  <a:pt x="437388" y="0"/>
                </a:moveTo>
                <a:lnTo>
                  <a:pt x="426720" y="0"/>
                </a:lnTo>
                <a:lnTo>
                  <a:pt x="426427" y="8547"/>
                </a:lnTo>
                <a:lnTo>
                  <a:pt x="425577" y="15811"/>
                </a:lnTo>
                <a:lnTo>
                  <a:pt x="396024" y="57810"/>
                </a:lnTo>
                <a:lnTo>
                  <a:pt x="355092" y="92964"/>
                </a:lnTo>
                <a:lnTo>
                  <a:pt x="263652" y="166116"/>
                </a:lnTo>
                <a:lnTo>
                  <a:pt x="218592" y="115824"/>
                </a:lnTo>
                <a:lnTo>
                  <a:pt x="189560" y="82956"/>
                </a:lnTo>
                <a:lnTo>
                  <a:pt x="169087" y="46926"/>
                </a:lnTo>
                <a:lnTo>
                  <a:pt x="164592" y="13716"/>
                </a:lnTo>
                <a:lnTo>
                  <a:pt x="155448" y="13716"/>
                </a:lnTo>
                <a:lnTo>
                  <a:pt x="155448" y="137160"/>
                </a:lnTo>
                <a:lnTo>
                  <a:pt x="164592" y="137160"/>
                </a:lnTo>
                <a:lnTo>
                  <a:pt x="164592" y="129540"/>
                </a:lnTo>
                <a:lnTo>
                  <a:pt x="166116" y="123444"/>
                </a:lnTo>
                <a:lnTo>
                  <a:pt x="172212" y="117348"/>
                </a:lnTo>
                <a:lnTo>
                  <a:pt x="175260" y="115824"/>
                </a:lnTo>
                <a:lnTo>
                  <a:pt x="184404" y="115824"/>
                </a:lnTo>
                <a:lnTo>
                  <a:pt x="278892" y="216408"/>
                </a:lnTo>
                <a:lnTo>
                  <a:pt x="343293" y="166116"/>
                </a:lnTo>
                <a:lnTo>
                  <a:pt x="390144" y="129540"/>
                </a:lnTo>
                <a:lnTo>
                  <a:pt x="414528" y="117348"/>
                </a:lnTo>
                <a:lnTo>
                  <a:pt x="419100" y="117348"/>
                </a:lnTo>
                <a:lnTo>
                  <a:pt x="422148" y="118872"/>
                </a:lnTo>
                <a:lnTo>
                  <a:pt x="423672" y="121920"/>
                </a:lnTo>
                <a:lnTo>
                  <a:pt x="426720" y="123444"/>
                </a:lnTo>
                <a:lnTo>
                  <a:pt x="426720" y="129540"/>
                </a:lnTo>
                <a:lnTo>
                  <a:pt x="428244" y="137160"/>
                </a:lnTo>
                <a:lnTo>
                  <a:pt x="437388" y="137160"/>
                </a:lnTo>
                <a:lnTo>
                  <a:pt x="437388" y="117348"/>
                </a:lnTo>
                <a:lnTo>
                  <a:pt x="437388" y="0"/>
                </a:lnTo>
                <a:close/>
              </a:path>
              <a:path w="445135" h="1592579">
                <a:moveTo>
                  <a:pt x="445008" y="824484"/>
                </a:moveTo>
                <a:lnTo>
                  <a:pt x="444944" y="823506"/>
                </a:lnTo>
                <a:lnTo>
                  <a:pt x="444449" y="814692"/>
                </a:lnTo>
                <a:lnTo>
                  <a:pt x="442912" y="805624"/>
                </a:lnTo>
                <a:lnTo>
                  <a:pt x="424434" y="769810"/>
                </a:lnTo>
                <a:lnTo>
                  <a:pt x="408432" y="748398"/>
                </a:lnTo>
                <a:lnTo>
                  <a:pt x="408432" y="797052"/>
                </a:lnTo>
                <a:lnTo>
                  <a:pt x="407543" y="805027"/>
                </a:lnTo>
                <a:lnTo>
                  <a:pt x="377380" y="837819"/>
                </a:lnTo>
                <a:lnTo>
                  <a:pt x="358140" y="841248"/>
                </a:lnTo>
                <a:lnTo>
                  <a:pt x="348754" y="840384"/>
                </a:lnTo>
                <a:lnTo>
                  <a:pt x="349097" y="840384"/>
                </a:lnTo>
                <a:lnTo>
                  <a:pt x="340995" y="838200"/>
                </a:lnTo>
                <a:lnTo>
                  <a:pt x="304050" y="806361"/>
                </a:lnTo>
                <a:lnTo>
                  <a:pt x="281101" y="755662"/>
                </a:lnTo>
                <a:lnTo>
                  <a:pt x="272796" y="734568"/>
                </a:lnTo>
                <a:lnTo>
                  <a:pt x="377952" y="734568"/>
                </a:lnTo>
                <a:lnTo>
                  <a:pt x="391071" y="752894"/>
                </a:lnTo>
                <a:lnTo>
                  <a:pt x="400621" y="769239"/>
                </a:lnTo>
                <a:lnTo>
                  <a:pt x="406450" y="783856"/>
                </a:lnTo>
                <a:lnTo>
                  <a:pt x="408432" y="797052"/>
                </a:lnTo>
                <a:lnTo>
                  <a:pt x="408432" y="748398"/>
                </a:lnTo>
                <a:lnTo>
                  <a:pt x="397764" y="734568"/>
                </a:lnTo>
                <a:lnTo>
                  <a:pt x="409232" y="733132"/>
                </a:lnTo>
                <a:lnTo>
                  <a:pt x="418719" y="731139"/>
                </a:lnTo>
                <a:lnTo>
                  <a:pt x="442683" y="707707"/>
                </a:lnTo>
                <a:lnTo>
                  <a:pt x="443484" y="701040"/>
                </a:lnTo>
                <a:lnTo>
                  <a:pt x="440639" y="685012"/>
                </a:lnTo>
                <a:lnTo>
                  <a:pt x="432244" y="668845"/>
                </a:lnTo>
                <a:lnTo>
                  <a:pt x="418401" y="652386"/>
                </a:lnTo>
                <a:lnTo>
                  <a:pt x="399288" y="635508"/>
                </a:lnTo>
                <a:lnTo>
                  <a:pt x="382524" y="635508"/>
                </a:lnTo>
                <a:lnTo>
                  <a:pt x="390779" y="643813"/>
                </a:lnTo>
                <a:lnTo>
                  <a:pt x="397192" y="650557"/>
                </a:lnTo>
                <a:lnTo>
                  <a:pt x="401586" y="655866"/>
                </a:lnTo>
                <a:lnTo>
                  <a:pt x="403860" y="659892"/>
                </a:lnTo>
                <a:lnTo>
                  <a:pt x="406908" y="665988"/>
                </a:lnTo>
                <a:lnTo>
                  <a:pt x="406908" y="672084"/>
                </a:lnTo>
                <a:lnTo>
                  <a:pt x="385089" y="682980"/>
                </a:lnTo>
                <a:lnTo>
                  <a:pt x="374523" y="683514"/>
                </a:lnTo>
                <a:lnTo>
                  <a:pt x="359943" y="684034"/>
                </a:lnTo>
                <a:lnTo>
                  <a:pt x="341376" y="684276"/>
                </a:lnTo>
                <a:lnTo>
                  <a:pt x="245364" y="684276"/>
                </a:lnTo>
                <a:lnTo>
                  <a:pt x="226504" y="684555"/>
                </a:lnTo>
                <a:lnTo>
                  <a:pt x="180797" y="693991"/>
                </a:lnTo>
                <a:lnTo>
                  <a:pt x="154254" y="728802"/>
                </a:lnTo>
                <a:lnTo>
                  <a:pt x="147828" y="777240"/>
                </a:lnTo>
                <a:lnTo>
                  <a:pt x="149225" y="800074"/>
                </a:lnTo>
                <a:lnTo>
                  <a:pt x="159994" y="838200"/>
                </a:lnTo>
                <a:lnTo>
                  <a:pt x="193167" y="874014"/>
                </a:lnTo>
                <a:lnTo>
                  <a:pt x="219456" y="880872"/>
                </a:lnTo>
                <a:lnTo>
                  <a:pt x="228600" y="880872"/>
                </a:lnTo>
                <a:lnTo>
                  <a:pt x="236220" y="877824"/>
                </a:lnTo>
                <a:lnTo>
                  <a:pt x="240792" y="873252"/>
                </a:lnTo>
                <a:lnTo>
                  <a:pt x="246888" y="868680"/>
                </a:lnTo>
                <a:lnTo>
                  <a:pt x="249936" y="862584"/>
                </a:lnTo>
                <a:lnTo>
                  <a:pt x="249936" y="847344"/>
                </a:lnTo>
                <a:lnTo>
                  <a:pt x="246888" y="841248"/>
                </a:lnTo>
                <a:lnTo>
                  <a:pt x="242316" y="836676"/>
                </a:lnTo>
                <a:lnTo>
                  <a:pt x="236220" y="832104"/>
                </a:lnTo>
                <a:lnTo>
                  <a:pt x="228600" y="830580"/>
                </a:lnTo>
                <a:lnTo>
                  <a:pt x="201168" y="830580"/>
                </a:lnTo>
                <a:lnTo>
                  <a:pt x="194589" y="829741"/>
                </a:lnTo>
                <a:lnTo>
                  <a:pt x="168224" y="796734"/>
                </a:lnTo>
                <a:lnTo>
                  <a:pt x="168148" y="795528"/>
                </a:lnTo>
                <a:lnTo>
                  <a:pt x="167640" y="787908"/>
                </a:lnTo>
                <a:lnTo>
                  <a:pt x="182880" y="748284"/>
                </a:lnTo>
                <a:lnTo>
                  <a:pt x="221665" y="735418"/>
                </a:lnTo>
                <a:lnTo>
                  <a:pt x="240792" y="734568"/>
                </a:lnTo>
                <a:lnTo>
                  <a:pt x="252984" y="734568"/>
                </a:lnTo>
                <a:lnTo>
                  <a:pt x="265239" y="767689"/>
                </a:lnTo>
                <a:lnTo>
                  <a:pt x="276796" y="796099"/>
                </a:lnTo>
                <a:lnTo>
                  <a:pt x="297180" y="838200"/>
                </a:lnTo>
                <a:lnTo>
                  <a:pt x="326529" y="874407"/>
                </a:lnTo>
                <a:lnTo>
                  <a:pt x="361873" y="890968"/>
                </a:lnTo>
                <a:lnTo>
                  <a:pt x="371856" y="891540"/>
                </a:lnTo>
                <a:lnTo>
                  <a:pt x="387261" y="890155"/>
                </a:lnTo>
                <a:lnTo>
                  <a:pt x="425196" y="871728"/>
                </a:lnTo>
                <a:lnTo>
                  <a:pt x="443623" y="837819"/>
                </a:lnTo>
                <a:lnTo>
                  <a:pt x="443738" y="836676"/>
                </a:lnTo>
                <a:lnTo>
                  <a:pt x="445008" y="824484"/>
                </a:lnTo>
                <a:close/>
              </a:path>
            </a:pathLst>
          </a:custGeom>
          <a:solidFill>
            <a:srgbClr val="001F60"/>
          </a:solidFill>
        </p:spPr>
        <p:txBody>
          <a:bodyPr wrap="square" lIns="0" tIns="0" rIns="0" bIns="0" rtlCol="0"/>
          <a:lstStyle/>
          <a:p>
            <a:pPr algn="ctr"/>
            <a:endParaRPr/>
          </a:p>
        </p:txBody>
      </p:sp>
      <p:sp>
        <p:nvSpPr>
          <p:cNvPr id="4" name="object 4">
            <a:extLst>
              <a:ext uri="{FF2B5EF4-FFF2-40B4-BE49-F238E27FC236}">
                <a16:creationId xmlns:a16="http://schemas.microsoft.com/office/drawing/2014/main" id="{E386B8A7-98F2-1754-185F-3E480DDF328F}"/>
              </a:ext>
            </a:extLst>
          </p:cNvPr>
          <p:cNvSpPr/>
          <p:nvPr/>
        </p:nvSpPr>
        <p:spPr>
          <a:xfrm rot="5400000">
            <a:off x="6494020" y="3902061"/>
            <a:ext cx="328757" cy="782147"/>
          </a:xfrm>
          <a:custGeom>
            <a:avLst/>
            <a:gdLst/>
            <a:ahLst/>
            <a:cxnLst/>
            <a:rect l="l" t="t" r="r" b="b"/>
            <a:pathLst>
              <a:path w="425450" h="1012189">
                <a:moveTo>
                  <a:pt x="417576" y="704100"/>
                </a:moveTo>
                <a:lnTo>
                  <a:pt x="408432" y="704100"/>
                </a:lnTo>
                <a:lnTo>
                  <a:pt x="408432" y="717816"/>
                </a:lnTo>
                <a:lnTo>
                  <a:pt x="407568" y="729551"/>
                </a:lnTo>
                <a:lnTo>
                  <a:pt x="376428" y="761441"/>
                </a:lnTo>
                <a:lnTo>
                  <a:pt x="344424" y="763536"/>
                </a:lnTo>
                <a:lnTo>
                  <a:pt x="242316" y="763536"/>
                </a:lnTo>
                <a:lnTo>
                  <a:pt x="82296" y="661428"/>
                </a:lnTo>
                <a:lnTo>
                  <a:pt x="67640" y="652589"/>
                </a:lnTo>
                <a:lnTo>
                  <a:pt x="30264" y="624090"/>
                </a:lnTo>
                <a:lnTo>
                  <a:pt x="10668" y="589610"/>
                </a:lnTo>
                <a:lnTo>
                  <a:pt x="9144" y="579132"/>
                </a:lnTo>
                <a:lnTo>
                  <a:pt x="9144" y="571512"/>
                </a:lnTo>
                <a:lnTo>
                  <a:pt x="0" y="571512"/>
                </a:lnTo>
                <a:lnTo>
                  <a:pt x="0" y="717816"/>
                </a:lnTo>
                <a:lnTo>
                  <a:pt x="9144" y="717816"/>
                </a:lnTo>
                <a:lnTo>
                  <a:pt x="9144" y="707148"/>
                </a:lnTo>
                <a:lnTo>
                  <a:pt x="10668" y="699528"/>
                </a:lnTo>
                <a:lnTo>
                  <a:pt x="12192" y="693432"/>
                </a:lnTo>
                <a:lnTo>
                  <a:pt x="18288" y="684288"/>
                </a:lnTo>
                <a:lnTo>
                  <a:pt x="27432" y="678192"/>
                </a:lnTo>
                <a:lnTo>
                  <a:pt x="33528" y="676668"/>
                </a:lnTo>
                <a:lnTo>
                  <a:pt x="39624" y="676668"/>
                </a:lnTo>
                <a:lnTo>
                  <a:pt x="83820" y="694956"/>
                </a:lnTo>
                <a:lnTo>
                  <a:pt x="211836" y="777252"/>
                </a:lnTo>
                <a:lnTo>
                  <a:pt x="77724" y="864120"/>
                </a:lnTo>
                <a:lnTo>
                  <a:pt x="64008" y="872121"/>
                </a:lnTo>
                <a:lnTo>
                  <a:pt x="52578" y="877836"/>
                </a:lnTo>
                <a:lnTo>
                  <a:pt x="43434" y="881265"/>
                </a:lnTo>
                <a:lnTo>
                  <a:pt x="36576" y="882408"/>
                </a:lnTo>
                <a:lnTo>
                  <a:pt x="27432" y="882408"/>
                </a:lnTo>
                <a:lnTo>
                  <a:pt x="9144" y="844308"/>
                </a:lnTo>
                <a:lnTo>
                  <a:pt x="9144" y="835164"/>
                </a:lnTo>
                <a:lnTo>
                  <a:pt x="0" y="835164"/>
                </a:lnTo>
                <a:lnTo>
                  <a:pt x="0" y="1011948"/>
                </a:lnTo>
                <a:lnTo>
                  <a:pt x="9144" y="1011948"/>
                </a:lnTo>
                <a:lnTo>
                  <a:pt x="9144" y="998232"/>
                </a:lnTo>
                <a:lnTo>
                  <a:pt x="12192" y="993660"/>
                </a:lnTo>
                <a:lnTo>
                  <a:pt x="36233" y="959561"/>
                </a:lnTo>
                <a:lnTo>
                  <a:pt x="70104" y="937272"/>
                </a:lnTo>
                <a:lnTo>
                  <a:pt x="245364" y="822972"/>
                </a:lnTo>
                <a:lnTo>
                  <a:pt x="344424" y="822972"/>
                </a:lnTo>
                <a:lnTo>
                  <a:pt x="361010" y="823518"/>
                </a:lnTo>
                <a:lnTo>
                  <a:pt x="398780" y="837158"/>
                </a:lnTo>
                <a:lnTo>
                  <a:pt x="408432" y="867168"/>
                </a:lnTo>
                <a:lnTo>
                  <a:pt x="408432" y="882408"/>
                </a:lnTo>
                <a:lnTo>
                  <a:pt x="417576" y="882408"/>
                </a:lnTo>
                <a:lnTo>
                  <a:pt x="417576" y="704100"/>
                </a:lnTo>
                <a:close/>
              </a:path>
              <a:path w="425450" h="1012189">
                <a:moveTo>
                  <a:pt x="425196" y="473964"/>
                </a:moveTo>
                <a:lnTo>
                  <a:pt x="423811" y="454850"/>
                </a:lnTo>
                <a:lnTo>
                  <a:pt x="419862" y="436435"/>
                </a:lnTo>
                <a:lnTo>
                  <a:pt x="413613" y="418896"/>
                </a:lnTo>
                <a:lnTo>
                  <a:pt x="405384" y="402336"/>
                </a:lnTo>
                <a:lnTo>
                  <a:pt x="405384" y="460248"/>
                </a:lnTo>
                <a:lnTo>
                  <a:pt x="402526" y="478828"/>
                </a:lnTo>
                <a:lnTo>
                  <a:pt x="379666" y="510832"/>
                </a:lnTo>
                <a:lnTo>
                  <a:pt x="336562" y="534504"/>
                </a:lnTo>
                <a:lnTo>
                  <a:pt x="282930" y="546976"/>
                </a:lnTo>
                <a:lnTo>
                  <a:pt x="252984" y="548640"/>
                </a:lnTo>
                <a:lnTo>
                  <a:pt x="235280" y="547839"/>
                </a:lnTo>
                <a:lnTo>
                  <a:pt x="190500" y="537972"/>
                </a:lnTo>
                <a:lnTo>
                  <a:pt x="156972" y="512064"/>
                </a:lnTo>
                <a:lnTo>
                  <a:pt x="147828" y="480060"/>
                </a:lnTo>
                <a:lnTo>
                  <a:pt x="149555" y="463753"/>
                </a:lnTo>
                <a:lnTo>
                  <a:pt x="176784" y="423672"/>
                </a:lnTo>
                <a:lnTo>
                  <a:pt x="228219" y="401002"/>
                </a:lnTo>
                <a:lnTo>
                  <a:pt x="295656" y="393192"/>
                </a:lnTo>
                <a:lnTo>
                  <a:pt x="323316" y="394335"/>
                </a:lnTo>
                <a:lnTo>
                  <a:pt x="365518" y="403479"/>
                </a:lnTo>
                <a:lnTo>
                  <a:pt x="398716" y="433006"/>
                </a:lnTo>
                <a:lnTo>
                  <a:pt x="405384" y="460248"/>
                </a:lnTo>
                <a:lnTo>
                  <a:pt x="405384" y="402336"/>
                </a:lnTo>
                <a:lnTo>
                  <a:pt x="398614" y="393192"/>
                </a:lnTo>
                <a:lnTo>
                  <a:pt x="394182" y="387197"/>
                </a:lnTo>
                <a:lnTo>
                  <a:pt x="381000" y="373761"/>
                </a:lnTo>
                <a:lnTo>
                  <a:pt x="347472" y="352044"/>
                </a:lnTo>
                <a:lnTo>
                  <a:pt x="308800" y="339661"/>
                </a:lnTo>
                <a:lnTo>
                  <a:pt x="271272" y="335280"/>
                </a:lnTo>
                <a:lnTo>
                  <a:pt x="244690" y="337286"/>
                </a:lnTo>
                <a:lnTo>
                  <a:pt x="196684" y="353288"/>
                </a:lnTo>
                <a:lnTo>
                  <a:pt x="154368" y="388175"/>
                </a:lnTo>
                <a:lnTo>
                  <a:pt x="130886" y="439089"/>
                </a:lnTo>
                <a:lnTo>
                  <a:pt x="128016" y="469392"/>
                </a:lnTo>
                <a:lnTo>
                  <a:pt x="129159" y="487159"/>
                </a:lnTo>
                <a:lnTo>
                  <a:pt x="146304" y="536448"/>
                </a:lnTo>
                <a:lnTo>
                  <a:pt x="184658" y="576745"/>
                </a:lnTo>
                <a:lnTo>
                  <a:pt x="221234" y="594982"/>
                </a:lnTo>
                <a:lnTo>
                  <a:pt x="259473" y="605180"/>
                </a:lnTo>
                <a:lnTo>
                  <a:pt x="278892" y="606552"/>
                </a:lnTo>
                <a:lnTo>
                  <a:pt x="304584" y="604558"/>
                </a:lnTo>
                <a:lnTo>
                  <a:pt x="351967" y="588556"/>
                </a:lnTo>
                <a:lnTo>
                  <a:pt x="396252" y="553694"/>
                </a:lnTo>
                <a:lnTo>
                  <a:pt x="399694" y="548640"/>
                </a:lnTo>
                <a:lnTo>
                  <a:pt x="412432" y="529971"/>
                </a:lnTo>
                <a:lnTo>
                  <a:pt x="422021" y="503402"/>
                </a:lnTo>
                <a:lnTo>
                  <a:pt x="425196" y="473964"/>
                </a:lnTo>
                <a:close/>
              </a:path>
              <a:path w="425450" h="1012189">
                <a:moveTo>
                  <a:pt x="425196" y="82296"/>
                </a:moveTo>
                <a:lnTo>
                  <a:pt x="391668" y="0"/>
                </a:lnTo>
                <a:lnTo>
                  <a:pt x="382524" y="4572"/>
                </a:lnTo>
                <a:lnTo>
                  <a:pt x="385572" y="12192"/>
                </a:lnTo>
                <a:lnTo>
                  <a:pt x="387096" y="19812"/>
                </a:lnTo>
                <a:lnTo>
                  <a:pt x="387096" y="28956"/>
                </a:lnTo>
                <a:lnTo>
                  <a:pt x="385572" y="33528"/>
                </a:lnTo>
                <a:lnTo>
                  <a:pt x="346710" y="45529"/>
                </a:lnTo>
                <a:lnTo>
                  <a:pt x="307848" y="45720"/>
                </a:lnTo>
                <a:lnTo>
                  <a:pt x="135636" y="45720"/>
                </a:lnTo>
                <a:lnTo>
                  <a:pt x="135636" y="141732"/>
                </a:lnTo>
                <a:lnTo>
                  <a:pt x="144780" y="141732"/>
                </a:lnTo>
                <a:lnTo>
                  <a:pt x="145351" y="129159"/>
                </a:lnTo>
                <a:lnTo>
                  <a:pt x="147066" y="118872"/>
                </a:lnTo>
                <a:lnTo>
                  <a:pt x="188976" y="96012"/>
                </a:lnTo>
                <a:lnTo>
                  <a:pt x="347472" y="96012"/>
                </a:lnTo>
                <a:lnTo>
                  <a:pt x="374904" y="127736"/>
                </a:lnTo>
                <a:lnTo>
                  <a:pt x="388620" y="166116"/>
                </a:lnTo>
                <a:lnTo>
                  <a:pt x="387781" y="175856"/>
                </a:lnTo>
                <a:lnTo>
                  <a:pt x="356806" y="209931"/>
                </a:lnTo>
                <a:lnTo>
                  <a:pt x="324612" y="213360"/>
                </a:lnTo>
                <a:lnTo>
                  <a:pt x="135636" y="213360"/>
                </a:lnTo>
                <a:lnTo>
                  <a:pt x="135636" y="310896"/>
                </a:lnTo>
                <a:lnTo>
                  <a:pt x="144780" y="310896"/>
                </a:lnTo>
                <a:lnTo>
                  <a:pt x="144818" y="301205"/>
                </a:lnTo>
                <a:lnTo>
                  <a:pt x="145161" y="292798"/>
                </a:lnTo>
                <a:lnTo>
                  <a:pt x="171640" y="264795"/>
                </a:lnTo>
                <a:lnTo>
                  <a:pt x="188976" y="263652"/>
                </a:lnTo>
                <a:lnTo>
                  <a:pt x="313944" y="263652"/>
                </a:lnTo>
                <a:lnTo>
                  <a:pt x="333108" y="263347"/>
                </a:lnTo>
                <a:lnTo>
                  <a:pt x="374904" y="257556"/>
                </a:lnTo>
                <a:lnTo>
                  <a:pt x="411480" y="233172"/>
                </a:lnTo>
                <a:lnTo>
                  <a:pt x="425196" y="192024"/>
                </a:lnTo>
                <a:lnTo>
                  <a:pt x="424383" y="181762"/>
                </a:lnTo>
                <a:lnTo>
                  <a:pt x="407974" y="141236"/>
                </a:lnTo>
                <a:lnTo>
                  <a:pt x="365760" y="96012"/>
                </a:lnTo>
                <a:lnTo>
                  <a:pt x="425196" y="96012"/>
                </a:lnTo>
                <a:lnTo>
                  <a:pt x="425196" y="82296"/>
                </a:lnTo>
                <a:close/>
              </a:path>
            </a:pathLst>
          </a:custGeom>
          <a:solidFill>
            <a:srgbClr val="001F60"/>
          </a:solidFill>
        </p:spPr>
        <p:txBody>
          <a:bodyPr wrap="square" lIns="0" tIns="0" rIns="0" bIns="0" rtlCol="0"/>
          <a:lstStyle/>
          <a:p>
            <a:pPr algn="ctr"/>
            <a:endParaRPr/>
          </a:p>
        </p:txBody>
      </p:sp>
      <p:sp>
        <p:nvSpPr>
          <p:cNvPr id="5" name="Footer Placeholder 4">
            <a:extLst>
              <a:ext uri="{FF2B5EF4-FFF2-40B4-BE49-F238E27FC236}">
                <a16:creationId xmlns:a16="http://schemas.microsoft.com/office/drawing/2014/main" id="{E12E025E-8084-E230-09C5-01A372570B43}"/>
              </a:ext>
            </a:extLst>
          </p:cNvPr>
          <p:cNvSpPr>
            <a:spLocks noGrp="1"/>
          </p:cNvSpPr>
          <p:nvPr>
            <p:ph type="ftr" sz="quarter" idx="11"/>
          </p:nvPr>
        </p:nvSpPr>
        <p:spPr/>
        <p:txBody>
          <a:bodyPr/>
          <a:lstStyle/>
          <a:p>
            <a:r>
              <a:rPr lang="en-US"/>
              <a:t>PRO600 Publication Statement by Faculty</a:t>
            </a:r>
            <a:endParaRPr lang="en-IN"/>
          </a:p>
        </p:txBody>
      </p:sp>
    </p:spTree>
    <p:extLst>
      <p:ext uri="{BB962C8B-B14F-4D97-AF65-F5344CB8AC3E}">
        <p14:creationId xmlns:p14="http://schemas.microsoft.com/office/powerpoint/2010/main" val="3195640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1339</Words>
  <Application>Microsoft Office PowerPoint</Application>
  <PresentationFormat>Widescreen</PresentationFormat>
  <Paragraphs>144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PowerPoint Presentation</vt:lpstr>
      <vt:lpstr>PowerPoint Presentation</vt:lpstr>
      <vt:lpstr> Inductive base documents for conducting research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Sriabilash N</dc:creator>
  <cp:lastModifiedBy>Aashif AK</cp:lastModifiedBy>
  <cp:revision>11</cp:revision>
  <dcterms:created xsi:type="dcterms:W3CDTF">2026-01-11T04:38:29Z</dcterms:created>
  <dcterms:modified xsi:type="dcterms:W3CDTF">2026-01-11T11:13:36Z</dcterms:modified>
</cp:coreProperties>
</file>
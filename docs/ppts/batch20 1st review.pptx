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0"/>
  </p:notesMasterIdLst>
  <p:sldIdLst>
    <p:sldId id="257" r:id="rId5"/>
    <p:sldId id="380" r:id="rId6"/>
    <p:sldId id="392" r:id="rId7"/>
    <p:sldId id="401" r:id="rId8"/>
    <p:sldId id="403" r:id="rId9"/>
    <p:sldId id="412" r:id="rId10"/>
    <p:sldId id="413" r:id="rId11"/>
    <p:sldId id="405" r:id="rId12"/>
    <p:sldId id="414" r:id="rId13"/>
    <p:sldId id="406" r:id="rId14"/>
    <p:sldId id="408" r:id="rId15"/>
    <p:sldId id="409" r:id="rId16"/>
    <p:sldId id="410" r:id="rId17"/>
    <p:sldId id="411" r:id="rId18"/>
    <p:sldId id="262" r:id="rId19"/>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1pPr>
    <a:lvl2pPr marL="457200" algn="l" defTabSz="457200"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defTabSz="457200"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defTabSz="457200"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defTabSz="457200"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p:defaultTextStyle>
  <p:extLst>
    <p:ext uri="{EFAFB233-063F-42B5-8137-9DF3F51BA10A}">
      <p15:sldGuideLst xmlns:p15="http://schemas.microsoft.com/office/powerpoint/2012/main">
        <p15:guide id="1" orient="horz" pos="2152">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5050"/>
    <a:srgbClr val="FF33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956" autoAdjust="0"/>
    <p:restoredTop sz="94660"/>
  </p:normalViewPr>
  <p:slideViewPr>
    <p:cSldViewPr>
      <p:cViewPr varScale="1">
        <p:scale>
          <a:sx n="67" d="100"/>
          <a:sy n="67" d="100"/>
        </p:scale>
        <p:origin x="96" y="1188"/>
      </p:cViewPr>
      <p:guideLst>
        <p:guide orient="horz" pos="2152"/>
        <p:guide pos="3840"/>
      </p:guideLst>
    </p:cSldViewPr>
  </p:slideViewPr>
  <p:notesTextViewPr>
    <p:cViewPr>
      <p:scale>
        <a:sx n="75" d="100"/>
        <a:sy n="75"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cs typeface="+mn-cs"/>
              </a:defRPr>
            </a:lvl1pPr>
          </a:lstStyle>
          <a:p>
            <a:pPr>
              <a:defRPr/>
            </a:pPr>
            <a:endParaRPr lang="en-IN"/>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a:latin typeface="+mn-lt"/>
                <a:cs typeface="+mn-cs"/>
              </a:defRPr>
            </a:lvl1pPr>
          </a:lstStyle>
          <a:p>
            <a:pPr>
              <a:defRPr/>
            </a:pPr>
            <a:fld id="{1809279E-E194-4655-9FBE-994C699C558E}" type="datetimeFigureOut">
              <a:rPr lang="en-US"/>
              <a:pPr>
                <a:defRPr/>
              </a:pPr>
              <a:t>1/30/2026</a:t>
            </a:fld>
            <a:endParaRPr lang="en-IN"/>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IN"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IN" noProof="0"/>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cs typeface="+mn-cs"/>
              </a:defRPr>
            </a:lvl1pPr>
          </a:lstStyle>
          <a:p>
            <a:pPr>
              <a:defRPr/>
            </a:pPr>
            <a:endParaRPr lang="en-IN"/>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atin typeface="Calibri" panose="020F0502020204030204" pitchFamily="34" charset="0"/>
              </a:defRPr>
            </a:lvl1pPr>
          </a:lstStyle>
          <a:p>
            <a:fld id="{221C618D-A98A-4909-A2EE-8C783DD270CA}" type="slidenum">
              <a:rPr lang="en-IN" altLang="en-US"/>
              <a:pPr/>
              <a:t>‹#›</a:t>
            </a:fld>
            <a:endParaRPr lang="en-IN" altLang="en-US"/>
          </a:p>
        </p:txBody>
      </p:sp>
    </p:spTree>
    <p:extLst>
      <p:ext uri="{BB962C8B-B14F-4D97-AF65-F5344CB8AC3E}">
        <p14:creationId xmlns:p14="http://schemas.microsoft.com/office/powerpoint/2010/main" val="441220451"/>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endParaRPr lang="en-US"/>
          </a:p>
        </p:txBody>
      </p:sp>
      <p:sp>
        <p:nvSpPr>
          <p:cNvPr id="5" name="Footer Placeholder 4"/>
          <p:cNvSpPr>
            <a:spLocks noGrp="1"/>
          </p:cNvSpPr>
          <p:nvPr>
            <p:ph type="ftr" sz="quarter" idx="11"/>
          </p:nvPr>
        </p:nvSpPr>
        <p:spPr/>
        <p:txBody>
          <a:bodyPr/>
          <a:lstStyle>
            <a:lvl1pPr>
              <a:defRPr/>
            </a:lvl1pPr>
          </a:lstStyle>
          <a:p>
            <a:pPr>
              <a:defRPr/>
            </a:pPr>
            <a:r>
              <a:rPr lang="en-US"/>
              <a:t>Cancer Prediction Web application </a:t>
            </a:r>
          </a:p>
        </p:txBody>
      </p:sp>
      <p:sp>
        <p:nvSpPr>
          <p:cNvPr id="6" name="Slide Number Placeholder 5"/>
          <p:cNvSpPr>
            <a:spLocks noGrp="1"/>
          </p:cNvSpPr>
          <p:nvPr>
            <p:ph type="sldNum" sz="quarter" idx="12"/>
          </p:nvPr>
        </p:nvSpPr>
        <p:spPr/>
        <p:txBody>
          <a:bodyPr/>
          <a:lstStyle>
            <a:lvl1pPr>
              <a:defRPr/>
            </a:lvl1pPr>
          </a:lstStyle>
          <a:p>
            <a:fld id="{18E1B47B-9C44-4AC9-B119-A0460EF7361C}" type="slidenum">
              <a:rPr lang="en-US" altLang="en-US"/>
              <a:pPr/>
              <a:t>‹#›</a:t>
            </a:fld>
            <a:endParaRPr lang="en-US" altLang="en-US"/>
          </a:p>
        </p:txBody>
      </p:sp>
    </p:spTree>
    <p:extLst>
      <p:ext uri="{BB962C8B-B14F-4D97-AF65-F5344CB8AC3E}">
        <p14:creationId xmlns:p14="http://schemas.microsoft.com/office/powerpoint/2010/main" val="20354873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endParaRPr lang="en-US"/>
          </a:p>
        </p:txBody>
      </p:sp>
      <p:sp>
        <p:nvSpPr>
          <p:cNvPr id="5" name="Footer Placeholder 4"/>
          <p:cNvSpPr>
            <a:spLocks noGrp="1"/>
          </p:cNvSpPr>
          <p:nvPr>
            <p:ph type="ftr" sz="quarter" idx="11"/>
          </p:nvPr>
        </p:nvSpPr>
        <p:spPr/>
        <p:txBody>
          <a:bodyPr/>
          <a:lstStyle>
            <a:lvl1pPr>
              <a:defRPr/>
            </a:lvl1pPr>
          </a:lstStyle>
          <a:p>
            <a:pPr>
              <a:defRPr/>
            </a:pPr>
            <a:r>
              <a:rPr lang="en-US"/>
              <a:t>Cancer Prediction Web application </a:t>
            </a:r>
          </a:p>
        </p:txBody>
      </p:sp>
      <p:sp>
        <p:nvSpPr>
          <p:cNvPr id="6" name="Slide Number Placeholder 5"/>
          <p:cNvSpPr>
            <a:spLocks noGrp="1"/>
          </p:cNvSpPr>
          <p:nvPr>
            <p:ph type="sldNum" sz="quarter" idx="12"/>
          </p:nvPr>
        </p:nvSpPr>
        <p:spPr/>
        <p:txBody>
          <a:bodyPr/>
          <a:lstStyle>
            <a:lvl1pPr>
              <a:defRPr/>
            </a:lvl1pPr>
          </a:lstStyle>
          <a:p>
            <a:fld id="{3E551D33-6C23-4D2F-A8D2-3F053F0433EC}" type="slidenum">
              <a:rPr lang="en-US" altLang="en-US"/>
              <a:pPr/>
              <a:t>‹#›</a:t>
            </a:fld>
            <a:endParaRPr lang="en-US" altLang="en-US"/>
          </a:p>
        </p:txBody>
      </p:sp>
    </p:spTree>
    <p:extLst>
      <p:ext uri="{BB962C8B-B14F-4D97-AF65-F5344CB8AC3E}">
        <p14:creationId xmlns:p14="http://schemas.microsoft.com/office/powerpoint/2010/main" val="5935798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endParaRPr lang="en-US"/>
          </a:p>
        </p:txBody>
      </p:sp>
      <p:sp>
        <p:nvSpPr>
          <p:cNvPr id="5" name="Footer Placeholder 4"/>
          <p:cNvSpPr>
            <a:spLocks noGrp="1"/>
          </p:cNvSpPr>
          <p:nvPr>
            <p:ph type="ftr" sz="quarter" idx="11"/>
          </p:nvPr>
        </p:nvSpPr>
        <p:spPr/>
        <p:txBody>
          <a:bodyPr/>
          <a:lstStyle>
            <a:lvl1pPr>
              <a:defRPr/>
            </a:lvl1pPr>
          </a:lstStyle>
          <a:p>
            <a:pPr>
              <a:defRPr/>
            </a:pPr>
            <a:r>
              <a:rPr lang="en-US"/>
              <a:t>Cancer Prediction Web application </a:t>
            </a:r>
          </a:p>
        </p:txBody>
      </p:sp>
      <p:sp>
        <p:nvSpPr>
          <p:cNvPr id="6" name="Slide Number Placeholder 5"/>
          <p:cNvSpPr>
            <a:spLocks noGrp="1"/>
          </p:cNvSpPr>
          <p:nvPr>
            <p:ph type="sldNum" sz="quarter" idx="12"/>
          </p:nvPr>
        </p:nvSpPr>
        <p:spPr/>
        <p:txBody>
          <a:bodyPr/>
          <a:lstStyle>
            <a:lvl1pPr>
              <a:defRPr/>
            </a:lvl1pPr>
          </a:lstStyle>
          <a:p>
            <a:fld id="{6147E61B-0ED8-45E0-AB73-13FCB227E385}" type="slidenum">
              <a:rPr lang="en-US" altLang="en-US"/>
              <a:pPr/>
              <a:t>‹#›</a:t>
            </a:fld>
            <a:endParaRPr lang="en-US" altLang="en-US"/>
          </a:p>
        </p:txBody>
      </p:sp>
    </p:spTree>
    <p:extLst>
      <p:ext uri="{BB962C8B-B14F-4D97-AF65-F5344CB8AC3E}">
        <p14:creationId xmlns:p14="http://schemas.microsoft.com/office/powerpoint/2010/main" val="23393942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endParaRPr lang="en-US"/>
          </a:p>
        </p:txBody>
      </p:sp>
      <p:sp>
        <p:nvSpPr>
          <p:cNvPr id="6" name="Footer Placeholder 4"/>
          <p:cNvSpPr>
            <a:spLocks noGrp="1"/>
          </p:cNvSpPr>
          <p:nvPr>
            <p:ph type="ftr" sz="quarter" idx="11"/>
          </p:nvPr>
        </p:nvSpPr>
        <p:spPr/>
        <p:txBody>
          <a:bodyPr/>
          <a:lstStyle>
            <a:lvl1pPr>
              <a:defRPr/>
            </a:lvl1pPr>
          </a:lstStyle>
          <a:p>
            <a:pPr>
              <a:defRPr/>
            </a:pPr>
            <a:r>
              <a:rPr lang="en-US"/>
              <a:t>Cancer Prediction Web application </a:t>
            </a:r>
          </a:p>
        </p:txBody>
      </p:sp>
      <p:sp>
        <p:nvSpPr>
          <p:cNvPr id="7" name="Slide Number Placeholder 5"/>
          <p:cNvSpPr>
            <a:spLocks noGrp="1"/>
          </p:cNvSpPr>
          <p:nvPr>
            <p:ph type="sldNum" sz="quarter" idx="12"/>
          </p:nvPr>
        </p:nvSpPr>
        <p:spPr/>
        <p:txBody>
          <a:bodyPr/>
          <a:lstStyle>
            <a:lvl1pPr>
              <a:defRPr/>
            </a:lvl1pPr>
          </a:lstStyle>
          <a:p>
            <a:fld id="{3CEAD12F-3A88-447C-B047-005ECA07DCFF}" type="slidenum">
              <a:rPr lang="en-US" altLang="en-US"/>
              <a:pPr/>
              <a:t>‹#›</a:t>
            </a:fld>
            <a:endParaRPr lang="en-US" altLang="en-US"/>
          </a:p>
        </p:txBody>
      </p:sp>
    </p:spTree>
    <p:extLst>
      <p:ext uri="{BB962C8B-B14F-4D97-AF65-F5344CB8AC3E}">
        <p14:creationId xmlns:p14="http://schemas.microsoft.com/office/powerpoint/2010/main" val="4937418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endParaRPr lang="en-US"/>
          </a:p>
        </p:txBody>
      </p:sp>
      <p:sp>
        <p:nvSpPr>
          <p:cNvPr id="8" name="Footer Placeholder 4"/>
          <p:cNvSpPr>
            <a:spLocks noGrp="1"/>
          </p:cNvSpPr>
          <p:nvPr>
            <p:ph type="ftr" sz="quarter" idx="11"/>
          </p:nvPr>
        </p:nvSpPr>
        <p:spPr/>
        <p:txBody>
          <a:bodyPr/>
          <a:lstStyle>
            <a:lvl1pPr>
              <a:defRPr/>
            </a:lvl1pPr>
          </a:lstStyle>
          <a:p>
            <a:pPr>
              <a:defRPr/>
            </a:pPr>
            <a:r>
              <a:rPr lang="en-US"/>
              <a:t>Cancer Prediction Web application </a:t>
            </a:r>
          </a:p>
        </p:txBody>
      </p:sp>
      <p:sp>
        <p:nvSpPr>
          <p:cNvPr id="9" name="Slide Number Placeholder 5"/>
          <p:cNvSpPr>
            <a:spLocks noGrp="1"/>
          </p:cNvSpPr>
          <p:nvPr>
            <p:ph type="sldNum" sz="quarter" idx="12"/>
          </p:nvPr>
        </p:nvSpPr>
        <p:spPr/>
        <p:txBody>
          <a:bodyPr/>
          <a:lstStyle>
            <a:lvl1pPr>
              <a:defRPr/>
            </a:lvl1pPr>
          </a:lstStyle>
          <a:p>
            <a:fld id="{9E33177C-8057-4FB2-B3F1-1E0BC536E598}" type="slidenum">
              <a:rPr lang="en-US" altLang="en-US"/>
              <a:pPr/>
              <a:t>‹#›</a:t>
            </a:fld>
            <a:endParaRPr lang="en-US" altLang="en-US"/>
          </a:p>
        </p:txBody>
      </p:sp>
    </p:spTree>
    <p:extLst>
      <p:ext uri="{BB962C8B-B14F-4D97-AF65-F5344CB8AC3E}">
        <p14:creationId xmlns:p14="http://schemas.microsoft.com/office/powerpoint/2010/main" val="1107838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pPr>
              <a:defRPr/>
            </a:pPr>
            <a:endParaRPr lang="en-US"/>
          </a:p>
        </p:txBody>
      </p:sp>
      <p:sp>
        <p:nvSpPr>
          <p:cNvPr id="4" name="Footer Placeholder 4"/>
          <p:cNvSpPr>
            <a:spLocks noGrp="1"/>
          </p:cNvSpPr>
          <p:nvPr>
            <p:ph type="ftr" sz="quarter" idx="11"/>
          </p:nvPr>
        </p:nvSpPr>
        <p:spPr/>
        <p:txBody>
          <a:bodyPr/>
          <a:lstStyle>
            <a:lvl1pPr>
              <a:defRPr/>
            </a:lvl1pPr>
          </a:lstStyle>
          <a:p>
            <a:pPr>
              <a:defRPr/>
            </a:pPr>
            <a:r>
              <a:rPr lang="en-US"/>
              <a:t>Cancer Prediction Web application </a:t>
            </a:r>
          </a:p>
        </p:txBody>
      </p:sp>
      <p:sp>
        <p:nvSpPr>
          <p:cNvPr id="5" name="Slide Number Placeholder 5"/>
          <p:cNvSpPr>
            <a:spLocks noGrp="1"/>
          </p:cNvSpPr>
          <p:nvPr>
            <p:ph type="sldNum" sz="quarter" idx="12"/>
          </p:nvPr>
        </p:nvSpPr>
        <p:spPr/>
        <p:txBody>
          <a:bodyPr/>
          <a:lstStyle>
            <a:lvl1pPr>
              <a:defRPr/>
            </a:lvl1pPr>
          </a:lstStyle>
          <a:p>
            <a:fld id="{E16BD4C8-7A3A-4858-82D0-E0A831AA5E04}" type="slidenum">
              <a:rPr lang="en-US" altLang="en-US"/>
              <a:pPr/>
              <a:t>‹#›</a:t>
            </a:fld>
            <a:endParaRPr lang="en-US" altLang="en-US"/>
          </a:p>
        </p:txBody>
      </p:sp>
    </p:spTree>
    <p:extLst>
      <p:ext uri="{BB962C8B-B14F-4D97-AF65-F5344CB8AC3E}">
        <p14:creationId xmlns:p14="http://schemas.microsoft.com/office/powerpoint/2010/main" val="17447840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endParaRPr lang="en-US"/>
          </a:p>
        </p:txBody>
      </p:sp>
      <p:sp>
        <p:nvSpPr>
          <p:cNvPr id="3" name="Footer Placeholder 4"/>
          <p:cNvSpPr>
            <a:spLocks noGrp="1"/>
          </p:cNvSpPr>
          <p:nvPr>
            <p:ph type="ftr" sz="quarter" idx="11"/>
          </p:nvPr>
        </p:nvSpPr>
        <p:spPr/>
        <p:txBody>
          <a:bodyPr/>
          <a:lstStyle>
            <a:lvl1pPr>
              <a:defRPr/>
            </a:lvl1pPr>
          </a:lstStyle>
          <a:p>
            <a:pPr>
              <a:defRPr/>
            </a:pPr>
            <a:r>
              <a:rPr lang="en-US"/>
              <a:t>Cancer Prediction Web application </a:t>
            </a:r>
          </a:p>
        </p:txBody>
      </p:sp>
      <p:sp>
        <p:nvSpPr>
          <p:cNvPr id="4" name="Slide Number Placeholder 5"/>
          <p:cNvSpPr>
            <a:spLocks noGrp="1"/>
          </p:cNvSpPr>
          <p:nvPr>
            <p:ph type="sldNum" sz="quarter" idx="12"/>
          </p:nvPr>
        </p:nvSpPr>
        <p:spPr/>
        <p:txBody>
          <a:bodyPr/>
          <a:lstStyle>
            <a:lvl1pPr>
              <a:defRPr/>
            </a:lvl1pPr>
          </a:lstStyle>
          <a:p>
            <a:fld id="{0A3BEB76-F0BF-4335-95A7-A56E5DA81A6F}" type="slidenum">
              <a:rPr lang="en-US" altLang="en-US"/>
              <a:pPr/>
              <a:t>‹#›</a:t>
            </a:fld>
            <a:endParaRPr lang="en-US" altLang="en-US"/>
          </a:p>
        </p:txBody>
      </p:sp>
    </p:spTree>
    <p:extLst>
      <p:ext uri="{BB962C8B-B14F-4D97-AF65-F5344CB8AC3E}">
        <p14:creationId xmlns:p14="http://schemas.microsoft.com/office/powerpoint/2010/main" val="454764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endParaRPr lang="en-US"/>
          </a:p>
        </p:txBody>
      </p:sp>
      <p:sp>
        <p:nvSpPr>
          <p:cNvPr id="6" name="Footer Placeholder 4"/>
          <p:cNvSpPr>
            <a:spLocks noGrp="1"/>
          </p:cNvSpPr>
          <p:nvPr>
            <p:ph type="ftr" sz="quarter" idx="11"/>
          </p:nvPr>
        </p:nvSpPr>
        <p:spPr/>
        <p:txBody>
          <a:bodyPr/>
          <a:lstStyle>
            <a:lvl1pPr>
              <a:defRPr/>
            </a:lvl1pPr>
          </a:lstStyle>
          <a:p>
            <a:pPr>
              <a:defRPr/>
            </a:pPr>
            <a:r>
              <a:rPr lang="en-US"/>
              <a:t>Cancer Prediction Web application </a:t>
            </a:r>
          </a:p>
        </p:txBody>
      </p:sp>
      <p:sp>
        <p:nvSpPr>
          <p:cNvPr id="7" name="Slide Number Placeholder 5"/>
          <p:cNvSpPr>
            <a:spLocks noGrp="1"/>
          </p:cNvSpPr>
          <p:nvPr>
            <p:ph type="sldNum" sz="quarter" idx="12"/>
          </p:nvPr>
        </p:nvSpPr>
        <p:spPr/>
        <p:txBody>
          <a:bodyPr/>
          <a:lstStyle>
            <a:lvl1pPr>
              <a:defRPr/>
            </a:lvl1pPr>
          </a:lstStyle>
          <a:p>
            <a:fld id="{48AFD6FE-7F23-464E-801E-1E8922D0E062}" type="slidenum">
              <a:rPr lang="en-US" altLang="en-US"/>
              <a:pPr/>
              <a:t>‹#›</a:t>
            </a:fld>
            <a:endParaRPr lang="en-US" altLang="en-US"/>
          </a:p>
        </p:txBody>
      </p:sp>
    </p:spTree>
    <p:extLst>
      <p:ext uri="{BB962C8B-B14F-4D97-AF65-F5344CB8AC3E}">
        <p14:creationId xmlns:p14="http://schemas.microsoft.com/office/powerpoint/2010/main" val="42014178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endParaRPr lang="en-US"/>
          </a:p>
        </p:txBody>
      </p:sp>
      <p:sp>
        <p:nvSpPr>
          <p:cNvPr id="6" name="Footer Placeholder 4"/>
          <p:cNvSpPr>
            <a:spLocks noGrp="1"/>
          </p:cNvSpPr>
          <p:nvPr>
            <p:ph type="ftr" sz="quarter" idx="11"/>
          </p:nvPr>
        </p:nvSpPr>
        <p:spPr/>
        <p:txBody>
          <a:bodyPr/>
          <a:lstStyle>
            <a:lvl1pPr>
              <a:defRPr/>
            </a:lvl1pPr>
          </a:lstStyle>
          <a:p>
            <a:pPr>
              <a:defRPr/>
            </a:pPr>
            <a:r>
              <a:rPr lang="en-US"/>
              <a:t>Cancer Prediction Web application </a:t>
            </a:r>
          </a:p>
        </p:txBody>
      </p:sp>
      <p:sp>
        <p:nvSpPr>
          <p:cNvPr id="7" name="Slide Number Placeholder 5"/>
          <p:cNvSpPr>
            <a:spLocks noGrp="1"/>
          </p:cNvSpPr>
          <p:nvPr>
            <p:ph type="sldNum" sz="quarter" idx="12"/>
          </p:nvPr>
        </p:nvSpPr>
        <p:spPr/>
        <p:txBody>
          <a:bodyPr/>
          <a:lstStyle>
            <a:lvl1pPr>
              <a:defRPr/>
            </a:lvl1pPr>
          </a:lstStyle>
          <a:p>
            <a:fld id="{CCBB0EFB-19FD-40A0-8B6D-1FB40EF79594}" type="slidenum">
              <a:rPr lang="en-US" altLang="en-US"/>
              <a:pPr/>
              <a:t>‹#›</a:t>
            </a:fld>
            <a:endParaRPr lang="en-US" altLang="en-US"/>
          </a:p>
        </p:txBody>
      </p:sp>
    </p:spTree>
    <p:extLst>
      <p:ext uri="{BB962C8B-B14F-4D97-AF65-F5344CB8AC3E}">
        <p14:creationId xmlns:p14="http://schemas.microsoft.com/office/powerpoint/2010/main" val="26804240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endParaRPr lang="en-US"/>
          </a:p>
        </p:txBody>
      </p:sp>
      <p:sp>
        <p:nvSpPr>
          <p:cNvPr id="5" name="Footer Placeholder 4"/>
          <p:cNvSpPr>
            <a:spLocks noGrp="1"/>
          </p:cNvSpPr>
          <p:nvPr>
            <p:ph type="ftr" sz="quarter" idx="11"/>
          </p:nvPr>
        </p:nvSpPr>
        <p:spPr/>
        <p:txBody>
          <a:bodyPr/>
          <a:lstStyle>
            <a:lvl1pPr>
              <a:defRPr/>
            </a:lvl1pPr>
          </a:lstStyle>
          <a:p>
            <a:pPr>
              <a:defRPr/>
            </a:pPr>
            <a:r>
              <a:rPr lang="en-US"/>
              <a:t>Cancer Prediction Web application </a:t>
            </a:r>
          </a:p>
        </p:txBody>
      </p:sp>
      <p:sp>
        <p:nvSpPr>
          <p:cNvPr id="6" name="Slide Number Placeholder 5"/>
          <p:cNvSpPr>
            <a:spLocks noGrp="1"/>
          </p:cNvSpPr>
          <p:nvPr>
            <p:ph type="sldNum" sz="quarter" idx="12"/>
          </p:nvPr>
        </p:nvSpPr>
        <p:spPr/>
        <p:txBody>
          <a:bodyPr/>
          <a:lstStyle>
            <a:lvl1pPr>
              <a:defRPr/>
            </a:lvl1pPr>
          </a:lstStyle>
          <a:p>
            <a:fld id="{DFF58B55-0404-40B7-A20E-4BAD599F4A94}" type="slidenum">
              <a:rPr lang="en-US" altLang="en-US"/>
              <a:pPr/>
              <a:t>‹#›</a:t>
            </a:fld>
            <a:endParaRPr lang="en-US" altLang="en-US"/>
          </a:p>
        </p:txBody>
      </p:sp>
    </p:spTree>
    <p:extLst>
      <p:ext uri="{BB962C8B-B14F-4D97-AF65-F5344CB8AC3E}">
        <p14:creationId xmlns:p14="http://schemas.microsoft.com/office/powerpoint/2010/main" val="29964159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endParaRPr lang="en-US"/>
          </a:p>
        </p:txBody>
      </p:sp>
      <p:sp>
        <p:nvSpPr>
          <p:cNvPr id="5" name="Footer Placeholder 4"/>
          <p:cNvSpPr>
            <a:spLocks noGrp="1"/>
          </p:cNvSpPr>
          <p:nvPr>
            <p:ph type="ftr" sz="quarter" idx="11"/>
          </p:nvPr>
        </p:nvSpPr>
        <p:spPr/>
        <p:txBody>
          <a:bodyPr/>
          <a:lstStyle>
            <a:lvl1pPr>
              <a:defRPr/>
            </a:lvl1pPr>
          </a:lstStyle>
          <a:p>
            <a:pPr>
              <a:defRPr/>
            </a:pPr>
            <a:r>
              <a:rPr lang="en-US"/>
              <a:t>Cancer Prediction Web application </a:t>
            </a:r>
          </a:p>
        </p:txBody>
      </p:sp>
      <p:sp>
        <p:nvSpPr>
          <p:cNvPr id="6" name="Slide Number Placeholder 5"/>
          <p:cNvSpPr>
            <a:spLocks noGrp="1"/>
          </p:cNvSpPr>
          <p:nvPr>
            <p:ph type="sldNum" sz="quarter" idx="12"/>
          </p:nvPr>
        </p:nvSpPr>
        <p:spPr/>
        <p:txBody>
          <a:bodyPr/>
          <a:lstStyle>
            <a:lvl1pPr>
              <a:defRPr/>
            </a:lvl1pPr>
          </a:lstStyle>
          <a:p>
            <a:fld id="{3ED92588-0AD1-4A0B-BC67-3C805E967B44}" type="slidenum">
              <a:rPr lang="en-US" altLang="en-US"/>
              <a:pPr/>
              <a:t>‹#›</a:t>
            </a:fld>
            <a:endParaRPr lang="en-US" altLang="en-US"/>
          </a:p>
        </p:txBody>
      </p:sp>
    </p:spTree>
    <p:extLst>
      <p:ext uri="{BB962C8B-B14F-4D97-AF65-F5344CB8AC3E}">
        <p14:creationId xmlns:p14="http://schemas.microsoft.com/office/powerpoint/2010/main" val="35667607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0">
          <a:blip r:embed="rId13"/>
          <a:srcRect/>
          <a:stretch>
            <a:fillRect/>
          </a:stretch>
        </a:blip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Text Placeholder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fontAlgn="auto">
              <a:spcBef>
                <a:spcPts val="0"/>
              </a:spcBef>
              <a:spcAft>
                <a:spcPts val="0"/>
              </a:spcAft>
              <a:defRPr sz="1200">
                <a:solidFill>
                  <a:schemeClr val="tx1">
                    <a:tint val="75000"/>
                  </a:schemeClr>
                </a:solidFill>
                <a:latin typeface="+mn-lt"/>
                <a:cs typeface="+mn-cs"/>
              </a:defRPr>
            </a:lvl1pPr>
          </a:lstStyle>
          <a:p>
            <a:pPr>
              <a:defRPr/>
            </a:pPr>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cs typeface="+mn-cs"/>
              </a:defRPr>
            </a:lvl1pPr>
          </a:lstStyle>
          <a:p>
            <a:pPr>
              <a:defRPr/>
            </a:pPr>
            <a:r>
              <a:rPr lang="en-US"/>
              <a:t>Cancer Prediction Web application </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Calibri" panose="020F0502020204030204" pitchFamily="34" charset="0"/>
              </a:defRPr>
            </a:lvl1pPr>
          </a:lstStyle>
          <a:p>
            <a:fld id="{2ED4C59E-866E-44A2-A721-0E3AC13482A0}" type="slidenum">
              <a:rPr lang="en-US" altLang="en-US"/>
              <a:pPr/>
              <a:t>‹#›</a:t>
            </a:fld>
            <a:endParaRPr lang="en-US"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p:txStyles>
    <p:titleStyle>
      <a:lvl1pPr algn="l" rtl="0" eaLnBrk="0" fontAlgn="base"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hangingPunct="0">
        <a:lnSpc>
          <a:spcPct val="90000"/>
        </a:lnSpc>
        <a:spcBef>
          <a:spcPct val="0"/>
        </a:spcBef>
        <a:spcAft>
          <a:spcPct val="0"/>
        </a:spcAft>
        <a:defRPr sz="4400">
          <a:solidFill>
            <a:schemeClr val="tx1"/>
          </a:solidFill>
          <a:latin typeface="Calibri Light" pitchFamily="34" charset="0"/>
        </a:defRPr>
      </a:lvl2pPr>
      <a:lvl3pPr algn="l" rtl="0" eaLnBrk="0" fontAlgn="base" hangingPunct="0">
        <a:lnSpc>
          <a:spcPct val="90000"/>
        </a:lnSpc>
        <a:spcBef>
          <a:spcPct val="0"/>
        </a:spcBef>
        <a:spcAft>
          <a:spcPct val="0"/>
        </a:spcAft>
        <a:defRPr sz="4400">
          <a:solidFill>
            <a:schemeClr val="tx1"/>
          </a:solidFill>
          <a:latin typeface="Calibri Light" pitchFamily="34" charset="0"/>
        </a:defRPr>
      </a:lvl3pPr>
      <a:lvl4pPr algn="l" rtl="0" eaLnBrk="0" fontAlgn="base" hangingPunct="0">
        <a:lnSpc>
          <a:spcPct val="90000"/>
        </a:lnSpc>
        <a:spcBef>
          <a:spcPct val="0"/>
        </a:spcBef>
        <a:spcAft>
          <a:spcPct val="0"/>
        </a:spcAft>
        <a:defRPr sz="4400">
          <a:solidFill>
            <a:schemeClr val="tx1"/>
          </a:solidFill>
          <a:latin typeface="Calibri Light" pitchFamily="34" charset="0"/>
        </a:defRPr>
      </a:lvl4pPr>
      <a:lvl5pPr algn="l" rtl="0" eaLnBrk="0" fontAlgn="base" hangingPunct="0">
        <a:lnSpc>
          <a:spcPct val="90000"/>
        </a:lnSpc>
        <a:spcBef>
          <a:spcPct val="0"/>
        </a:spcBef>
        <a:spcAft>
          <a:spcPct val="0"/>
        </a:spcAft>
        <a:defRPr sz="4400">
          <a:solidFill>
            <a:schemeClr val="tx1"/>
          </a:solidFill>
          <a:latin typeface="Calibri Light" pitchFamily="34" charset="0"/>
        </a:defRPr>
      </a:lvl5pPr>
      <a:lvl6pPr marL="457200" algn="l" rtl="0" fontAlgn="base">
        <a:lnSpc>
          <a:spcPct val="90000"/>
        </a:lnSpc>
        <a:spcBef>
          <a:spcPct val="0"/>
        </a:spcBef>
        <a:spcAft>
          <a:spcPct val="0"/>
        </a:spcAft>
        <a:defRPr sz="4400">
          <a:solidFill>
            <a:schemeClr val="tx1"/>
          </a:solidFill>
          <a:latin typeface="Calibri Light" pitchFamily="34" charset="0"/>
        </a:defRPr>
      </a:lvl6pPr>
      <a:lvl7pPr marL="914400" algn="l" rtl="0" fontAlgn="base">
        <a:lnSpc>
          <a:spcPct val="90000"/>
        </a:lnSpc>
        <a:spcBef>
          <a:spcPct val="0"/>
        </a:spcBef>
        <a:spcAft>
          <a:spcPct val="0"/>
        </a:spcAft>
        <a:defRPr sz="4400">
          <a:solidFill>
            <a:schemeClr val="tx1"/>
          </a:solidFill>
          <a:latin typeface="Calibri Light" pitchFamily="34" charset="0"/>
        </a:defRPr>
      </a:lvl7pPr>
      <a:lvl8pPr marL="1371600" algn="l" rtl="0" fontAlgn="base">
        <a:lnSpc>
          <a:spcPct val="90000"/>
        </a:lnSpc>
        <a:spcBef>
          <a:spcPct val="0"/>
        </a:spcBef>
        <a:spcAft>
          <a:spcPct val="0"/>
        </a:spcAft>
        <a:defRPr sz="4400">
          <a:solidFill>
            <a:schemeClr val="tx1"/>
          </a:solidFill>
          <a:latin typeface="Calibri Light" pitchFamily="34" charset="0"/>
        </a:defRPr>
      </a:lvl8pPr>
      <a:lvl9pPr marL="1828800" algn="l" rtl="0" fontAlgn="base">
        <a:lnSpc>
          <a:spcPct val="90000"/>
        </a:lnSpc>
        <a:spcBef>
          <a:spcPct val="0"/>
        </a:spcBef>
        <a:spcAft>
          <a:spcPct val="0"/>
        </a:spcAft>
        <a:defRPr sz="4400">
          <a:solidFill>
            <a:schemeClr val="tx1"/>
          </a:solidFill>
          <a:latin typeface="Calibri Light" pitchFamily="34" charset="0"/>
        </a:defRPr>
      </a:lvl9pPr>
    </p:titleStyle>
    <p:bodyStyle>
      <a:lvl1pPr marL="228600" indent="-228600" algn="l" rtl="0" eaLnBrk="0" fontAlgn="base"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457200"/>
            <a:ext cx="8458200" cy="609600"/>
          </a:xfrm>
        </p:spPr>
        <p:txBody>
          <a:bodyPr rtlCol="0">
            <a:normAutofit fontScale="90000"/>
          </a:bodyPr>
          <a:lstStyle/>
          <a:p>
            <a:pPr eaLnBrk="1" fontAlgn="auto" hangingPunct="1">
              <a:spcAft>
                <a:spcPts val="0"/>
              </a:spcAft>
              <a:defRPr/>
            </a:pPr>
            <a:br>
              <a:rPr lang="en-IN" b="1" dirty="0">
                <a:solidFill>
                  <a:schemeClr val="tx1">
                    <a:lumMod val="95000"/>
                    <a:lumOff val="5000"/>
                  </a:schemeClr>
                </a:solidFill>
                <a:latin typeface="Times New Roman" panose="02020603050405020304" pitchFamily="18" charset="0"/>
                <a:cs typeface="Times New Roman" panose="02020603050405020304" pitchFamily="18" charset="0"/>
              </a:rPr>
            </a:br>
            <a:br>
              <a:rPr lang="en-IN" b="1" dirty="0">
                <a:solidFill>
                  <a:schemeClr val="tx1">
                    <a:lumMod val="95000"/>
                    <a:lumOff val="5000"/>
                  </a:schemeClr>
                </a:solidFill>
                <a:latin typeface="Times New Roman" panose="02020603050405020304" pitchFamily="18" charset="0"/>
                <a:cs typeface="Times New Roman" panose="02020603050405020304" pitchFamily="18" charset="0"/>
              </a:rPr>
            </a:br>
            <a:br>
              <a:rPr lang="en-IN" b="1" dirty="0">
                <a:solidFill>
                  <a:schemeClr val="tx1">
                    <a:lumMod val="95000"/>
                    <a:lumOff val="5000"/>
                  </a:schemeClr>
                </a:solidFill>
                <a:latin typeface="Times New Roman" panose="02020603050405020304" pitchFamily="18" charset="0"/>
                <a:cs typeface="Times New Roman" panose="02020603050405020304" pitchFamily="18" charset="0"/>
              </a:rPr>
            </a:br>
            <a:endParaRPr lang="en-IN" b="1" dirty="0">
              <a:solidFill>
                <a:schemeClr val="tx1">
                  <a:lumMod val="95000"/>
                  <a:lumOff val="5000"/>
                </a:schemeClr>
              </a:solidFill>
              <a:latin typeface="Times New Roman" panose="02020603050405020304" pitchFamily="18" charset="0"/>
              <a:cs typeface="Times New Roman" panose="02020603050405020304" pitchFamily="18" charset="0"/>
            </a:endParaRPr>
          </a:p>
        </p:txBody>
      </p:sp>
      <p:sp>
        <p:nvSpPr>
          <p:cNvPr id="6" name="Rectangle 5"/>
          <p:cNvSpPr/>
          <p:nvPr/>
        </p:nvSpPr>
        <p:spPr>
          <a:xfrm>
            <a:off x="2209800" y="41275"/>
            <a:ext cx="8763000" cy="1322388"/>
          </a:xfrm>
          <a:prstGeom prst="rect">
            <a:avLst/>
          </a:prstGeom>
        </p:spPr>
        <p:txBody>
          <a:bodyPr>
            <a:spAutoFit/>
          </a:bodyPr>
          <a:lstStyle/>
          <a:p>
            <a:pPr algn="ctr" fontAlgn="auto">
              <a:spcBef>
                <a:spcPts val="0"/>
              </a:spcBef>
              <a:spcAft>
                <a:spcPts val="0"/>
              </a:spcAft>
              <a:defRPr/>
            </a:pPr>
            <a:r>
              <a:rPr lang="en-IN" sz="2000" b="1" dirty="0" err="1">
                <a:solidFill>
                  <a:schemeClr val="tx1">
                    <a:lumMod val="95000"/>
                    <a:lumOff val="5000"/>
                  </a:schemeClr>
                </a:solidFill>
                <a:latin typeface="Helvetica" panose="020B0604020202020204" pitchFamily="34" charset="0"/>
                <a:cs typeface="Helvetica" panose="020B0604020202020204" pitchFamily="34" charset="0"/>
              </a:rPr>
              <a:t>Dr.Mahalingam</a:t>
            </a:r>
            <a:r>
              <a:rPr lang="en-IN" sz="2000" b="1" dirty="0">
                <a:solidFill>
                  <a:schemeClr val="tx1">
                    <a:lumMod val="95000"/>
                    <a:lumOff val="5000"/>
                  </a:schemeClr>
                </a:solidFill>
                <a:latin typeface="Helvetica" panose="020B0604020202020204" pitchFamily="34" charset="0"/>
                <a:cs typeface="Helvetica" panose="020B0604020202020204" pitchFamily="34" charset="0"/>
              </a:rPr>
              <a:t> College of Engineering &amp; Technology</a:t>
            </a:r>
          </a:p>
          <a:p>
            <a:pPr algn="ctr" fontAlgn="auto">
              <a:spcBef>
                <a:spcPts val="0"/>
              </a:spcBef>
              <a:spcAft>
                <a:spcPts val="0"/>
              </a:spcAft>
              <a:defRPr/>
            </a:pPr>
            <a:r>
              <a:rPr lang="en-IN" sz="2000" b="1" dirty="0">
                <a:solidFill>
                  <a:schemeClr val="tx1">
                    <a:lumMod val="95000"/>
                    <a:lumOff val="5000"/>
                  </a:schemeClr>
                </a:solidFill>
                <a:latin typeface="Helvetica" panose="020B0604020202020204" pitchFamily="34" charset="0"/>
                <a:cs typeface="Helvetica" panose="020B0604020202020204" pitchFamily="34" charset="0"/>
              </a:rPr>
              <a:t>Department of Artificial Intelligence &amp; Data Science </a:t>
            </a:r>
          </a:p>
          <a:p>
            <a:pPr algn="ctr" fontAlgn="auto">
              <a:spcBef>
                <a:spcPts val="0"/>
              </a:spcBef>
              <a:spcAft>
                <a:spcPts val="0"/>
              </a:spcAft>
              <a:defRPr/>
            </a:pPr>
            <a:r>
              <a:rPr lang="en-IN" sz="2000" b="1" dirty="0">
                <a:solidFill>
                  <a:schemeClr val="tx1">
                    <a:lumMod val="95000"/>
                    <a:lumOff val="5000"/>
                  </a:schemeClr>
                </a:solidFill>
                <a:latin typeface="Helvetica" panose="020B0604020202020204" pitchFamily="34" charset="0"/>
                <a:cs typeface="Helvetica" panose="020B0604020202020204" pitchFamily="34" charset="0"/>
              </a:rPr>
              <a:t> SUBJECT CODE :  19ADPN6801  Project</a:t>
            </a:r>
          </a:p>
          <a:p>
            <a:pPr algn="ctr" fontAlgn="auto">
              <a:spcBef>
                <a:spcPts val="0"/>
              </a:spcBef>
              <a:spcAft>
                <a:spcPts val="0"/>
              </a:spcAft>
              <a:defRPr/>
            </a:pPr>
            <a:r>
              <a:rPr lang="en-US" sz="2000" b="1" dirty="0">
                <a:solidFill>
                  <a:schemeClr val="tx1">
                    <a:lumMod val="95000"/>
                    <a:lumOff val="5000"/>
                  </a:schemeClr>
                </a:solidFill>
                <a:latin typeface="Helvetica" panose="020B0604020202020204" pitchFamily="34" charset="0"/>
                <a:cs typeface="Helvetica" panose="020B0604020202020204" pitchFamily="34" charset="0"/>
              </a:rPr>
              <a:t>First </a:t>
            </a:r>
            <a:r>
              <a:rPr lang="en-IN" sz="2000" b="1" dirty="0">
                <a:solidFill>
                  <a:schemeClr val="tx1">
                    <a:lumMod val="95000"/>
                    <a:lumOff val="5000"/>
                  </a:schemeClr>
                </a:solidFill>
                <a:latin typeface="Helvetica" panose="020B0604020202020204" pitchFamily="34" charset="0"/>
                <a:cs typeface="Helvetica" panose="020B0604020202020204" pitchFamily="34" charset="0"/>
              </a:rPr>
              <a:t>Review</a:t>
            </a:r>
            <a:endParaRPr lang="en-IN" sz="2000" dirty="0">
              <a:latin typeface="Helvetica" panose="020B0604020202020204" pitchFamily="34" charset="0"/>
              <a:cs typeface="Helvetica" panose="020B0604020202020204" pitchFamily="34" charset="0"/>
            </a:endParaRPr>
          </a:p>
        </p:txBody>
      </p:sp>
      <p:pic>
        <p:nvPicPr>
          <p:cNvPr id="2052" name="Picture 7" descr="C:\Users\STAFFS\Desktop\MCET LOGO NEW_1 (1).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39875" y="58738"/>
            <a:ext cx="1584325"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Google Shape;91;p13"/>
          <p:cNvSpPr txBox="1"/>
          <p:nvPr/>
        </p:nvSpPr>
        <p:spPr>
          <a:xfrm>
            <a:off x="1532313" y="1534999"/>
            <a:ext cx="8907087" cy="4663601"/>
          </a:xfrm>
          <a:prstGeom prst="rect">
            <a:avLst/>
          </a:prstGeom>
          <a:noFill/>
          <a:ln>
            <a:noFill/>
          </a:ln>
        </p:spPr>
        <p:txBody>
          <a:bodyPr spcFirstLastPara="1" lIns="91425" tIns="45700" rIns="91425" bIns="45700"/>
          <a:lstStyle/>
          <a:p>
            <a:pPr marL="274320" indent="-274320" algn="just" fontAlgn="auto">
              <a:lnSpc>
                <a:spcPct val="150000"/>
              </a:lnSpc>
              <a:spcBef>
                <a:spcPts val="0"/>
              </a:spcBef>
              <a:spcAft>
                <a:spcPts val="0"/>
              </a:spcAft>
              <a:buClr>
                <a:srgbClr val="FF0000"/>
              </a:buClr>
              <a:buSzPts val="2044"/>
              <a:buFont typeface="Arial"/>
              <a:buNone/>
              <a:defRPr/>
            </a:pPr>
            <a:r>
              <a:rPr lang="en-US" sz="2000" b="1" dirty="0">
                <a:solidFill>
                  <a:srgbClr val="FF0000"/>
                </a:solidFill>
                <a:latin typeface="Times New Roman"/>
                <a:ea typeface="Times New Roman"/>
                <a:cs typeface="Times New Roman"/>
                <a:sym typeface="Times New Roman"/>
              </a:rPr>
              <a:t>Team Number        : </a:t>
            </a:r>
            <a:r>
              <a:rPr lang="en-US" sz="2000" b="1" dirty="0">
                <a:latin typeface="Times New Roman"/>
                <a:ea typeface="Times New Roman"/>
                <a:cs typeface="Times New Roman"/>
                <a:sym typeface="Times New Roman"/>
              </a:rPr>
              <a:t>A20</a:t>
            </a:r>
            <a:endParaRPr sz="2000" b="1" dirty="0">
              <a:latin typeface="Times New Roman"/>
              <a:ea typeface="Times New Roman"/>
              <a:cs typeface="Times New Roman"/>
              <a:sym typeface="Times New Roman"/>
            </a:endParaRPr>
          </a:p>
          <a:p>
            <a:pPr marL="274320" indent="-274320" algn="just" fontAlgn="auto">
              <a:lnSpc>
                <a:spcPct val="150000"/>
              </a:lnSpc>
              <a:spcBef>
                <a:spcPts val="580"/>
              </a:spcBef>
              <a:spcAft>
                <a:spcPts val="0"/>
              </a:spcAft>
              <a:buClr>
                <a:srgbClr val="FF0000"/>
              </a:buClr>
              <a:buSzPts val="2044"/>
              <a:buFont typeface="Arial"/>
              <a:buNone/>
              <a:defRPr/>
            </a:pPr>
            <a:r>
              <a:rPr lang="en-US" sz="2000" b="1" dirty="0">
                <a:solidFill>
                  <a:srgbClr val="FF0000"/>
                </a:solidFill>
                <a:latin typeface="Times New Roman"/>
                <a:ea typeface="Times New Roman"/>
                <a:cs typeface="Times New Roman"/>
                <a:sym typeface="Times New Roman"/>
              </a:rPr>
              <a:t>Domain                  : </a:t>
            </a:r>
            <a:r>
              <a:rPr lang="en-US" sz="2000" b="1" dirty="0">
                <a:latin typeface="Times New Roman"/>
                <a:ea typeface="Times New Roman"/>
                <a:cs typeface="Times New Roman"/>
                <a:sym typeface="Times New Roman"/>
              </a:rPr>
              <a:t>Artificial Intelligence</a:t>
            </a:r>
            <a:endParaRPr sz="2000" b="1" dirty="0">
              <a:latin typeface="+mn-lt"/>
              <a:cs typeface="+mn-cs"/>
            </a:endParaRPr>
          </a:p>
          <a:p>
            <a:pPr marL="274320" indent="-274320" fontAlgn="auto">
              <a:lnSpc>
                <a:spcPct val="150000"/>
              </a:lnSpc>
              <a:spcBef>
                <a:spcPts val="580"/>
              </a:spcBef>
              <a:spcAft>
                <a:spcPts val="0"/>
              </a:spcAft>
              <a:buClr>
                <a:srgbClr val="FF0000"/>
              </a:buClr>
              <a:buSzPts val="2044"/>
              <a:buFont typeface="Arial"/>
              <a:buNone/>
              <a:defRPr/>
            </a:pPr>
            <a:r>
              <a:rPr lang="en-US" sz="2000" b="1" dirty="0">
                <a:solidFill>
                  <a:srgbClr val="FF0000"/>
                </a:solidFill>
                <a:latin typeface="Times New Roman"/>
                <a:ea typeface="Times New Roman"/>
                <a:cs typeface="Times New Roman"/>
                <a:sym typeface="Times New Roman"/>
              </a:rPr>
              <a:t>Title                        : </a:t>
            </a:r>
            <a:r>
              <a:rPr lang="en-US" sz="2000" b="1" dirty="0">
                <a:latin typeface="Times New Roman"/>
                <a:ea typeface="Times New Roman"/>
                <a:cs typeface="Times New Roman"/>
                <a:sym typeface="Times New Roman"/>
              </a:rPr>
              <a:t>AI based Coding Support System for Differently Abled users</a:t>
            </a:r>
          </a:p>
          <a:p>
            <a:pPr marL="274320" indent="-274320" fontAlgn="auto">
              <a:lnSpc>
                <a:spcPct val="150000"/>
              </a:lnSpc>
              <a:spcBef>
                <a:spcPts val="580"/>
              </a:spcBef>
              <a:spcAft>
                <a:spcPts val="0"/>
              </a:spcAft>
              <a:buClr>
                <a:srgbClr val="FF0000"/>
              </a:buClr>
              <a:buSzPts val="2044"/>
              <a:buFont typeface="Arial"/>
              <a:buNone/>
              <a:defRPr/>
            </a:pPr>
            <a:r>
              <a:rPr lang="en-US" sz="2000" b="1" dirty="0">
                <a:solidFill>
                  <a:srgbClr val="FF0000"/>
                </a:solidFill>
                <a:latin typeface="Times New Roman"/>
                <a:ea typeface="Times New Roman"/>
                <a:cs typeface="Times New Roman"/>
                <a:sym typeface="Times New Roman"/>
              </a:rPr>
              <a:t>Faculty Supervisor : </a:t>
            </a:r>
            <a:r>
              <a:rPr lang="en-US" sz="2000" b="1" dirty="0">
                <a:latin typeface="Times New Roman"/>
                <a:ea typeface="Times New Roman"/>
                <a:cs typeface="Times New Roman"/>
                <a:sym typeface="Times New Roman"/>
              </a:rPr>
              <a:t>Ms. </a:t>
            </a:r>
            <a:r>
              <a:rPr lang="en-US" sz="2000" b="1" dirty="0" err="1">
                <a:latin typeface="Times New Roman"/>
                <a:ea typeface="Times New Roman"/>
                <a:cs typeface="Times New Roman"/>
                <a:sym typeface="Times New Roman"/>
              </a:rPr>
              <a:t>M.Rajalakshmi</a:t>
            </a:r>
            <a:r>
              <a:rPr lang="en-US" sz="2000" b="1" dirty="0">
                <a:latin typeface="Times New Roman"/>
                <a:ea typeface="Times New Roman"/>
                <a:cs typeface="Times New Roman"/>
                <a:sym typeface="Times New Roman"/>
              </a:rPr>
              <a:t> AP/AI &amp; DS</a:t>
            </a:r>
          </a:p>
          <a:p>
            <a:pPr algn="just" fontAlgn="auto">
              <a:lnSpc>
                <a:spcPct val="150000"/>
              </a:lnSpc>
              <a:spcBef>
                <a:spcPts val="580"/>
              </a:spcBef>
              <a:spcAft>
                <a:spcPts val="0"/>
              </a:spcAft>
              <a:buClr>
                <a:srgbClr val="FF0000"/>
              </a:buClr>
              <a:buSzPts val="2044"/>
              <a:defRPr/>
            </a:pPr>
            <a:r>
              <a:rPr lang="en-US" sz="2000" b="1" dirty="0">
                <a:solidFill>
                  <a:srgbClr val="FF0000"/>
                </a:solidFill>
                <a:latin typeface="Times New Roman"/>
                <a:ea typeface="Times New Roman"/>
                <a:cs typeface="Times New Roman"/>
                <a:sym typeface="Times New Roman"/>
              </a:rPr>
              <a:t>Team Members      : </a:t>
            </a:r>
            <a:r>
              <a:rPr lang="en-US" sz="2000" b="1" dirty="0">
                <a:latin typeface="Times New Roman"/>
                <a:ea typeface="Times New Roman"/>
                <a:cs typeface="Times New Roman"/>
                <a:sym typeface="Times New Roman"/>
              </a:rPr>
              <a:t>Sharanya T  		      		727622BAD007</a:t>
            </a:r>
          </a:p>
          <a:p>
            <a:pPr algn="just" fontAlgn="auto">
              <a:lnSpc>
                <a:spcPct val="150000"/>
              </a:lnSpc>
              <a:spcBef>
                <a:spcPts val="580"/>
              </a:spcBef>
              <a:spcAft>
                <a:spcPts val="0"/>
              </a:spcAft>
              <a:buClr>
                <a:srgbClr val="FF0000"/>
              </a:buClr>
              <a:buSzPts val="2044"/>
              <a:defRPr/>
            </a:pPr>
            <a:r>
              <a:rPr lang="en-US" sz="2000" b="1" dirty="0">
                <a:latin typeface="Times New Roman"/>
                <a:ea typeface="Times New Roman"/>
                <a:cs typeface="Times New Roman"/>
                <a:sym typeface="Times New Roman"/>
              </a:rPr>
              <a:t>			             Santhosh S  				727622BAD071</a:t>
            </a:r>
          </a:p>
          <a:p>
            <a:pPr algn="just" fontAlgn="auto">
              <a:lnSpc>
                <a:spcPct val="150000"/>
              </a:lnSpc>
              <a:spcBef>
                <a:spcPts val="580"/>
              </a:spcBef>
              <a:spcAft>
                <a:spcPts val="0"/>
              </a:spcAft>
              <a:buClr>
                <a:srgbClr val="FF0000"/>
              </a:buClr>
              <a:buSzPts val="2044"/>
              <a:defRPr/>
            </a:pPr>
            <a:r>
              <a:rPr lang="en-US" sz="2000" b="1" dirty="0">
                <a:latin typeface="Times New Roman"/>
                <a:ea typeface="Times New Roman"/>
                <a:cs typeface="Times New Roman"/>
                <a:sym typeface="Times New Roman"/>
              </a:rPr>
              <a:t>			             Aashif Shadin K N 		727622BAD099</a:t>
            </a:r>
          </a:p>
          <a:p>
            <a:pPr algn="just" fontAlgn="auto">
              <a:lnSpc>
                <a:spcPct val="150000"/>
              </a:lnSpc>
              <a:spcBef>
                <a:spcPts val="580"/>
              </a:spcBef>
              <a:spcAft>
                <a:spcPts val="0"/>
              </a:spcAft>
              <a:buClr>
                <a:srgbClr val="FF0000"/>
              </a:buClr>
              <a:buSzPts val="2044"/>
              <a:defRPr/>
            </a:pPr>
            <a:r>
              <a:rPr lang="en-US" sz="2000" b="1" dirty="0">
                <a:solidFill>
                  <a:srgbClr val="FF0000"/>
                </a:solidFill>
                <a:latin typeface="Times New Roman"/>
                <a:ea typeface="Times New Roman"/>
                <a:cs typeface="Times New Roman"/>
                <a:sym typeface="Times New Roman"/>
              </a:rPr>
              <a:t>Track 				: </a:t>
            </a:r>
            <a:r>
              <a:rPr lang="en-US" sz="2000" b="1" dirty="0">
                <a:latin typeface="Times New Roman"/>
                <a:ea typeface="Times New Roman"/>
                <a:cs typeface="Times New Roman"/>
                <a:sym typeface="Times New Roman"/>
              </a:rPr>
              <a:t>Patent </a:t>
            </a:r>
            <a:endParaRPr sz="2000" b="1" dirty="0">
              <a:latin typeface="Times New Roman"/>
              <a:ea typeface="Times New Roman"/>
              <a:cs typeface="Times New Roman"/>
              <a:sym typeface="Times New Roman"/>
            </a:endParaRPr>
          </a:p>
          <a:p>
            <a:pPr marL="2468880" lvl="8" indent="-228600" defTabSz="457200">
              <a:lnSpc>
                <a:spcPct val="150000"/>
              </a:lnSpc>
              <a:spcBef>
                <a:spcPts val="500"/>
              </a:spcBef>
              <a:buClr>
                <a:schemeClr val="dk1"/>
              </a:buClr>
              <a:buSzPts val="1665"/>
              <a:buFont typeface="Arial"/>
              <a:buNone/>
              <a:defRPr/>
            </a:pPr>
            <a:endParaRPr sz="2000" b="1" dirty="0">
              <a:solidFill>
                <a:srgbClr val="0C0C0C"/>
              </a:solidFill>
              <a:latin typeface="Calibri"/>
              <a:ea typeface="Calibri"/>
              <a:cs typeface="Calibri"/>
              <a:sym typeface="Calibri"/>
            </a:endParaRPr>
          </a:p>
          <a:p>
            <a:pPr marL="2468880" lvl="8" indent="-228600" defTabSz="457200">
              <a:lnSpc>
                <a:spcPct val="150000"/>
              </a:lnSpc>
              <a:spcBef>
                <a:spcPts val="500"/>
              </a:spcBef>
              <a:buClr>
                <a:srgbClr val="0C0C0C"/>
              </a:buClr>
              <a:buSzPts val="1665"/>
              <a:buFont typeface="Arial"/>
              <a:buNone/>
              <a:defRPr/>
            </a:pPr>
            <a:r>
              <a:rPr lang="en-US" sz="2000" b="1" dirty="0">
                <a:solidFill>
                  <a:srgbClr val="0C0C0C"/>
                </a:solidFill>
                <a:latin typeface="Calibri"/>
                <a:ea typeface="Calibri"/>
                <a:cs typeface="Calibri"/>
                <a:sym typeface="Calibri"/>
              </a:rPr>
              <a:t>		</a:t>
            </a:r>
            <a:endParaRPr sz="2000" b="1" dirty="0">
              <a:solidFill>
                <a:schemeClr val="dk1"/>
              </a:solidFill>
              <a:latin typeface="Calibri"/>
              <a:ea typeface="Calibri"/>
              <a:cs typeface="Calibri"/>
              <a:sym typeface="Calibri"/>
            </a:endParaRPr>
          </a:p>
          <a:p>
            <a:pPr marL="2468880" lvl="8" indent="-228600" defTabSz="457200">
              <a:lnSpc>
                <a:spcPct val="150000"/>
              </a:lnSpc>
              <a:spcBef>
                <a:spcPts val="500"/>
              </a:spcBef>
              <a:buClr>
                <a:schemeClr val="dk1"/>
              </a:buClr>
              <a:buSzPts val="1665"/>
              <a:buFont typeface="Arial"/>
              <a:buNone/>
              <a:defRPr/>
            </a:pPr>
            <a:endParaRPr sz="2000" b="1" dirty="0">
              <a:solidFill>
                <a:srgbClr val="0C0C0C"/>
              </a:solidFill>
              <a:latin typeface="Calibri"/>
              <a:ea typeface="Calibri"/>
              <a:cs typeface="Calibri"/>
              <a:sym typeface="Calibri"/>
            </a:endParaRPr>
          </a:p>
          <a:p>
            <a:pPr marL="274320" indent="-144780" fontAlgn="auto">
              <a:lnSpc>
                <a:spcPct val="150000"/>
              </a:lnSpc>
              <a:spcBef>
                <a:spcPts val="580"/>
              </a:spcBef>
              <a:spcAft>
                <a:spcPts val="0"/>
              </a:spcAft>
              <a:buClr>
                <a:schemeClr val="dk1"/>
              </a:buClr>
              <a:buSzPts val="2044"/>
              <a:buFont typeface="Arial"/>
              <a:buNone/>
              <a:defRPr/>
            </a:pPr>
            <a:endParaRPr sz="2000" b="1" dirty="0">
              <a:solidFill>
                <a:srgbClr val="0C0C0C"/>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Content Placeholder 2"/>
          <p:cNvSpPr>
            <a:spLocks noGrp="1"/>
          </p:cNvSpPr>
          <p:nvPr>
            <p:ph idx="1"/>
          </p:nvPr>
        </p:nvSpPr>
        <p:spPr>
          <a:xfrm>
            <a:off x="914400" y="1219200"/>
            <a:ext cx="6096000" cy="5029200"/>
          </a:xfrm>
        </p:spPr>
        <p:txBody>
          <a:bodyPr/>
          <a:lstStyle/>
          <a:p>
            <a:pPr eaLnBrk="1" hangingPunct="1"/>
            <a:r>
              <a:rPr lang="en-US" altLang="en-US" b="1" dirty="0">
                <a:latin typeface="Times New Roman" panose="02020603050405020304" pitchFamily="18" charset="0"/>
                <a:cs typeface="Times New Roman" panose="02020603050405020304" pitchFamily="18" charset="0"/>
              </a:rPr>
              <a:t>Abstract</a:t>
            </a:r>
          </a:p>
          <a:p>
            <a:pPr eaLnBrk="1" hangingPunct="1"/>
            <a:r>
              <a:rPr lang="en-US" altLang="en-US" b="1" dirty="0">
                <a:latin typeface="Times New Roman" panose="02020603050405020304" pitchFamily="18" charset="0"/>
                <a:cs typeface="Times New Roman" panose="02020603050405020304" pitchFamily="18" charset="0"/>
              </a:rPr>
              <a:t>Literature Survey Summary</a:t>
            </a:r>
          </a:p>
          <a:p>
            <a:pPr eaLnBrk="1" hangingPunct="1"/>
            <a:r>
              <a:rPr lang="en-US" altLang="en-US" b="1" dirty="0">
                <a:latin typeface="Times New Roman" panose="02020603050405020304" pitchFamily="18" charset="0"/>
                <a:cs typeface="Times New Roman" panose="02020603050405020304" pitchFamily="18" charset="0"/>
              </a:rPr>
              <a:t>Architecture Diagram</a:t>
            </a:r>
          </a:p>
          <a:p>
            <a:pPr eaLnBrk="1" hangingPunct="1"/>
            <a:r>
              <a:rPr lang="en-US" altLang="en-US" b="1" dirty="0">
                <a:latin typeface="Times New Roman" panose="02020603050405020304" pitchFamily="18" charset="0"/>
                <a:cs typeface="Times New Roman" panose="02020603050405020304" pitchFamily="18" charset="0"/>
              </a:rPr>
              <a:t>Detailed description of the drawings</a:t>
            </a:r>
          </a:p>
          <a:p>
            <a:pPr eaLnBrk="1" hangingPunct="1"/>
            <a:r>
              <a:rPr lang="en-US" altLang="en-US" b="1" dirty="0">
                <a:latin typeface="Times New Roman" panose="02020603050405020304" pitchFamily="18" charset="0"/>
                <a:cs typeface="Times New Roman" panose="02020603050405020304" pitchFamily="18" charset="0"/>
              </a:rPr>
              <a:t>Detailed Description of the Invention</a:t>
            </a:r>
          </a:p>
          <a:p>
            <a:pPr lvl="1" eaLnBrk="1" hangingPunct="1"/>
            <a:r>
              <a:rPr lang="en-US" altLang="en-US" sz="2800" b="1" dirty="0">
                <a:latin typeface="Times New Roman" panose="02020603050405020304" pitchFamily="18" charset="0"/>
                <a:cs typeface="Times New Roman" panose="02020603050405020304" pitchFamily="18" charset="0"/>
              </a:rPr>
              <a:t>Methodology</a:t>
            </a:r>
          </a:p>
          <a:p>
            <a:pPr lvl="1" eaLnBrk="1" hangingPunct="1"/>
            <a:r>
              <a:rPr lang="en-US" altLang="en-US" sz="2800" b="1" dirty="0">
                <a:latin typeface="Times New Roman" panose="02020603050405020304" pitchFamily="18" charset="0"/>
                <a:cs typeface="Times New Roman" panose="02020603050405020304" pitchFamily="18" charset="0"/>
              </a:rPr>
              <a:t>Implementation details</a:t>
            </a:r>
          </a:p>
          <a:p>
            <a:pPr lvl="1" eaLnBrk="1" hangingPunct="1">
              <a:buFont typeface="Arial" panose="020B0604020202020204" pitchFamily="34" charset="0"/>
              <a:buNone/>
            </a:pPr>
            <a:endParaRPr lang="en-US" altLang="en-US" sz="2800" b="1" dirty="0">
              <a:latin typeface="Times New Roman" panose="02020603050405020304" pitchFamily="18" charset="0"/>
              <a:cs typeface="Times New Roman" panose="02020603050405020304" pitchFamily="18" charset="0"/>
            </a:endParaRPr>
          </a:p>
          <a:p>
            <a:pPr eaLnBrk="1" hangingPunct="1"/>
            <a:endParaRPr lang="en-US" altLang="en-US" b="1" dirty="0">
              <a:latin typeface="Times New Roman" panose="02020603050405020304" pitchFamily="18" charset="0"/>
              <a:cs typeface="Times New Roman" panose="02020603050405020304" pitchFamily="18" charset="0"/>
            </a:endParaRPr>
          </a:p>
        </p:txBody>
      </p:sp>
      <p:sp>
        <p:nvSpPr>
          <p:cNvPr id="3075" name="Title 7"/>
          <p:cNvSpPr>
            <a:spLocks noGrp="1"/>
          </p:cNvSpPr>
          <p:nvPr>
            <p:ph type="title"/>
          </p:nvPr>
        </p:nvSpPr>
        <p:spPr>
          <a:xfrm>
            <a:off x="838200" y="365125"/>
            <a:ext cx="10515600" cy="854075"/>
          </a:xfrm>
        </p:spPr>
        <p:txBody>
          <a:bodyPr/>
          <a:lstStyle/>
          <a:p>
            <a:pPr eaLnBrk="1" hangingPunct="1"/>
            <a:r>
              <a:rPr lang="en-US" altLang="en-IN" sz="4000" b="1" dirty="0">
                <a:solidFill>
                  <a:srgbClr val="FF0000"/>
                </a:solidFill>
                <a:latin typeface="Times New Roman" panose="02020603050405020304" pitchFamily="18" charset="0"/>
                <a:cs typeface="Times New Roman" panose="02020603050405020304" pitchFamily="18" charset="0"/>
              </a:rPr>
              <a:t>Contents</a:t>
            </a:r>
          </a:p>
        </p:txBody>
      </p:sp>
      <p:sp>
        <p:nvSpPr>
          <p:cNvPr id="3076" name="Text Box 1"/>
          <p:cNvSpPr txBox="1">
            <a:spLocks noChangeArrowheads="1"/>
          </p:cNvSpPr>
          <p:nvPr/>
        </p:nvSpPr>
        <p:spPr bwMode="auto">
          <a:xfrm>
            <a:off x="6705600" y="6815138"/>
            <a:ext cx="406400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a:latin typeface="Calibri" panose="020F050202020403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Title 1"/>
          <p:cNvSpPr>
            <a:spLocks noGrp="1"/>
          </p:cNvSpPr>
          <p:nvPr>
            <p:ph type="title"/>
          </p:nvPr>
        </p:nvSpPr>
        <p:spPr/>
        <p:txBody>
          <a:bodyPr/>
          <a:lstStyle/>
          <a:p>
            <a:pPr eaLnBrk="1" hangingPunct="1"/>
            <a:r>
              <a:rPr lang="en-IN" altLang="en-US" sz="4000" b="1" dirty="0">
                <a:solidFill>
                  <a:srgbClr val="FF0000"/>
                </a:solidFill>
                <a:latin typeface="Times New Roman" panose="02020603050405020304" pitchFamily="18" charset="0"/>
                <a:cs typeface="Times New Roman" panose="02020603050405020304" pitchFamily="18" charset="0"/>
              </a:rPr>
              <a:t>Abstract</a:t>
            </a:r>
          </a:p>
        </p:txBody>
      </p:sp>
      <p:sp>
        <p:nvSpPr>
          <p:cNvPr id="4100" name="Google Shape;110;p16"/>
          <p:cNvSpPr txBox="1">
            <a:spLocks/>
          </p:cNvSpPr>
          <p:nvPr/>
        </p:nvSpPr>
        <p:spPr bwMode="auto">
          <a:xfrm>
            <a:off x="623392" y="1340768"/>
            <a:ext cx="10515600" cy="4100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5" tIns="45700" rIns="91425" bIns="45700"/>
          <a:lstStyle>
            <a:lvl1pPr marL="228600" indent="-2286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just">
              <a:lnSpc>
                <a:spcPct val="150000"/>
              </a:lnSpc>
            </a:pPr>
            <a:r>
              <a:rPr lang="en-GB" sz="2000" dirty="0">
                <a:latin typeface="Times New Roman" panose="02020603050405020304" pitchFamily="18" charset="0"/>
                <a:cs typeface="Times New Roman" panose="02020603050405020304" pitchFamily="18" charset="0"/>
              </a:rPr>
              <a:t>    				Modern programming environments are largely optimized for keyboard and mouse interaction, which creates accessibility challenges for developers with physical or motor disabilities. Although speech recognition and artificial intelligence have advanced significantly, their effective use in context-aware programming remains limited. This paper presents a voice-enabled, AI-based coding assistant that enables hands-free interaction within an integrated development environment. The system captures spoken commands, converts them into text using speech-to-text techniques, and interprets user intent using natural language processing. Based on the identified intent, programming actions such as code generation and modification are performed. Implemented as an extension for Visual Studio Code, the proposed solution enhances accessibility and supports inclusive software development practices.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itle 1"/>
          <p:cNvSpPr>
            <a:spLocks noGrp="1"/>
          </p:cNvSpPr>
          <p:nvPr>
            <p:ph type="title"/>
          </p:nvPr>
        </p:nvSpPr>
        <p:spPr>
          <a:xfrm>
            <a:off x="714375" y="-36945"/>
            <a:ext cx="10515600" cy="1325563"/>
          </a:xfrm>
        </p:spPr>
        <p:txBody>
          <a:bodyPr/>
          <a:lstStyle/>
          <a:p>
            <a:pPr eaLnBrk="1" hangingPunct="1"/>
            <a:r>
              <a:rPr lang="en-IN" altLang="en-US" sz="4000" b="1" dirty="0">
                <a:solidFill>
                  <a:srgbClr val="FF0000"/>
                </a:solidFill>
                <a:latin typeface="Times New Roman" panose="02020603050405020304" pitchFamily="18" charset="0"/>
                <a:cs typeface="Times New Roman" panose="02020603050405020304" pitchFamily="18" charset="0"/>
              </a:rPr>
              <a:t>Literature Survey Summary</a:t>
            </a:r>
          </a:p>
        </p:txBody>
      </p:sp>
      <p:sp>
        <p:nvSpPr>
          <p:cNvPr id="4" name="Date Placeholder 3"/>
          <p:cNvSpPr>
            <a:spLocks noGrp="1"/>
          </p:cNvSpPr>
          <p:nvPr>
            <p:ph type="dt" sz="quarter" idx="10"/>
          </p:nvPr>
        </p:nvSpPr>
        <p:spPr/>
        <p:txBody>
          <a:bodyPr/>
          <a:lstStyle/>
          <a:p>
            <a:pPr>
              <a:defRPr/>
            </a:pPr>
            <a:endParaRPr lang="en-US"/>
          </a:p>
        </p:txBody>
      </p:sp>
      <p:sp>
        <p:nvSpPr>
          <p:cNvPr id="5124" name="Google Shape;110;p16"/>
          <p:cNvSpPr txBox="1">
            <a:spLocks/>
          </p:cNvSpPr>
          <p:nvPr/>
        </p:nvSpPr>
        <p:spPr bwMode="auto">
          <a:xfrm>
            <a:off x="609600" y="1690688"/>
            <a:ext cx="10515600" cy="4100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5" tIns="45700" rIns="91425" bIns="45700"/>
          <a:lstStyle>
            <a:lvl1pPr marL="228600" indent="-2286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just" defTabSz="914400" eaLnBrk="1" hangingPunct="1">
              <a:lnSpc>
                <a:spcPct val="90000"/>
              </a:lnSpc>
              <a:buClr>
                <a:srgbClr val="000000"/>
              </a:buClr>
              <a:buSzPts val="2400"/>
              <a:buFont typeface="Arial" panose="020B0604020202020204" pitchFamily="34" charset="0"/>
              <a:buChar char="•"/>
            </a:pPr>
            <a:endParaRPr lang="en-US" altLang="en-US" sz="2200">
              <a:latin typeface="Times New Roman" panose="02020603050405020304" pitchFamily="18" charset="0"/>
              <a:cs typeface="Times New Roman" panose="02020603050405020304" pitchFamily="18" charset="0"/>
              <a:sym typeface="Times New Roman" panose="02020603050405020304" pitchFamily="18" charset="0"/>
            </a:endParaRPr>
          </a:p>
        </p:txBody>
      </p:sp>
      <p:graphicFrame>
        <p:nvGraphicFramePr>
          <p:cNvPr id="2" name="Table 1"/>
          <p:cNvGraphicFramePr>
            <a:graphicFrameLocks noGrp="1"/>
          </p:cNvGraphicFramePr>
          <p:nvPr>
            <p:extLst>
              <p:ext uri="{D42A27DB-BD31-4B8C-83A1-F6EECF244321}">
                <p14:modId xmlns:p14="http://schemas.microsoft.com/office/powerpoint/2010/main" val="2484028960"/>
              </p:ext>
            </p:extLst>
          </p:nvPr>
        </p:nvGraphicFramePr>
        <p:xfrm>
          <a:off x="750183" y="1124744"/>
          <a:ext cx="11208568" cy="4669121"/>
        </p:xfrm>
        <a:graphic>
          <a:graphicData uri="http://schemas.openxmlformats.org/drawingml/2006/table">
            <a:tbl>
              <a:tblPr firstRow="1" bandRow="1">
                <a:tableStyleId>{21E4AEA4-8DFA-4A89-87EB-49C32662AFE0}</a:tableStyleId>
              </a:tblPr>
              <a:tblGrid>
                <a:gridCol w="593289">
                  <a:extLst>
                    <a:ext uri="{9D8B030D-6E8A-4147-A177-3AD203B41FA5}">
                      <a16:colId xmlns:a16="http://schemas.microsoft.com/office/drawing/2014/main" val="20000"/>
                    </a:ext>
                  </a:extLst>
                </a:gridCol>
                <a:gridCol w="4464496">
                  <a:extLst>
                    <a:ext uri="{9D8B030D-6E8A-4147-A177-3AD203B41FA5}">
                      <a16:colId xmlns:a16="http://schemas.microsoft.com/office/drawing/2014/main" val="20001"/>
                    </a:ext>
                  </a:extLst>
                </a:gridCol>
                <a:gridCol w="1584176">
                  <a:extLst>
                    <a:ext uri="{9D8B030D-6E8A-4147-A177-3AD203B41FA5}">
                      <a16:colId xmlns:a16="http://schemas.microsoft.com/office/drawing/2014/main" val="20002"/>
                    </a:ext>
                  </a:extLst>
                </a:gridCol>
                <a:gridCol w="4566607">
                  <a:extLst>
                    <a:ext uri="{9D8B030D-6E8A-4147-A177-3AD203B41FA5}">
                      <a16:colId xmlns:a16="http://schemas.microsoft.com/office/drawing/2014/main" val="20003"/>
                    </a:ext>
                  </a:extLst>
                </a:gridCol>
              </a:tblGrid>
              <a:tr h="245995">
                <a:tc>
                  <a:txBody>
                    <a:bodyPr/>
                    <a:lstStyle/>
                    <a:p>
                      <a:pPr algn="ctr"/>
                      <a:r>
                        <a:rPr lang="en-IN" sz="1400" dirty="0" err="1">
                          <a:latin typeface="Times New Roman" panose="02020603050405020304" pitchFamily="18" charset="0"/>
                          <a:cs typeface="Times New Roman" panose="02020603050405020304" pitchFamily="18" charset="0"/>
                        </a:rPr>
                        <a:t>S.No</a:t>
                      </a:r>
                      <a:endParaRPr lang="en-IN" sz="1400" dirty="0">
                        <a:latin typeface="Times New Roman" panose="02020603050405020304" pitchFamily="18" charset="0"/>
                        <a:cs typeface="Times New Roman" panose="02020603050405020304" pitchFamily="18" charset="0"/>
                      </a:endParaRPr>
                    </a:p>
                  </a:txBody>
                  <a:tcPr marL="39201" marR="39201" marT="19601" marB="19601" anchor="ctr"/>
                </a:tc>
                <a:tc>
                  <a:txBody>
                    <a:bodyPr/>
                    <a:lstStyle/>
                    <a:p>
                      <a:pPr algn="ctr"/>
                      <a:r>
                        <a:rPr lang="en-IN" sz="1400" dirty="0">
                          <a:latin typeface="Times New Roman" panose="02020603050405020304" pitchFamily="18" charset="0"/>
                          <a:cs typeface="Times New Roman" panose="02020603050405020304" pitchFamily="18" charset="0"/>
                        </a:rPr>
                        <a:t>Paper Title</a:t>
                      </a:r>
                    </a:p>
                  </a:txBody>
                  <a:tcPr marL="39201" marR="39201" marT="19601" marB="19601" anchor="ctr"/>
                </a:tc>
                <a:tc>
                  <a:txBody>
                    <a:bodyPr/>
                    <a:lstStyle/>
                    <a:p>
                      <a:pPr algn="ctr"/>
                      <a:r>
                        <a:rPr lang="en-IN" sz="1400" dirty="0">
                          <a:latin typeface="Times New Roman" panose="02020603050405020304" pitchFamily="18" charset="0"/>
                          <a:cs typeface="Times New Roman" panose="02020603050405020304" pitchFamily="18" charset="0"/>
                        </a:rPr>
                        <a:t>Year Published</a:t>
                      </a:r>
                    </a:p>
                  </a:txBody>
                  <a:tcPr marL="39201" marR="39201" marT="19601" marB="19601" anchor="ctr"/>
                </a:tc>
                <a:tc>
                  <a:txBody>
                    <a:bodyPr/>
                    <a:lstStyle/>
                    <a:p>
                      <a:pPr algn="ctr"/>
                      <a:r>
                        <a:rPr lang="en-GB" sz="1400" dirty="0">
                          <a:latin typeface="Times New Roman" panose="02020603050405020304" pitchFamily="18" charset="0"/>
                          <a:cs typeface="Times New Roman" panose="02020603050405020304" pitchFamily="18" charset="0"/>
                        </a:rPr>
                        <a:t>Short Description (under 30 words)</a:t>
                      </a:r>
                    </a:p>
                  </a:txBody>
                  <a:tcPr marL="39201" marR="39201" marT="19601" marB="19601" anchor="ctr"/>
                </a:tc>
                <a:extLst>
                  <a:ext uri="{0D108BD9-81ED-4DB2-BD59-A6C34878D82A}">
                    <a16:rowId xmlns:a16="http://schemas.microsoft.com/office/drawing/2014/main" val="10000"/>
                  </a:ext>
                </a:extLst>
              </a:tr>
              <a:tr h="934763">
                <a:tc>
                  <a:txBody>
                    <a:bodyPr/>
                    <a:lstStyle/>
                    <a:p>
                      <a:pPr algn="ctr"/>
                      <a:r>
                        <a:rPr lang="en-IN" sz="1400" dirty="0">
                          <a:latin typeface="Times New Roman" panose="02020603050405020304" pitchFamily="18" charset="0"/>
                          <a:cs typeface="Times New Roman" panose="02020603050405020304" pitchFamily="18" charset="0"/>
                        </a:rPr>
                        <a:t>1</a:t>
                      </a:r>
                    </a:p>
                  </a:txBody>
                  <a:tcPr marL="39201" marR="39201" marT="19601" marB="19601" anchor="ctr"/>
                </a:tc>
                <a:tc>
                  <a:txBody>
                    <a:bodyPr/>
                    <a:lstStyle/>
                    <a:p>
                      <a:pPr algn="ctr"/>
                      <a:r>
                        <a:rPr lang="en-GB" sz="1400" dirty="0">
                          <a:latin typeface="Times New Roman" panose="02020603050405020304" pitchFamily="18" charset="0"/>
                          <a:cs typeface="Times New Roman" panose="02020603050405020304" pitchFamily="18" charset="0"/>
                        </a:rPr>
                        <a:t>Voice-Controlled Programming for Assistive Technology</a:t>
                      </a:r>
                    </a:p>
                  </a:txBody>
                  <a:tcPr marL="39201" marR="39201" marT="19601" marB="19601" anchor="ctr"/>
                </a:tc>
                <a:tc>
                  <a:txBody>
                    <a:bodyPr/>
                    <a:lstStyle/>
                    <a:p>
                      <a:pPr algn="ctr"/>
                      <a:r>
                        <a:rPr lang="en-IN" sz="1400" dirty="0">
                          <a:latin typeface="Times New Roman" panose="02020603050405020304" pitchFamily="18" charset="0"/>
                          <a:cs typeface="Times New Roman" panose="02020603050405020304" pitchFamily="18" charset="0"/>
                        </a:rPr>
                        <a:t>2018</a:t>
                      </a:r>
                    </a:p>
                  </a:txBody>
                  <a:tcPr marL="39201" marR="39201" marT="19601" marB="19601" anchor="ctr"/>
                </a:tc>
                <a:tc>
                  <a:txBody>
                    <a:bodyPr/>
                    <a:lstStyle/>
                    <a:p>
                      <a:r>
                        <a:rPr lang="en-GB" sz="1400" dirty="0">
                          <a:latin typeface="Times New Roman" panose="02020603050405020304" pitchFamily="18" charset="0"/>
                          <a:cs typeface="Times New Roman" panose="02020603050405020304" pitchFamily="18" charset="0"/>
                        </a:rPr>
                        <a:t>Explores voice-based programming tools to support users with physical disabilities, highlighting benefits and limitations of speech-driven coding systems.</a:t>
                      </a:r>
                    </a:p>
                  </a:txBody>
                  <a:tcPr marL="39201" marR="39201" marT="19601" marB="19601" anchor="ctr"/>
                </a:tc>
                <a:extLst>
                  <a:ext uri="{0D108BD9-81ED-4DB2-BD59-A6C34878D82A}">
                    <a16:rowId xmlns:a16="http://schemas.microsoft.com/office/drawing/2014/main" val="10001"/>
                  </a:ext>
                </a:extLst>
              </a:tr>
              <a:tr h="819968">
                <a:tc>
                  <a:txBody>
                    <a:bodyPr/>
                    <a:lstStyle/>
                    <a:p>
                      <a:pPr algn="ctr"/>
                      <a:r>
                        <a:rPr lang="en-IN" sz="1400" dirty="0">
                          <a:latin typeface="Times New Roman" panose="02020603050405020304" pitchFamily="18" charset="0"/>
                          <a:cs typeface="Times New Roman" panose="02020603050405020304" pitchFamily="18" charset="0"/>
                        </a:rPr>
                        <a:t>2</a:t>
                      </a:r>
                    </a:p>
                  </a:txBody>
                  <a:tcPr marL="39201" marR="39201" marT="19601" marB="19601" anchor="ctr"/>
                </a:tc>
                <a:tc>
                  <a:txBody>
                    <a:bodyPr/>
                    <a:lstStyle/>
                    <a:p>
                      <a:pPr algn="ctr"/>
                      <a:r>
                        <a:rPr lang="en-GB" sz="1400" dirty="0">
                          <a:latin typeface="Times New Roman" panose="02020603050405020304" pitchFamily="18" charset="0"/>
                          <a:cs typeface="Times New Roman" panose="02020603050405020304" pitchFamily="18" charset="0"/>
                        </a:rPr>
                        <a:t>Speech Recognition Techniques for Software Development</a:t>
                      </a:r>
                    </a:p>
                  </a:txBody>
                  <a:tcPr marL="39201" marR="39201" marT="19601" marB="19601" anchor="ctr"/>
                </a:tc>
                <a:tc>
                  <a:txBody>
                    <a:bodyPr/>
                    <a:lstStyle/>
                    <a:p>
                      <a:pPr algn="ctr"/>
                      <a:r>
                        <a:rPr lang="en-IN" sz="1400" dirty="0">
                          <a:latin typeface="Times New Roman" panose="02020603050405020304" pitchFamily="18" charset="0"/>
                          <a:cs typeface="Times New Roman" panose="02020603050405020304" pitchFamily="18" charset="0"/>
                        </a:rPr>
                        <a:t>2019</a:t>
                      </a:r>
                    </a:p>
                  </a:txBody>
                  <a:tcPr marL="39201" marR="39201" marT="19601" marB="19601" anchor="ctr"/>
                </a:tc>
                <a:tc>
                  <a:txBody>
                    <a:bodyPr/>
                    <a:lstStyle/>
                    <a:p>
                      <a:r>
                        <a:rPr lang="en-GB" sz="1400" dirty="0">
                          <a:latin typeface="Times New Roman" panose="02020603050405020304" pitchFamily="18" charset="0"/>
                          <a:cs typeface="Times New Roman" panose="02020603050405020304" pitchFamily="18" charset="0"/>
                        </a:rPr>
                        <a:t>Discusses speech-to-text methods applied to programming environments and challenges in handling syntax and code structure.</a:t>
                      </a:r>
                    </a:p>
                  </a:txBody>
                  <a:tcPr marL="39201" marR="39201" marT="19601" marB="19601" anchor="ctr"/>
                </a:tc>
                <a:extLst>
                  <a:ext uri="{0D108BD9-81ED-4DB2-BD59-A6C34878D82A}">
                    <a16:rowId xmlns:a16="http://schemas.microsoft.com/office/drawing/2014/main" val="10002"/>
                  </a:ext>
                </a:extLst>
              </a:tr>
              <a:tr h="1021892">
                <a:tc>
                  <a:txBody>
                    <a:bodyPr/>
                    <a:lstStyle/>
                    <a:p>
                      <a:pPr algn="ctr"/>
                      <a:r>
                        <a:rPr lang="en-IN" sz="1400" dirty="0">
                          <a:latin typeface="Times New Roman" panose="02020603050405020304" pitchFamily="18" charset="0"/>
                          <a:cs typeface="Times New Roman" panose="02020603050405020304" pitchFamily="18" charset="0"/>
                        </a:rPr>
                        <a:t>3</a:t>
                      </a:r>
                    </a:p>
                  </a:txBody>
                  <a:tcPr marL="39201" marR="39201" marT="19601" marB="19601" anchor="ctr"/>
                </a:tc>
                <a:tc>
                  <a:txBody>
                    <a:bodyPr/>
                    <a:lstStyle/>
                    <a:p>
                      <a:pPr algn="ctr"/>
                      <a:r>
                        <a:rPr lang="en-IN" sz="1400" dirty="0">
                          <a:latin typeface="Times New Roman" panose="02020603050405020304" pitchFamily="18" charset="0"/>
                          <a:cs typeface="Times New Roman" panose="02020603050405020304" pitchFamily="18" charset="0"/>
                        </a:rPr>
                        <a:t>Natural Language Processing in Intelligent IDEs</a:t>
                      </a:r>
                    </a:p>
                  </a:txBody>
                  <a:tcPr marL="39201" marR="39201" marT="19601" marB="19601" anchor="ctr"/>
                </a:tc>
                <a:tc>
                  <a:txBody>
                    <a:bodyPr/>
                    <a:lstStyle/>
                    <a:p>
                      <a:pPr algn="ctr"/>
                      <a:r>
                        <a:rPr lang="en-IN" sz="1400" dirty="0">
                          <a:latin typeface="Times New Roman" panose="02020603050405020304" pitchFamily="18" charset="0"/>
                          <a:cs typeface="Times New Roman" panose="02020603050405020304" pitchFamily="18" charset="0"/>
                        </a:rPr>
                        <a:t>2020</a:t>
                      </a:r>
                    </a:p>
                  </a:txBody>
                  <a:tcPr marL="39201" marR="39201" marT="19601" marB="19601" anchor="ctr"/>
                </a:tc>
                <a:tc>
                  <a:txBody>
                    <a:bodyPr/>
                    <a:lstStyle/>
                    <a:p>
                      <a:r>
                        <a:rPr lang="en-GB" sz="1400" dirty="0">
                          <a:latin typeface="Times New Roman" panose="02020603050405020304" pitchFamily="18" charset="0"/>
                          <a:cs typeface="Times New Roman" panose="02020603050405020304" pitchFamily="18" charset="0"/>
                        </a:rPr>
                        <a:t>Reviews NLP-based approaches for understanding developer intent and automating coding tasks within integrated development environments.</a:t>
                      </a:r>
                    </a:p>
                  </a:txBody>
                  <a:tcPr marL="39201" marR="39201" marT="19601" marB="19601" anchor="ctr"/>
                </a:tc>
                <a:extLst>
                  <a:ext uri="{0D108BD9-81ED-4DB2-BD59-A6C34878D82A}">
                    <a16:rowId xmlns:a16="http://schemas.microsoft.com/office/drawing/2014/main" val="10003"/>
                  </a:ext>
                </a:extLst>
              </a:tr>
              <a:tr h="819968">
                <a:tc>
                  <a:txBody>
                    <a:bodyPr/>
                    <a:lstStyle/>
                    <a:p>
                      <a:pPr algn="ctr"/>
                      <a:r>
                        <a:rPr lang="en-IN" sz="1400" dirty="0">
                          <a:latin typeface="Times New Roman" panose="02020603050405020304" pitchFamily="18" charset="0"/>
                          <a:cs typeface="Times New Roman" panose="02020603050405020304" pitchFamily="18" charset="0"/>
                        </a:rPr>
                        <a:t>4</a:t>
                      </a:r>
                    </a:p>
                  </a:txBody>
                  <a:tcPr marL="39201" marR="39201" marT="19601" marB="19601" anchor="ctr"/>
                </a:tc>
                <a:tc>
                  <a:txBody>
                    <a:bodyPr/>
                    <a:lstStyle/>
                    <a:p>
                      <a:pPr algn="ctr"/>
                      <a:r>
                        <a:rPr lang="en-IN" sz="1400" dirty="0">
                          <a:latin typeface="Times New Roman" panose="02020603050405020304" pitchFamily="18" charset="0"/>
                          <a:cs typeface="Times New Roman" panose="02020603050405020304" pitchFamily="18" charset="0"/>
                        </a:rPr>
                        <a:t>Assistive Technologies for Accessible Software Engineering</a:t>
                      </a:r>
                    </a:p>
                  </a:txBody>
                  <a:tcPr marL="39201" marR="39201" marT="19601" marB="19601" anchor="ctr"/>
                </a:tc>
                <a:tc>
                  <a:txBody>
                    <a:bodyPr/>
                    <a:lstStyle/>
                    <a:p>
                      <a:pPr algn="ctr"/>
                      <a:r>
                        <a:rPr lang="en-IN" sz="1400" dirty="0">
                          <a:latin typeface="Times New Roman" panose="02020603050405020304" pitchFamily="18" charset="0"/>
                          <a:cs typeface="Times New Roman" panose="02020603050405020304" pitchFamily="18" charset="0"/>
                        </a:rPr>
                        <a:t>2021</a:t>
                      </a:r>
                    </a:p>
                  </a:txBody>
                  <a:tcPr marL="39201" marR="39201" marT="19601" marB="19601" anchor="ctr"/>
                </a:tc>
                <a:tc>
                  <a:txBody>
                    <a:bodyPr/>
                    <a:lstStyle/>
                    <a:p>
                      <a:r>
                        <a:rPr lang="en-GB" sz="1400" dirty="0" err="1">
                          <a:latin typeface="Times New Roman" panose="02020603050405020304" pitchFamily="18" charset="0"/>
                          <a:cs typeface="Times New Roman" panose="02020603050405020304" pitchFamily="18" charset="0"/>
                        </a:rPr>
                        <a:t>Analyzes</a:t>
                      </a:r>
                      <a:r>
                        <a:rPr lang="en-GB" sz="1400" dirty="0">
                          <a:latin typeface="Times New Roman" panose="02020603050405020304" pitchFamily="18" charset="0"/>
                          <a:cs typeface="Times New Roman" panose="02020603050405020304" pitchFamily="18" charset="0"/>
                        </a:rPr>
                        <a:t> existing assistive tools for programmers with disabilities and emphasizes the need for more context-aware solutions.</a:t>
                      </a:r>
                    </a:p>
                  </a:txBody>
                  <a:tcPr marL="39201" marR="39201" marT="19601" marB="19601" anchor="ctr"/>
                </a:tc>
                <a:extLst>
                  <a:ext uri="{0D108BD9-81ED-4DB2-BD59-A6C34878D82A}">
                    <a16:rowId xmlns:a16="http://schemas.microsoft.com/office/drawing/2014/main" val="10004"/>
                  </a:ext>
                </a:extLst>
              </a:tr>
              <a:tr h="819968">
                <a:tc>
                  <a:txBody>
                    <a:bodyPr/>
                    <a:lstStyle/>
                    <a:p>
                      <a:pPr algn="ctr"/>
                      <a:r>
                        <a:rPr lang="en-IN" sz="1400" dirty="0">
                          <a:latin typeface="Times New Roman" panose="02020603050405020304" pitchFamily="18" charset="0"/>
                          <a:cs typeface="Times New Roman" panose="02020603050405020304" pitchFamily="18" charset="0"/>
                        </a:rPr>
                        <a:t>5</a:t>
                      </a:r>
                    </a:p>
                  </a:txBody>
                  <a:tcPr marL="39201" marR="39201" marT="19601" marB="19601" anchor="ctr"/>
                </a:tc>
                <a:tc>
                  <a:txBody>
                    <a:bodyPr/>
                    <a:lstStyle/>
                    <a:p>
                      <a:pPr algn="ctr"/>
                      <a:r>
                        <a:rPr lang="en-GB" sz="1400" dirty="0">
                          <a:latin typeface="Times New Roman" panose="02020603050405020304" pitchFamily="18" charset="0"/>
                          <a:cs typeface="Times New Roman" panose="02020603050405020304" pitchFamily="18" charset="0"/>
                        </a:rPr>
                        <a:t>AI-Based Voice Interfaces for Code Generation</a:t>
                      </a:r>
                    </a:p>
                  </a:txBody>
                  <a:tcPr marL="39201" marR="39201" marT="19601" marB="19601" anchor="ctr"/>
                </a:tc>
                <a:tc>
                  <a:txBody>
                    <a:bodyPr/>
                    <a:lstStyle/>
                    <a:p>
                      <a:pPr algn="ctr"/>
                      <a:r>
                        <a:rPr lang="en-IN" sz="1400" dirty="0">
                          <a:latin typeface="Times New Roman" panose="02020603050405020304" pitchFamily="18" charset="0"/>
                          <a:cs typeface="Times New Roman" panose="02020603050405020304" pitchFamily="18" charset="0"/>
                        </a:rPr>
                        <a:t>2022</a:t>
                      </a:r>
                    </a:p>
                  </a:txBody>
                  <a:tcPr marL="39201" marR="39201" marT="19601" marB="19601" anchor="ctr"/>
                </a:tc>
                <a:tc>
                  <a:txBody>
                    <a:bodyPr/>
                    <a:lstStyle/>
                    <a:p>
                      <a:r>
                        <a:rPr lang="en-GB" sz="1400" dirty="0">
                          <a:latin typeface="Times New Roman" panose="02020603050405020304" pitchFamily="18" charset="0"/>
                          <a:cs typeface="Times New Roman" panose="02020603050405020304" pitchFamily="18" charset="0"/>
                        </a:rPr>
                        <a:t>Presents AI-driven voice interfaces for generating and modifying code, focusing on usability, accuracy, and real-time interaction.</a:t>
                      </a:r>
                    </a:p>
                  </a:txBody>
                  <a:tcPr marL="39201" marR="39201" marT="19601" marB="19601" anchor="ctr"/>
                </a:tc>
                <a:extLst>
                  <a:ext uri="{0D108BD9-81ED-4DB2-BD59-A6C34878D82A}">
                    <a16:rowId xmlns:a16="http://schemas.microsoft.com/office/drawing/2014/main" val="10005"/>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p:cNvSpPr>
            <a:spLocks noGrp="1"/>
          </p:cNvSpPr>
          <p:nvPr>
            <p:ph type="title"/>
          </p:nvPr>
        </p:nvSpPr>
        <p:spPr>
          <a:xfrm>
            <a:off x="609600" y="381000"/>
            <a:ext cx="10515600" cy="760413"/>
          </a:xfrm>
        </p:spPr>
        <p:txBody>
          <a:bodyPr/>
          <a:lstStyle/>
          <a:p>
            <a:pPr eaLnBrk="1" hangingPunct="1"/>
            <a:r>
              <a:rPr lang="en-IN" altLang="en-US" sz="4000" b="1" dirty="0">
                <a:solidFill>
                  <a:srgbClr val="FF0000"/>
                </a:solidFill>
                <a:latin typeface="Times New Roman" panose="02020603050405020304" pitchFamily="18" charset="0"/>
                <a:cs typeface="Times New Roman" panose="02020603050405020304" pitchFamily="18" charset="0"/>
              </a:rPr>
              <a:t>Architecture Diagram </a:t>
            </a:r>
          </a:p>
        </p:txBody>
      </p:sp>
      <p:pic>
        <p:nvPicPr>
          <p:cNvPr id="5" name="Picture 4">
            <a:extLst>
              <a:ext uri="{FF2B5EF4-FFF2-40B4-BE49-F238E27FC236}">
                <a16:creationId xmlns:a16="http://schemas.microsoft.com/office/drawing/2014/main" id="{7B30B917-3513-66A9-84C0-AAFA313601B8}"/>
              </a:ext>
            </a:extLst>
          </p:cNvPr>
          <p:cNvPicPr>
            <a:picLocks noChangeAspect="1"/>
          </p:cNvPicPr>
          <p:nvPr/>
        </p:nvPicPr>
        <p:blipFill>
          <a:blip r:embed="rId2">
            <a:extLst>
              <a:ext uri="{28A0092B-C50C-407E-A947-70E740481C1C}">
                <a14:useLocalDpi xmlns:a14="http://schemas.microsoft.com/office/drawing/2010/main" val="0"/>
              </a:ext>
            </a:extLst>
          </a:blip>
          <a:srcRect t="4753" b="11551"/>
          <a:stretch>
            <a:fillRect/>
          </a:stretch>
        </p:blipFill>
        <p:spPr>
          <a:xfrm>
            <a:off x="1775520" y="1196752"/>
            <a:ext cx="8597900" cy="479734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p:cNvSpPr>
            <a:spLocks noGrp="1"/>
          </p:cNvSpPr>
          <p:nvPr>
            <p:ph type="title"/>
          </p:nvPr>
        </p:nvSpPr>
        <p:spPr>
          <a:xfrm>
            <a:off x="609600" y="381000"/>
            <a:ext cx="10515600" cy="760413"/>
          </a:xfrm>
        </p:spPr>
        <p:txBody>
          <a:bodyPr/>
          <a:lstStyle/>
          <a:p>
            <a:pPr eaLnBrk="1" hangingPunct="1"/>
            <a:r>
              <a:rPr lang="en-IN" altLang="en-US" sz="4000" b="1" dirty="0">
                <a:solidFill>
                  <a:srgbClr val="FF0000"/>
                </a:solidFill>
                <a:latin typeface="Times New Roman" panose="02020603050405020304" pitchFamily="18" charset="0"/>
                <a:cs typeface="Times New Roman" panose="02020603050405020304" pitchFamily="18" charset="0"/>
              </a:rPr>
              <a:t>Architecture Diagram </a:t>
            </a:r>
          </a:p>
        </p:txBody>
      </p:sp>
      <p:sp>
        <p:nvSpPr>
          <p:cNvPr id="4" name="Date Placeholder 3"/>
          <p:cNvSpPr>
            <a:spLocks noGrp="1"/>
          </p:cNvSpPr>
          <p:nvPr>
            <p:ph type="dt" sz="quarter" idx="10"/>
          </p:nvPr>
        </p:nvSpPr>
        <p:spPr/>
        <p:txBody>
          <a:bodyPr/>
          <a:lstStyle/>
          <a:p>
            <a:pPr>
              <a:defRPr/>
            </a:pPr>
            <a:endParaRPr lang="en-US"/>
          </a:p>
        </p:txBody>
      </p:sp>
      <p:sp>
        <p:nvSpPr>
          <p:cNvPr id="6148" name="Google Shape;110;p16"/>
          <p:cNvSpPr txBox="1">
            <a:spLocks/>
          </p:cNvSpPr>
          <p:nvPr/>
        </p:nvSpPr>
        <p:spPr bwMode="auto">
          <a:xfrm>
            <a:off x="511932" y="1340768"/>
            <a:ext cx="11168136" cy="4497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5" tIns="45700" rIns="91425" bIns="45700"/>
          <a:lstStyle>
            <a:lvl1pPr marL="228600" indent="-2286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just">
              <a:lnSpc>
                <a:spcPct val="150000"/>
              </a:lnSpc>
            </a:pPr>
            <a:r>
              <a:rPr lang="en-GB" sz="2000" b="1" dirty="0">
                <a:latin typeface="Times New Roman" panose="02020603050405020304" pitchFamily="18" charset="0"/>
                <a:cs typeface="Times New Roman" panose="02020603050405020304" pitchFamily="18" charset="0"/>
              </a:rPr>
              <a:t>1. User Voice Command Input: </a:t>
            </a:r>
            <a:r>
              <a:rPr lang="en-GB" sz="2000" dirty="0">
                <a:latin typeface="Times New Roman" panose="02020603050405020304" pitchFamily="18" charset="0"/>
                <a:cs typeface="Times New Roman" panose="02020603050405020304" pitchFamily="18" charset="0"/>
              </a:rPr>
              <a:t>Developer speaks a programming command into the system.</a:t>
            </a:r>
          </a:p>
          <a:p>
            <a:pPr algn="just">
              <a:lnSpc>
                <a:spcPct val="150000"/>
              </a:lnSpc>
            </a:pPr>
            <a:r>
              <a:rPr lang="en-GB" sz="2000" b="1" dirty="0">
                <a:latin typeface="Times New Roman" panose="02020603050405020304" pitchFamily="18" charset="0"/>
                <a:cs typeface="Times New Roman" panose="02020603050405020304" pitchFamily="18" charset="0"/>
              </a:rPr>
              <a:t>2. Audio Capture &amp; Preprocessing</a:t>
            </a:r>
            <a:r>
              <a:rPr lang="en-GB" sz="2000" dirty="0">
                <a:latin typeface="Times New Roman" panose="02020603050405020304" pitchFamily="18" charset="0"/>
                <a:cs typeface="Times New Roman" panose="02020603050405020304" pitchFamily="18" charset="0"/>
              </a:rPr>
              <a:t>: Microphone captures audio and prepares it for processing (removes noise, normalizes volume).</a:t>
            </a:r>
          </a:p>
          <a:p>
            <a:pPr algn="just">
              <a:lnSpc>
                <a:spcPct val="150000"/>
              </a:lnSpc>
            </a:pPr>
            <a:r>
              <a:rPr lang="en-GB" sz="2000" b="1" dirty="0">
                <a:latin typeface="Times New Roman" panose="02020603050405020304" pitchFamily="18" charset="0"/>
                <a:cs typeface="Times New Roman" panose="02020603050405020304" pitchFamily="18" charset="0"/>
              </a:rPr>
              <a:t>3. Speech-to-Text Conversion</a:t>
            </a:r>
            <a:r>
              <a:rPr lang="en-GB" sz="2000" dirty="0">
                <a:latin typeface="Times New Roman" panose="02020603050405020304" pitchFamily="18" charset="0"/>
                <a:cs typeface="Times New Roman" panose="02020603050405020304" pitchFamily="18" charset="0"/>
              </a:rPr>
              <a:t>: Converts spoken words into textual representation using speech recognition.</a:t>
            </a:r>
          </a:p>
          <a:p>
            <a:pPr algn="just">
              <a:lnSpc>
                <a:spcPct val="150000"/>
              </a:lnSpc>
            </a:pPr>
            <a:r>
              <a:rPr lang="en-GB" sz="2000" b="1" dirty="0">
                <a:latin typeface="Times New Roman" panose="02020603050405020304" pitchFamily="18" charset="0"/>
                <a:cs typeface="Times New Roman" panose="02020603050405020304" pitchFamily="18" charset="0"/>
              </a:rPr>
              <a:t>4. Text Normalization &amp; Validation</a:t>
            </a:r>
            <a:r>
              <a:rPr lang="en-GB" sz="2000" dirty="0">
                <a:latin typeface="Times New Roman" panose="02020603050405020304" pitchFamily="18" charset="0"/>
                <a:cs typeface="Times New Roman" panose="02020603050405020304" pitchFamily="18" charset="0"/>
              </a:rPr>
              <a:t>: Cleans the text (fixes errors, checks syntax) for accurate understanding.</a:t>
            </a:r>
          </a:p>
          <a:p>
            <a:pPr algn="just">
              <a:lnSpc>
                <a:spcPct val="150000"/>
              </a:lnSpc>
            </a:pPr>
            <a:r>
              <a:rPr lang="en-GB" sz="2000" b="1" dirty="0">
                <a:latin typeface="Times New Roman" panose="02020603050405020304" pitchFamily="18" charset="0"/>
                <a:cs typeface="Times New Roman" panose="02020603050405020304" pitchFamily="18" charset="0"/>
              </a:rPr>
              <a:t>5. Intent Detection &amp; Natural Language Understanding</a:t>
            </a:r>
            <a:r>
              <a:rPr lang="en-GB" sz="2000" dirty="0">
                <a:latin typeface="Times New Roman" panose="02020603050405020304" pitchFamily="18" charset="0"/>
                <a:cs typeface="Times New Roman" panose="02020603050405020304" pitchFamily="18" charset="0"/>
              </a:rPr>
              <a:t>: AI interprets the programming command’s intent (e.g., create function, insert loop).</a:t>
            </a:r>
          </a:p>
        </p:txBody>
      </p:sp>
    </p:spTree>
    <p:extLst>
      <p:ext uri="{BB962C8B-B14F-4D97-AF65-F5344CB8AC3E}">
        <p14:creationId xmlns:p14="http://schemas.microsoft.com/office/powerpoint/2010/main" val="14540045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p:cNvSpPr>
            <a:spLocks noGrp="1"/>
          </p:cNvSpPr>
          <p:nvPr>
            <p:ph type="title"/>
          </p:nvPr>
        </p:nvSpPr>
        <p:spPr>
          <a:xfrm>
            <a:off x="609600" y="381000"/>
            <a:ext cx="10515600" cy="760413"/>
          </a:xfrm>
        </p:spPr>
        <p:txBody>
          <a:bodyPr/>
          <a:lstStyle/>
          <a:p>
            <a:pPr eaLnBrk="1" hangingPunct="1"/>
            <a:r>
              <a:rPr lang="en-IN" altLang="en-US" sz="4000" b="1" dirty="0">
                <a:solidFill>
                  <a:srgbClr val="FF0000"/>
                </a:solidFill>
                <a:latin typeface="Times New Roman" panose="02020603050405020304" pitchFamily="18" charset="0"/>
                <a:cs typeface="Times New Roman" panose="02020603050405020304" pitchFamily="18" charset="0"/>
              </a:rPr>
              <a:t>Architecture Diagram </a:t>
            </a:r>
          </a:p>
        </p:txBody>
      </p:sp>
      <p:sp>
        <p:nvSpPr>
          <p:cNvPr id="6148" name="Google Shape;110;p16"/>
          <p:cNvSpPr txBox="1">
            <a:spLocks/>
          </p:cNvSpPr>
          <p:nvPr/>
        </p:nvSpPr>
        <p:spPr bwMode="auto">
          <a:xfrm>
            <a:off x="535546" y="1372666"/>
            <a:ext cx="11120907" cy="4752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5" tIns="45700" rIns="91425" bIns="45700"/>
          <a:lstStyle>
            <a:lvl1pPr marL="228600" indent="-2286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marL="182880" algn="just">
              <a:lnSpc>
                <a:spcPct val="150000"/>
              </a:lnSpc>
              <a:spcBef>
                <a:spcPts val="0"/>
              </a:spcBef>
            </a:pPr>
            <a:r>
              <a:rPr lang="en-GB" sz="2000" b="1" dirty="0">
                <a:latin typeface="Times New Roman" panose="02020603050405020304" pitchFamily="18" charset="0"/>
                <a:cs typeface="Times New Roman" panose="02020603050405020304" pitchFamily="18" charset="0"/>
              </a:rPr>
              <a:t>6. Context &amp; Language Identification</a:t>
            </a:r>
            <a:r>
              <a:rPr lang="en-GB" sz="2000" dirty="0">
                <a:latin typeface="Times New Roman" panose="02020603050405020304" pitchFamily="18" charset="0"/>
                <a:cs typeface="Times New Roman" panose="02020603050405020304" pitchFamily="18" charset="0"/>
              </a:rPr>
              <a:t>: System identifies the programming language (Python, Java) and current IDE context (variables, functions).</a:t>
            </a:r>
            <a:endParaRPr lang="en-GB" sz="2000" b="1" dirty="0">
              <a:latin typeface="Times New Roman" panose="02020603050405020304" pitchFamily="18" charset="0"/>
              <a:cs typeface="Times New Roman" panose="02020603050405020304" pitchFamily="18" charset="0"/>
            </a:endParaRPr>
          </a:p>
          <a:p>
            <a:pPr marL="182880" algn="just">
              <a:lnSpc>
                <a:spcPct val="150000"/>
              </a:lnSpc>
              <a:spcBef>
                <a:spcPts val="0"/>
              </a:spcBef>
            </a:pPr>
            <a:r>
              <a:rPr lang="en-GB" sz="2000" b="1" dirty="0">
                <a:latin typeface="Times New Roman" panose="02020603050405020304" pitchFamily="18" charset="0"/>
                <a:cs typeface="Times New Roman" panose="02020603050405020304" pitchFamily="18" charset="0"/>
              </a:rPr>
              <a:t>7. AI-Based Command Interpretation</a:t>
            </a:r>
            <a:r>
              <a:rPr lang="en-GB" sz="2000" dirty="0">
                <a:latin typeface="Times New Roman" panose="02020603050405020304" pitchFamily="18" charset="0"/>
                <a:cs typeface="Times New Roman" panose="02020603050405020304" pitchFamily="18" charset="0"/>
              </a:rPr>
              <a:t>: Converts user intent into executable code or IDE actions.</a:t>
            </a:r>
          </a:p>
          <a:p>
            <a:pPr marL="182880" algn="just">
              <a:lnSpc>
                <a:spcPct val="150000"/>
              </a:lnSpc>
              <a:spcBef>
                <a:spcPts val="0"/>
              </a:spcBef>
            </a:pPr>
            <a:r>
              <a:rPr lang="en-GB" sz="2000" b="1" dirty="0">
                <a:latin typeface="Times New Roman" panose="02020603050405020304" pitchFamily="18" charset="0"/>
                <a:cs typeface="Times New Roman" panose="02020603050405020304" pitchFamily="18" charset="0"/>
              </a:rPr>
              <a:t>8. Integrated into Visual Studio Code IDE</a:t>
            </a:r>
            <a:r>
              <a:rPr lang="en-GB" sz="2000" dirty="0">
                <a:latin typeface="Times New Roman" panose="02020603050405020304" pitchFamily="18" charset="0"/>
                <a:cs typeface="Times New Roman" panose="02020603050405020304" pitchFamily="18" charset="0"/>
              </a:rPr>
              <a:t>: System directly interacts with IDE to insert, edit, or compile code.</a:t>
            </a:r>
          </a:p>
          <a:p>
            <a:pPr marL="182880" algn="just">
              <a:lnSpc>
                <a:spcPct val="150000"/>
              </a:lnSpc>
              <a:spcBef>
                <a:spcPts val="0"/>
              </a:spcBef>
            </a:pPr>
            <a:r>
              <a:rPr lang="en-GB" sz="2000" b="1" dirty="0">
                <a:latin typeface="Times New Roman" panose="02020603050405020304" pitchFamily="18" charset="0"/>
                <a:cs typeface="Times New Roman" panose="02020603050405020304" pitchFamily="18" charset="0"/>
              </a:rPr>
              <a:t>9. Real-Time Feedback</a:t>
            </a:r>
            <a:r>
              <a:rPr lang="en-GB" sz="2000" dirty="0">
                <a:latin typeface="Times New Roman" panose="02020603050405020304" pitchFamily="18" charset="0"/>
                <a:cs typeface="Times New Roman" panose="02020603050405020304" pitchFamily="18" charset="0"/>
              </a:rPr>
              <a:t>: Provides confirmation, error messages, or suggestions to the user.</a:t>
            </a:r>
          </a:p>
          <a:p>
            <a:pPr marL="182880" algn="just">
              <a:lnSpc>
                <a:spcPct val="150000"/>
              </a:lnSpc>
              <a:spcBef>
                <a:spcPts val="0"/>
              </a:spcBef>
            </a:pPr>
            <a:r>
              <a:rPr lang="en-GB" sz="2000" b="1" dirty="0">
                <a:latin typeface="Times New Roman" panose="02020603050405020304" pitchFamily="18" charset="0"/>
                <a:cs typeface="Times New Roman" panose="02020603050405020304" pitchFamily="18" charset="0"/>
              </a:rPr>
              <a:t>10. Continuous Interaction Loop</a:t>
            </a:r>
            <a:r>
              <a:rPr lang="en-GB" sz="2000" dirty="0">
                <a:latin typeface="Times New Roman" panose="02020603050405020304" pitchFamily="18" charset="0"/>
                <a:cs typeface="Times New Roman" panose="02020603050405020304" pitchFamily="18" charset="0"/>
              </a:rPr>
              <a:t>: Supports ongoing voice commands and iterative coding, maintaining context.</a:t>
            </a:r>
          </a:p>
          <a:p>
            <a:pPr marL="182880" algn="just">
              <a:lnSpc>
                <a:spcPct val="150000"/>
              </a:lnSpc>
              <a:spcBef>
                <a:spcPts val="0"/>
              </a:spcBef>
            </a:pPr>
            <a:r>
              <a:rPr lang="en-GB" sz="2000" b="1" dirty="0">
                <a:latin typeface="Times New Roman" panose="02020603050405020304" pitchFamily="18" charset="0"/>
                <a:cs typeface="Times New Roman" panose="02020603050405020304" pitchFamily="18" charset="0"/>
              </a:rPr>
              <a:t>11. Output to IDE</a:t>
            </a:r>
            <a:r>
              <a:rPr lang="en-GB" sz="2000" dirty="0">
                <a:latin typeface="Times New Roman" panose="02020603050405020304" pitchFamily="18" charset="0"/>
                <a:cs typeface="Times New Roman" panose="02020603050405020304" pitchFamily="18" charset="0"/>
              </a:rPr>
              <a:t>: Final code or action appears in the IDE as requested.</a:t>
            </a:r>
          </a:p>
          <a:p>
            <a:pPr algn="just">
              <a:lnSpc>
                <a:spcPct val="150000"/>
              </a:lnSpc>
            </a:pPr>
            <a:endParaRPr lang="en-GB"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112407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Title 1"/>
          <p:cNvSpPr>
            <a:spLocks noGrp="1"/>
          </p:cNvSpPr>
          <p:nvPr>
            <p:ph type="title"/>
          </p:nvPr>
        </p:nvSpPr>
        <p:spPr>
          <a:xfrm>
            <a:off x="609600" y="381000"/>
            <a:ext cx="10515600" cy="760413"/>
          </a:xfrm>
        </p:spPr>
        <p:txBody>
          <a:bodyPr/>
          <a:lstStyle/>
          <a:p>
            <a:pPr eaLnBrk="1" hangingPunct="1"/>
            <a:r>
              <a:rPr lang="en-US" altLang="en-US" sz="4000" b="1" dirty="0">
                <a:solidFill>
                  <a:srgbClr val="FF0000"/>
                </a:solidFill>
                <a:latin typeface="Times New Roman" panose="02020603050405020304" pitchFamily="18" charset="0"/>
                <a:cs typeface="Times New Roman" panose="02020603050405020304" pitchFamily="18" charset="0"/>
              </a:rPr>
              <a:t>Detailed description of the drawings </a:t>
            </a:r>
            <a:endParaRPr lang="en-IN" altLang="en-US" sz="4000" b="1" dirty="0">
              <a:solidFill>
                <a:srgbClr val="FF0000"/>
              </a:solidFill>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A51D48DA-22A6-832B-B7BD-71015901F7F7}"/>
              </a:ext>
            </a:extLst>
          </p:cNvPr>
          <p:cNvPicPr>
            <a:picLocks noChangeAspect="1"/>
          </p:cNvPicPr>
          <p:nvPr/>
        </p:nvPicPr>
        <p:blipFill>
          <a:blip r:embed="rId2"/>
          <a:stretch>
            <a:fillRect/>
          </a:stretch>
        </p:blipFill>
        <p:spPr>
          <a:xfrm>
            <a:off x="2246410" y="1141413"/>
            <a:ext cx="7241979" cy="493332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Title 1"/>
          <p:cNvSpPr>
            <a:spLocks noGrp="1"/>
          </p:cNvSpPr>
          <p:nvPr>
            <p:ph type="title"/>
          </p:nvPr>
        </p:nvSpPr>
        <p:spPr>
          <a:xfrm>
            <a:off x="609600" y="381000"/>
            <a:ext cx="10515600" cy="760413"/>
          </a:xfrm>
        </p:spPr>
        <p:txBody>
          <a:bodyPr/>
          <a:lstStyle/>
          <a:p>
            <a:pPr eaLnBrk="1" hangingPunct="1"/>
            <a:r>
              <a:rPr lang="en-US" altLang="en-US" sz="4000" b="1" dirty="0">
                <a:solidFill>
                  <a:srgbClr val="FF0000"/>
                </a:solidFill>
                <a:latin typeface="Times New Roman" panose="02020603050405020304" pitchFamily="18" charset="0"/>
                <a:cs typeface="Times New Roman" panose="02020603050405020304" pitchFamily="18" charset="0"/>
              </a:rPr>
              <a:t>Detailed description of the drawings </a:t>
            </a:r>
            <a:endParaRPr lang="en-IN" altLang="en-US" sz="4000" b="1" dirty="0">
              <a:solidFill>
                <a:srgbClr val="FF0000"/>
              </a:solidFill>
              <a:latin typeface="Times New Roman" panose="02020603050405020304" pitchFamily="18" charset="0"/>
              <a:cs typeface="Times New Roman" panose="02020603050405020304" pitchFamily="18" charset="0"/>
            </a:endParaRPr>
          </a:p>
        </p:txBody>
      </p:sp>
      <p:sp>
        <p:nvSpPr>
          <p:cNvPr id="8196" name="Google Shape;110;p16"/>
          <p:cNvSpPr txBox="1">
            <a:spLocks/>
          </p:cNvSpPr>
          <p:nvPr/>
        </p:nvSpPr>
        <p:spPr bwMode="auto">
          <a:xfrm>
            <a:off x="767408" y="1052736"/>
            <a:ext cx="10972800" cy="441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5" tIns="45700" rIns="91425" bIns="45700"/>
          <a:lstStyle>
            <a:lvl1pPr marL="228600" indent="-2286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just">
              <a:lnSpc>
                <a:spcPct val="150000"/>
              </a:lnSpc>
              <a:spcBef>
                <a:spcPts val="0"/>
              </a:spcBef>
            </a:pPr>
            <a:r>
              <a:rPr lang="en-IN" sz="2000" b="1" dirty="0">
                <a:latin typeface="Times New Roman" panose="02020603050405020304" pitchFamily="18" charset="0"/>
                <a:cs typeface="Times New Roman" panose="02020603050405020304" pitchFamily="18" charset="0"/>
              </a:rPr>
              <a:t>1. Initiation &amp; Input</a:t>
            </a:r>
            <a:endParaRPr lang="en-IN" sz="2000" dirty="0">
              <a:latin typeface="Times New Roman" panose="02020603050405020304" pitchFamily="18" charset="0"/>
              <a:cs typeface="Times New Roman" panose="02020603050405020304" pitchFamily="18" charset="0"/>
            </a:endParaRPr>
          </a:p>
          <a:p>
            <a:pPr marL="857250" lvl="1" indent="-342900" algn="just">
              <a:lnSpc>
                <a:spcPct val="150000"/>
              </a:lnSpc>
              <a:spcBef>
                <a:spcPts val="0"/>
              </a:spcBef>
              <a:buFont typeface="Arial" panose="020B0604020202020204" pitchFamily="34" charset="0"/>
              <a:buChar char="•"/>
            </a:pPr>
            <a:r>
              <a:rPr lang="en-IN" sz="2000" b="1" dirty="0">
                <a:latin typeface="Times New Roman" panose="02020603050405020304" pitchFamily="18" charset="0"/>
                <a:cs typeface="Times New Roman" panose="02020603050405020304" pitchFamily="18" charset="0"/>
              </a:rPr>
              <a:t>Start – </a:t>
            </a:r>
            <a:r>
              <a:rPr lang="en-IN" sz="2000" dirty="0">
                <a:latin typeface="Times New Roman" panose="02020603050405020304" pitchFamily="18" charset="0"/>
                <a:cs typeface="Times New Roman" panose="02020603050405020304" pitchFamily="18" charset="0"/>
              </a:rPr>
              <a:t>Activate Extension using Command palette</a:t>
            </a:r>
          </a:p>
          <a:p>
            <a:pPr marL="857250" lvl="1" indent="-342900" algn="just">
              <a:lnSpc>
                <a:spcPct val="150000"/>
              </a:lnSpc>
              <a:spcBef>
                <a:spcPts val="0"/>
              </a:spcBef>
              <a:buFont typeface="Arial" panose="020B0604020202020204" pitchFamily="34" charset="0"/>
              <a:buChar char="•"/>
            </a:pPr>
            <a:r>
              <a:rPr lang="en-IN" sz="2000" b="1" dirty="0">
                <a:latin typeface="Times New Roman" panose="02020603050405020304" pitchFamily="18" charset="0"/>
                <a:cs typeface="Times New Roman" panose="02020603050405020304" pitchFamily="18" charset="0"/>
              </a:rPr>
              <a:t>User Speaks Command</a:t>
            </a:r>
            <a:r>
              <a:rPr lang="en-IN" sz="2000" dirty="0">
                <a:latin typeface="Times New Roman" panose="02020603050405020304" pitchFamily="18" charset="0"/>
                <a:cs typeface="Times New Roman" panose="02020603050405020304" pitchFamily="18" charset="0"/>
              </a:rPr>
              <a:t> → e.g., </a:t>
            </a:r>
            <a:r>
              <a:rPr lang="en-IN" sz="2000" i="1" dirty="0">
                <a:latin typeface="Times New Roman" panose="02020603050405020304" pitchFamily="18" charset="0"/>
                <a:cs typeface="Times New Roman" panose="02020603050405020304" pitchFamily="18" charset="0"/>
              </a:rPr>
              <a:t>“Create a function </a:t>
            </a:r>
            <a:r>
              <a:rPr lang="en-IN" sz="2000" b="1" i="1" dirty="0">
                <a:latin typeface="Times New Roman" panose="02020603050405020304" pitchFamily="18" charset="0"/>
                <a:cs typeface="Times New Roman" panose="02020603050405020304" pitchFamily="18" charset="0"/>
              </a:rPr>
              <a:t>Factorial</a:t>
            </a:r>
            <a:r>
              <a:rPr lang="en-IN" sz="2000" i="1" dirty="0">
                <a:latin typeface="Times New Roman" panose="02020603050405020304" pitchFamily="18" charset="0"/>
                <a:cs typeface="Times New Roman" panose="02020603050405020304" pitchFamily="18" charset="0"/>
              </a:rPr>
              <a:t>”</a:t>
            </a:r>
            <a:endParaRPr lang="en-IN" sz="2000" dirty="0">
              <a:latin typeface="Times New Roman" panose="02020603050405020304" pitchFamily="18" charset="0"/>
              <a:cs typeface="Times New Roman" panose="02020603050405020304" pitchFamily="18" charset="0"/>
            </a:endParaRPr>
          </a:p>
          <a:p>
            <a:pPr algn="just">
              <a:lnSpc>
                <a:spcPct val="150000"/>
              </a:lnSpc>
              <a:spcBef>
                <a:spcPts val="0"/>
              </a:spcBef>
            </a:pPr>
            <a:r>
              <a:rPr lang="en-IN" sz="2000" b="1" dirty="0">
                <a:latin typeface="Times New Roman" panose="02020603050405020304" pitchFamily="18" charset="0"/>
                <a:cs typeface="Times New Roman" panose="02020603050405020304" pitchFamily="18" charset="0"/>
              </a:rPr>
              <a:t>2. STT Engine</a:t>
            </a:r>
          </a:p>
          <a:p>
            <a:pPr marL="857250" lvl="1" indent="-342900" algn="just">
              <a:lnSpc>
                <a:spcPct val="150000"/>
              </a:lnSpc>
              <a:spcBef>
                <a:spcPts val="0"/>
              </a:spcBef>
              <a:buFont typeface="Arial" panose="020B0604020202020204" pitchFamily="34" charset="0"/>
              <a:buChar char="•"/>
            </a:pPr>
            <a:r>
              <a:rPr lang="en-IN" sz="2000" b="1" dirty="0">
                <a:latin typeface="Times New Roman" panose="02020603050405020304" pitchFamily="18" charset="0"/>
                <a:cs typeface="Times New Roman" panose="02020603050405020304" pitchFamily="18" charset="0"/>
              </a:rPr>
              <a:t>Speech-to-Text Conversion</a:t>
            </a:r>
            <a:r>
              <a:rPr lang="en-IN" sz="2000" dirty="0">
                <a:latin typeface="Times New Roman" panose="02020603050405020304" pitchFamily="18" charset="0"/>
                <a:cs typeface="Times New Roman" panose="02020603050405020304" pitchFamily="18" charset="0"/>
              </a:rPr>
              <a:t> → Converts audio into text</a:t>
            </a:r>
          </a:p>
          <a:p>
            <a:pPr marL="857250" lvl="1" indent="-342900" algn="just">
              <a:lnSpc>
                <a:spcPct val="150000"/>
              </a:lnSpc>
              <a:spcBef>
                <a:spcPts val="0"/>
              </a:spcBef>
              <a:buFont typeface="Arial" panose="020B0604020202020204" pitchFamily="34" charset="0"/>
              <a:buChar char="•"/>
            </a:pPr>
            <a:r>
              <a:rPr lang="en-IN" sz="2000" b="1" dirty="0">
                <a:latin typeface="Times New Roman" panose="02020603050405020304" pitchFamily="18" charset="0"/>
                <a:cs typeface="Times New Roman" panose="02020603050405020304" pitchFamily="18" charset="0"/>
              </a:rPr>
              <a:t>Intent Detection &amp; NLP</a:t>
            </a:r>
            <a:r>
              <a:rPr lang="en-IN" sz="2000" dirty="0">
                <a:latin typeface="Times New Roman" panose="02020603050405020304" pitchFamily="18" charset="0"/>
                <a:cs typeface="Times New Roman" panose="02020603050405020304" pitchFamily="18" charset="0"/>
              </a:rPr>
              <a:t> → Determines programming intent and target action</a:t>
            </a:r>
          </a:p>
          <a:p>
            <a:pPr marL="857250" lvl="1" indent="-342900" algn="just">
              <a:lnSpc>
                <a:spcPct val="150000"/>
              </a:lnSpc>
              <a:spcBef>
                <a:spcPts val="0"/>
              </a:spcBef>
              <a:buFont typeface="Arial" panose="020B0604020202020204" pitchFamily="34" charset="0"/>
              <a:buChar char="•"/>
            </a:pPr>
            <a:r>
              <a:rPr lang="en-IN" sz="2000" b="1" dirty="0">
                <a:latin typeface="Times New Roman" panose="02020603050405020304" pitchFamily="18" charset="0"/>
                <a:cs typeface="Times New Roman" panose="02020603050405020304" pitchFamily="18" charset="0"/>
              </a:rPr>
              <a:t>Command Interpretation</a:t>
            </a:r>
            <a:r>
              <a:rPr lang="en-IN" sz="2000" dirty="0">
                <a:latin typeface="Times New Roman" panose="02020603050405020304" pitchFamily="18" charset="0"/>
                <a:cs typeface="Times New Roman" panose="02020603050405020304" pitchFamily="18" charset="0"/>
              </a:rPr>
              <a:t> → Generates the code snippet required</a:t>
            </a:r>
          </a:p>
          <a:p>
            <a:pPr algn="just">
              <a:lnSpc>
                <a:spcPct val="150000"/>
              </a:lnSpc>
              <a:spcBef>
                <a:spcPts val="0"/>
              </a:spcBef>
            </a:pPr>
            <a:r>
              <a:rPr lang="en-IN" sz="2000" b="1" dirty="0">
                <a:latin typeface="Times New Roman" panose="02020603050405020304" pitchFamily="18" charset="0"/>
                <a:cs typeface="Times New Roman" panose="02020603050405020304" pitchFamily="18" charset="0"/>
              </a:rPr>
              <a:t>3. Execution &amp; Feedback</a:t>
            </a:r>
            <a:endParaRPr lang="en-IN" sz="2000" dirty="0">
              <a:latin typeface="Times New Roman" panose="02020603050405020304" pitchFamily="18" charset="0"/>
              <a:cs typeface="Times New Roman" panose="02020603050405020304" pitchFamily="18" charset="0"/>
            </a:endParaRPr>
          </a:p>
          <a:p>
            <a:pPr marL="857250" lvl="1" indent="-342900" algn="just">
              <a:lnSpc>
                <a:spcPct val="150000"/>
              </a:lnSpc>
              <a:spcBef>
                <a:spcPts val="0"/>
              </a:spcBef>
              <a:buFont typeface="Arial" panose="020B0604020202020204" pitchFamily="34" charset="0"/>
              <a:buChar char="•"/>
            </a:pPr>
            <a:r>
              <a:rPr lang="en-IN" sz="2000" b="1" dirty="0">
                <a:latin typeface="Times New Roman" panose="02020603050405020304" pitchFamily="18" charset="0"/>
                <a:cs typeface="Times New Roman" panose="02020603050405020304" pitchFamily="18" charset="0"/>
              </a:rPr>
              <a:t>Execute Action in IDE</a:t>
            </a:r>
            <a:r>
              <a:rPr lang="en-IN" sz="2000" dirty="0">
                <a:latin typeface="Times New Roman" panose="02020603050405020304" pitchFamily="18" charset="0"/>
                <a:cs typeface="Times New Roman" panose="02020603050405020304" pitchFamily="18" charset="0"/>
              </a:rPr>
              <a:t> → Inserts code into IDE (VS Code, IntelliJ)</a:t>
            </a:r>
          </a:p>
          <a:p>
            <a:pPr marL="857250" lvl="1" indent="-342900" algn="just">
              <a:lnSpc>
                <a:spcPct val="150000"/>
              </a:lnSpc>
              <a:spcBef>
                <a:spcPts val="0"/>
              </a:spcBef>
              <a:buFont typeface="Arial" panose="020B0604020202020204" pitchFamily="34" charset="0"/>
              <a:buChar char="•"/>
            </a:pPr>
            <a:r>
              <a:rPr lang="en-IN" sz="2000" b="1" dirty="0">
                <a:latin typeface="Times New Roman" panose="02020603050405020304" pitchFamily="18" charset="0"/>
                <a:cs typeface="Times New Roman" panose="02020603050405020304" pitchFamily="18" charset="0"/>
              </a:rPr>
              <a:t>Continuous Interaction Loop</a:t>
            </a:r>
            <a:r>
              <a:rPr lang="en-IN" sz="2000" dirty="0">
                <a:latin typeface="Times New Roman" panose="02020603050405020304" pitchFamily="18" charset="0"/>
                <a:cs typeface="Times New Roman" panose="02020603050405020304" pitchFamily="18" charset="0"/>
              </a:rPr>
              <a:t> → System stays ready for next command</a:t>
            </a:r>
          </a:p>
          <a:p>
            <a:pPr marL="857250" lvl="1" indent="-342900" algn="just">
              <a:lnSpc>
                <a:spcPct val="150000"/>
              </a:lnSpc>
              <a:spcBef>
                <a:spcPts val="0"/>
              </a:spcBef>
              <a:buFont typeface="Arial" panose="020B0604020202020204" pitchFamily="34" charset="0"/>
              <a:buChar char="•"/>
            </a:pPr>
            <a:r>
              <a:rPr lang="en-IN" sz="2000" b="1" dirty="0">
                <a:latin typeface="Times New Roman" panose="02020603050405020304" pitchFamily="18" charset="0"/>
                <a:cs typeface="Times New Roman" panose="02020603050405020304" pitchFamily="18" charset="0"/>
              </a:rPr>
              <a:t>End</a:t>
            </a:r>
            <a:r>
              <a:rPr lang="en-IN" sz="2000" dirty="0">
                <a:latin typeface="Times New Roman" panose="02020603050405020304" pitchFamily="18" charset="0"/>
                <a:cs typeface="Times New Roman" panose="02020603050405020304" pitchFamily="18" charset="0"/>
              </a:rPr>
              <a:t> → Session ends or task completed</a:t>
            </a:r>
          </a:p>
        </p:txBody>
      </p:sp>
    </p:spTree>
    <p:extLst>
      <p:ext uri="{BB962C8B-B14F-4D97-AF65-F5344CB8AC3E}">
        <p14:creationId xmlns:p14="http://schemas.microsoft.com/office/powerpoint/2010/main" val="28204389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p:cNvSpPr>
            <a:spLocks noGrp="1"/>
          </p:cNvSpPr>
          <p:nvPr>
            <p:ph type="title"/>
          </p:nvPr>
        </p:nvSpPr>
        <p:spPr>
          <a:xfrm>
            <a:off x="609600" y="381000"/>
            <a:ext cx="10515600" cy="760413"/>
          </a:xfrm>
        </p:spPr>
        <p:txBody>
          <a:bodyPr/>
          <a:lstStyle/>
          <a:p>
            <a:pPr eaLnBrk="1" hangingPunct="1"/>
            <a:r>
              <a:rPr lang="en-US" altLang="en-US" sz="4000" b="1" dirty="0">
                <a:solidFill>
                  <a:srgbClr val="FF0000"/>
                </a:solidFill>
                <a:latin typeface="Times New Roman" panose="02020603050405020304" pitchFamily="18" charset="0"/>
                <a:cs typeface="Times New Roman" panose="02020603050405020304" pitchFamily="18" charset="0"/>
              </a:rPr>
              <a:t>Detailed description of the invention</a:t>
            </a:r>
            <a:endParaRPr lang="en-IN" altLang="en-US" sz="4000" b="1" dirty="0">
              <a:solidFill>
                <a:srgbClr val="FF000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03D04B25-A9CD-3F9C-CC78-7B75675962DF}"/>
              </a:ext>
            </a:extLst>
          </p:cNvPr>
          <p:cNvSpPr txBox="1"/>
          <p:nvPr/>
        </p:nvSpPr>
        <p:spPr>
          <a:xfrm>
            <a:off x="544488" y="1165226"/>
            <a:ext cx="11103024" cy="5114542"/>
          </a:xfrm>
          <a:prstGeom prst="rect">
            <a:avLst/>
          </a:prstGeom>
          <a:noFill/>
        </p:spPr>
        <p:txBody>
          <a:bodyPr wrap="square">
            <a:spAutoFit/>
          </a:bodyPr>
          <a:lstStyle/>
          <a:p>
            <a:pPr marL="285750" indent="-285750" algn="just">
              <a:lnSpc>
                <a:spcPct val="150000"/>
              </a:lnSpc>
              <a:spcBef>
                <a:spcPts val="400"/>
              </a:spcBef>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The present invention relates to an </a:t>
            </a:r>
            <a:r>
              <a:rPr lang="en-US" sz="2400" b="1" dirty="0">
                <a:latin typeface="Times New Roman" panose="02020603050405020304" pitchFamily="18" charset="0"/>
                <a:cs typeface="Times New Roman" panose="02020603050405020304" pitchFamily="18" charset="0"/>
              </a:rPr>
              <a:t>artificial intelligence–assisted, voice-driven programming system</a:t>
            </a:r>
            <a:r>
              <a:rPr lang="en-US" sz="2400" dirty="0">
                <a:latin typeface="Times New Roman" panose="02020603050405020304" pitchFamily="18" charset="0"/>
                <a:cs typeface="Times New Roman" panose="02020603050405020304" pitchFamily="18" charset="0"/>
              </a:rPr>
              <a:t> designed to enable hands-free interaction with an Integrated Development Environment (IDE). </a:t>
            </a:r>
          </a:p>
          <a:p>
            <a:pPr marL="285750" indent="-285750" algn="just">
              <a:lnSpc>
                <a:spcPct val="150000"/>
              </a:lnSpc>
              <a:spcBef>
                <a:spcPts val="400"/>
              </a:spcBef>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More specifically, the invention provides a method and system for interpreting spoken commands, understanding user intent, and performing controlled, context-aware programming actions within a source code editor.</a:t>
            </a:r>
          </a:p>
          <a:p>
            <a:pPr marL="285750" indent="-285750" algn="just">
              <a:lnSpc>
                <a:spcPct val="150000"/>
              </a:lnSpc>
              <a:spcBef>
                <a:spcPts val="400"/>
              </a:spcBef>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The invention addresses accessibility challenges faced by developers with physical or motor impairments, by reducing dependency on traditional input devices such as keyboards and mice while maintaining accuracy, safety, and developer control.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Title 1"/>
          <p:cNvSpPr>
            <a:spLocks noGrp="1"/>
          </p:cNvSpPr>
          <p:nvPr>
            <p:ph type="title"/>
          </p:nvPr>
        </p:nvSpPr>
        <p:spPr>
          <a:xfrm>
            <a:off x="609600" y="381000"/>
            <a:ext cx="10515600" cy="760413"/>
          </a:xfrm>
        </p:spPr>
        <p:txBody>
          <a:bodyPr/>
          <a:lstStyle/>
          <a:p>
            <a:pPr eaLnBrk="1" hangingPunct="1"/>
            <a:r>
              <a:rPr lang="en-US" altLang="en-US" sz="4000" b="1" dirty="0">
                <a:solidFill>
                  <a:srgbClr val="FF0000"/>
                </a:solidFill>
                <a:latin typeface="Times New Roman" panose="02020603050405020304" pitchFamily="18" charset="0"/>
                <a:cs typeface="Times New Roman" panose="02020603050405020304" pitchFamily="18" charset="0"/>
              </a:rPr>
              <a:t>Methodology</a:t>
            </a:r>
            <a:endParaRPr lang="en-IN" altLang="en-US" sz="4000" b="1" dirty="0">
              <a:solidFill>
                <a:srgbClr val="FF0000"/>
              </a:solidFill>
              <a:latin typeface="Times New Roman" panose="02020603050405020304" pitchFamily="18" charset="0"/>
              <a:cs typeface="Times New Roman" panose="02020603050405020304" pitchFamily="18" charset="0"/>
            </a:endParaRPr>
          </a:p>
        </p:txBody>
      </p:sp>
      <p:sp>
        <p:nvSpPr>
          <p:cNvPr id="10244" name="Google Shape;110;p16"/>
          <p:cNvSpPr txBox="1">
            <a:spLocks/>
          </p:cNvSpPr>
          <p:nvPr/>
        </p:nvSpPr>
        <p:spPr bwMode="auto">
          <a:xfrm>
            <a:off x="609600" y="1516798"/>
            <a:ext cx="10972800" cy="441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5" tIns="45700" rIns="91425" bIns="45700"/>
          <a:lstStyle>
            <a:lvl1pPr marL="228600" indent="-2286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marL="288000" algn="just" defTabSz="914400" eaLnBrk="1" hangingPunct="1">
              <a:lnSpc>
                <a:spcPct val="90000"/>
              </a:lnSpc>
              <a:spcBef>
                <a:spcPts val="1200"/>
              </a:spcBef>
              <a:buClr>
                <a:srgbClr val="000000"/>
              </a:buClr>
              <a:buSzPts val="2400"/>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sym typeface="Times New Roman" panose="02020603050405020304" pitchFamily="18" charset="0"/>
              </a:rPr>
              <a:t>The system follows a layered, intent-driven approach for voice-based programming assistance.</a:t>
            </a:r>
          </a:p>
          <a:p>
            <a:pPr marL="288000" algn="just" defTabSz="914400" eaLnBrk="1" hangingPunct="1">
              <a:lnSpc>
                <a:spcPct val="90000"/>
              </a:lnSpc>
              <a:spcBef>
                <a:spcPts val="1200"/>
              </a:spcBef>
              <a:buClr>
                <a:srgbClr val="000000"/>
              </a:buClr>
              <a:buSzPts val="2400"/>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sym typeface="Times New Roman" panose="02020603050405020304" pitchFamily="18" charset="0"/>
              </a:rPr>
              <a:t>Spoken commands are captured and converted into structured text using speech-to-text processing.</a:t>
            </a:r>
          </a:p>
          <a:p>
            <a:pPr marL="288000" algn="just" defTabSz="914400" eaLnBrk="1" hangingPunct="1">
              <a:lnSpc>
                <a:spcPct val="90000"/>
              </a:lnSpc>
              <a:spcBef>
                <a:spcPts val="1200"/>
              </a:spcBef>
              <a:buClr>
                <a:srgbClr val="000000"/>
              </a:buClr>
              <a:buSzPts val="2400"/>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sym typeface="Times New Roman" panose="02020603050405020304" pitchFamily="18" charset="0"/>
              </a:rPr>
              <a:t>Natural language understanding maps user input to unified, language-independent intents.</a:t>
            </a:r>
          </a:p>
          <a:p>
            <a:pPr marL="288000" algn="just" defTabSz="914400" eaLnBrk="1" hangingPunct="1">
              <a:lnSpc>
                <a:spcPct val="90000"/>
              </a:lnSpc>
              <a:spcBef>
                <a:spcPts val="1200"/>
              </a:spcBef>
              <a:buClr>
                <a:srgbClr val="000000"/>
              </a:buClr>
              <a:buSzPts val="2400"/>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sym typeface="Times New Roman" panose="02020603050405020304" pitchFamily="18" charset="0"/>
              </a:rPr>
              <a:t>IDE context such as cursor position and active language guides context-aware execution.</a:t>
            </a:r>
          </a:p>
          <a:p>
            <a:pPr marL="288000" algn="just" defTabSz="914400" eaLnBrk="1" hangingPunct="1">
              <a:lnSpc>
                <a:spcPct val="90000"/>
              </a:lnSpc>
              <a:spcBef>
                <a:spcPts val="1200"/>
              </a:spcBef>
              <a:buClr>
                <a:srgbClr val="000000"/>
              </a:buClr>
              <a:buSzPts val="2400"/>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sym typeface="Times New Roman" panose="02020603050405020304" pitchFamily="18" charset="0"/>
              </a:rPr>
              <a:t>Controlled code transformation ensures syntactic correctness, safety, and predictable behavior.</a:t>
            </a:r>
          </a:p>
          <a:p>
            <a:pPr marL="288000" algn="just" defTabSz="914400" eaLnBrk="1" hangingPunct="1">
              <a:lnSpc>
                <a:spcPct val="90000"/>
              </a:lnSpc>
              <a:spcBef>
                <a:spcPts val="1200"/>
              </a:spcBef>
              <a:buClr>
                <a:srgbClr val="000000"/>
              </a:buClr>
              <a:buSzPts val="2400"/>
              <a:buFont typeface="Arial" panose="020B0604020202020204" pitchFamily="34" charset="0"/>
              <a:buChar char="•"/>
            </a:pPr>
            <a:endParaRPr lang="en-US" altLang="en-US" sz="2400" dirty="0">
              <a:latin typeface="Times New Roman" panose="02020603050405020304" pitchFamily="18" charset="0"/>
              <a:cs typeface="Times New Roman" panose="02020603050405020304" pitchFamily="18" charset="0"/>
              <a:sym typeface="Times New Roman" panose="02020603050405020304" pitchFamily="18"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Title 1"/>
          <p:cNvSpPr>
            <a:spLocks noGrp="1"/>
          </p:cNvSpPr>
          <p:nvPr>
            <p:ph type="title"/>
          </p:nvPr>
        </p:nvSpPr>
        <p:spPr>
          <a:xfrm>
            <a:off x="609600" y="381000"/>
            <a:ext cx="10515600" cy="760413"/>
          </a:xfrm>
        </p:spPr>
        <p:txBody>
          <a:bodyPr/>
          <a:lstStyle/>
          <a:p>
            <a:pPr eaLnBrk="1" hangingPunct="1"/>
            <a:r>
              <a:rPr lang="en-US" altLang="en-US" sz="4000" b="1" dirty="0">
                <a:solidFill>
                  <a:srgbClr val="FF0000"/>
                </a:solidFill>
                <a:latin typeface="Times New Roman" panose="02020603050405020304" pitchFamily="18" charset="0"/>
                <a:cs typeface="Times New Roman" panose="02020603050405020304" pitchFamily="18" charset="0"/>
              </a:rPr>
              <a:t>Implementation details</a:t>
            </a:r>
            <a:endParaRPr lang="en-IN" altLang="en-US" sz="4000" b="1" dirty="0">
              <a:solidFill>
                <a:srgbClr val="FF0000"/>
              </a:solidFill>
              <a:latin typeface="Times New Roman" panose="02020603050405020304" pitchFamily="18" charset="0"/>
              <a:cs typeface="Times New Roman" panose="02020603050405020304" pitchFamily="18" charset="0"/>
            </a:endParaRPr>
          </a:p>
        </p:txBody>
      </p:sp>
      <p:sp>
        <p:nvSpPr>
          <p:cNvPr id="4" name="Date Placeholder 3"/>
          <p:cNvSpPr>
            <a:spLocks noGrp="1"/>
          </p:cNvSpPr>
          <p:nvPr>
            <p:ph type="dt" sz="quarter" idx="10"/>
          </p:nvPr>
        </p:nvSpPr>
        <p:spPr/>
        <p:txBody>
          <a:bodyPr/>
          <a:lstStyle/>
          <a:p>
            <a:pPr>
              <a:defRPr/>
            </a:pPr>
            <a:endParaRPr lang="en-US"/>
          </a:p>
        </p:txBody>
      </p:sp>
      <p:sp>
        <p:nvSpPr>
          <p:cNvPr id="11268" name="Google Shape;110;p16"/>
          <p:cNvSpPr txBox="1">
            <a:spLocks/>
          </p:cNvSpPr>
          <p:nvPr/>
        </p:nvSpPr>
        <p:spPr bwMode="auto">
          <a:xfrm>
            <a:off x="609600" y="1524000"/>
            <a:ext cx="10972800" cy="441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5" tIns="45700" rIns="91425" bIns="45700"/>
          <a:lstStyle>
            <a:lvl1pPr marL="228600" indent="-2286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just" defTabSz="914400" eaLnBrk="1" hangingPunct="1">
              <a:lnSpc>
                <a:spcPct val="90000"/>
              </a:lnSpc>
              <a:buClr>
                <a:srgbClr val="000000"/>
              </a:buClr>
              <a:buSzPts val="2400"/>
              <a:buFont typeface="Arial" panose="020B0604020202020204" pitchFamily="34" charset="0"/>
              <a:buChar char="•"/>
            </a:pPr>
            <a:endParaRPr lang="en-US" altLang="en-US" sz="2200" dirty="0">
              <a:latin typeface="Times New Roman" panose="02020603050405020304" pitchFamily="18" charset="0"/>
              <a:cs typeface="Times New Roman" panose="02020603050405020304" pitchFamily="18" charset="0"/>
              <a:sym typeface="Times New Roman" panose="02020603050405020304" pitchFamily="18" charset="0"/>
            </a:endParaRPr>
          </a:p>
          <a:p>
            <a:pPr algn="just" defTabSz="914400" eaLnBrk="1" hangingPunct="1">
              <a:lnSpc>
                <a:spcPct val="90000"/>
              </a:lnSpc>
              <a:buClr>
                <a:srgbClr val="000000"/>
              </a:buClr>
              <a:buSzPts val="2400"/>
              <a:buFont typeface="Arial" panose="020B0604020202020204" pitchFamily="34" charset="0"/>
              <a:buChar char="•"/>
            </a:pPr>
            <a:endParaRPr lang="en-US" altLang="en-US" sz="2200" dirty="0">
              <a:latin typeface="Times New Roman" panose="02020603050405020304" pitchFamily="18" charset="0"/>
              <a:cs typeface="Times New Roman" panose="02020603050405020304" pitchFamily="18" charset="0"/>
              <a:sym typeface="Times New Roman" panose="02020603050405020304" pitchFamily="18" charset="0"/>
            </a:endParaRPr>
          </a:p>
          <a:p>
            <a:pPr algn="just" defTabSz="914400" eaLnBrk="1" hangingPunct="1">
              <a:lnSpc>
                <a:spcPct val="90000"/>
              </a:lnSpc>
              <a:buClr>
                <a:srgbClr val="000000"/>
              </a:buClr>
              <a:buSzPts val="2400"/>
              <a:buFont typeface="Arial" panose="020B0604020202020204" pitchFamily="34" charset="0"/>
              <a:buChar char="•"/>
            </a:pPr>
            <a:endParaRPr lang="en-US" altLang="en-US" sz="2200" dirty="0">
              <a:latin typeface="Times New Roman" panose="02020603050405020304" pitchFamily="18" charset="0"/>
              <a:cs typeface="Times New Roman" panose="02020603050405020304" pitchFamily="18" charset="0"/>
              <a:sym typeface="Times New Roman" panose="02020603050405020304" pitchFamily="18" charset="0"/>
            </a:endParaRPr>
          </a:p>
        </p:txBody>
      </p:sp>
      <p:sp>
        <p:nvSpPr>
          <p:cNvPr id="8" name="Rectangle 6">
            <a:extLst>
              <a:ext uri="{FF2B5EF4-FFF2-40B4-BE49-F238E27FC236}">
                <a16:creationId xmlns:a16="http://schemas.microsoft.com/office/drawing/2014/main" id="{A8474D0E-D45A-E8D6-AF6C-69304F2412CC}"/>
              </a:ext>
            </a:extLst>
          </p:cNvPr>
          <p:cNvSpPr>
            <a:spLocks noChangeArrowheads="1"/>
          </p:cNvSpPr>
          <p:nvPr/>
        </p:nvSpPr>
        <p:spPr bwMode="auto">
          <a:xfrm>
            <a:off x="695400" y="1524000"/>
            <a:ext cx="10595022" cy="44012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just" defTabSz="914400" rtl="0" eaLnBrk="0" fontAlgn="base" latinLnBrk="0" hangingPunct="0">
              <a:lnSpc>
                <a:spcPct val="100000"/>
              </a:lnSpc>
              <a:spcBef>
                <a:spcPts val="1200"/>
              </a:spcBef>
              <a:spcAft>
                <a:spcPct val="0"/>
              </a:spcAft>
              <a:buClrTx/>
              <a:buSzTx/>
              <a:buFont typeface="Arial" panose="020B0604020202020204" pitchFamily="34" charset="0"/>
              <a:buChar char="•"/>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solution is implemented as a Visual Studio Code extension integrated with an AI-enabled backend.</a:t>
            </a:r>
          </a:p>
          <a:p>
            <a:pPr marL="285750" marR="0" lvl="0" indent="-285750" algn="just" defTabSz="914400" rtl="0" eaLnBrk="0" fontAlgn="base" latinLnBrk="0" hangingPunct="0">
              <a:lnSpc>
                <a:spcPct val="100000"/>
              </a:lnSpc>
              <a:spcBef>
                <a:spcPts val="1200"/>
              </a:spcBef>
              <a:spcAft>
                <a:spcPct val="0"/>
              </a:spcAft>
              <a:buClrTx/>
              <a:buSzTx/>
              <a:buFont typeface="Arial" panose="020B0604020202020204" pitchFamily="34" charset="0"/>
              <a:buChar char="•"/>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extension handles editor context extraction, command execution, and real-time code insertion.</a:t>
            </a:r>
          </a:p>
          <a:p>
            <a:pPr marL="285750" marR="0" lvl="0" indent="-285750" algn="just" defTabSz="914400" rtl="0" eaLnBrk="0" fontAlgn="base" latinLnBrk="0" hangingPunct="0">
              <a:lnSpc>
                <a:spcPct val="100000"/>
              </a:lnSpc>
              <a:spcBef>
                <a:spcPts val="1200"/>
              </a:spcBef>
              <a:spcAft>
                <a:spcPct val="0"/>
              </a:spcAft>
              <a:buClrTx/>
              <a:buSzTx/>
              <a:buFont typeface="Arial" panose="020B0604020202020204" pitchFamily="34" charset="0"/>
              <a:buChar char="•"/>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backend performs speech recognition and intent interpretation to generate structured responses.</a:t>
            </a:r>
          </a:p>
          <a:p>
            <a:pPr marL="285750" marR="0" lvl="0" indent="-285750" algn="just" defTabSz="914400" rtl="0" eaLnBrk="0" fontAlgn="base" latinLnBrk="0" hangingPunct="0">
              <a:lnSpc>
                <a:spcPct val="100000"/>
              </a:lnSpc>
              <a:spcBef>
                <a:spcPts val="1200"/>
              </a:spcBef>
              <a:spcAft>
                <a:spcPct val="0"/>
              </a:spcAft>
              <a:buClrTx/>
              <a:buSzTx/>
              <a:buFont typeface="Arial" panose="020B0604020202020204" pitchFamily="34" charset="0"/>
              <a:buChar char="•"/>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Language-specific execution modules support Python, HTML, and JavaScript code generation.</a:t>
            </a:r>
          </a:p>
          <a:p>
            <a:pPr marL="285750" marR="0" lvl="0" indent="-285750" algn="just" defTabSz="914400" rtl="0" eaLnBrk="0" fontAlgn="base" latinLnBrk="0" hangingPunct="0">
              <a:lnSpc>
                <a:spcPct val="100000"/>
              </a:lnSpc>
              <a:spcBef>
                <a:spcPts val="1200"/>
              </a:spcBef>
              <a:spcAft>
                <a:spcPct val="0"/>
              </a:spcAft>
              <a:buClrTx/>
              <a:buSzTx/>
              <a:buFont typeface="Arial" panose="020B0604020202020204" pitchFamily="34" charset="0"/>
              <a:buChar char="•"/>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Strict validation and asynchronous communication ensure reliability, scalability, and responsiveness.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Title 1"/>
          <p:cNvSpPr>
            <a:spLocks noGrp="1"/>
          </p:cNvSpPr>
          <p:nvPr>
            <p:ph type="title"/>
          </p:nvPr>
        </p:nvSpPr>
        <p:spPr>
          <a:xfrm>
            <a:off x="609600" y="381000"/>
            <a:ext cx="10515600" cy="760413"/>
          </a:xfrm>
        </p:spPr>
        <p:txBody>
          <a:bodyPr/>
          <a:lstStyle/>
          <a:p>
            <a:pPr eaLnBrk="1" hangingPunct="1"/>
            <a:r>
              <a:rPr lang="en-US" altLang="en-US" b="1" dirty="0">
                <a:solidFill>
                  <a:srgbClr val="FF0000"/>
                </a:solidFill>
              </a:rPr>
              <a:t> </a:t>
            </a:r>
            <a:r>
              <a:rPr lang="en-US" altLang="en-US" sz="4000" b="1" dirty="0">
                <a:solidFill>
                  <a:srgbClr val="FF0000"/>
                </a:solidFill>
                <a:latin typeface="Times New Roman" panose="02020603050405020304" pitchFamily="18" charset="0"/>
                <a:cs typeface="Times New Roman" panose="02020603050405020304" pitchFamily="18" charset="0"/>
              </a:rPr>
              <a:t>Conclusion</a:t>
            </a:r>
            <a:endParaRPr lang="en-IN" altLang="en-US" sz="4000" b="1" dirty="0">
              <a:solidFill>
                <a:srgbClr val="FF0000"/>
              </a:solidFill>
              <a:latin typeface="Times New Roman" panose="02020603050405020304" pitchFamily="18" charset="0"/>
              <a:cs typeface="Times New Roman" panose="02020603050405020304" pitchFamily="18" charset="0"/>
            </a:endParaRPr>
          </a:p>
        </p:txBody>
      </p:sp>
      <p:sp>
        <p:nvSpPr>
          <p:cNvPr id="4" name="Date Placeholder 3"/>
          <p:cNvSpPr>
            <a:spLocks noGrp="1"/>
          </p:cNvSpPr>
          <p:nvPr>
            <p:ph type="dt" sz="quarter" idx="10"/>
          </p:nvPr>
        </p:nvSpPr>
        <p:spPr/>
        <p:txBody>
          <a:bodyPr/>
          <a:lstStyle/>
          <a:p>
            <a:pPr>
              <a:defRPr/>
            </a:pPr>
            <a:endParaRPr lang="en-US"/>
          </a:p>
        </p:txBody>
      </p:sp>
      <p:sp>
        <p:nvSpPr>
          <p:cNvPr id="12292" name="Google Shape;110;p16"/>
          <p:cNvSpPr txBox="1">
            <a:spLocks/>
          </p:cNvSpPr>
          <p:nvPr/>
        </p:nvSpPr>
        <p:spPr bwMode="auto">
          <a:xfrm>
            <a:off x="1048544" y="1539081"/>
            <a:ext cx="10094912" cy="441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5" tIns="45700" rIns="91425" bIns="45700"/>
          <a:lstStyle>
            <a:lvl1pPr marL="228600" indent="-2286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marL="0" indent="0" algn="just" defTabSz="914400" eaLnBrk="1" hangingPunct="1">
              <a:lnSpc>
                <a:spcPct val="150000"/>
              </a:lnSpc>
              <a:buClr>
                <a:srgbClr val="000000"/>
              </a:buClr>
              <a:buSzPts val="2400"/>
            </a:pPr>
            <a:r>
              <a:rPr lang="en-US" sz="2400" dirty="0">
                <a:latin typeface="Times New Roman" panose="02020603050405020304" pitchFamily="18" charset="0"/>
                <a:cs typeface="Times New Roman" panose="02020603050405020304" pitchFamily="18" charset="0"/>
              </a:rPr>
              <a:t>	This project presents a voice-driven coding assistant that enhances accessibility through AI-assisted interaction. By combining speech recognition, intent-based understanding, and context-aware execution, the system delivers Copilot-like functionality with controlled and reliable behavior. Its modular architecture supports extensibility across languages and commands, establishing a practical foundation for inclusive, voice-controlled software development environments.</a:t>
            </a:r>
            <a:endParaRPr lang="en-US" altLang="en-US" sz="2200" dirty="0">
              <a:latin typeface="Times New Roman" panose="02020603050405020304" pitchFamily="18" charset="0"/>
              <a:cs typeface="Times New Roman" panose="02020603050405020304" pitchFamily="18" charset="0"/>
              <a:sym typeface="Times New Roman" panose="02020603050405020304" pitchFamily="18"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title"/>
          </p:nvPr>
        </p:nvSpPr>
        <p:spPr>
          <a:xfrm>
            <a:off x="609600" y="381000"/>
            <a:ext cx="10515600" cy="760413"/>
          </a:xfrm>
        </p:spPr>
        <p:txBody>
          <a:bodyPr/>
          <a:lstStyle/>
          <a:p>
            <a:pPr eaLnBrk="1" hangingPunct="1"/>
            <a:r>
              <a:rPr lang="en-US" altLang="en-US" sz="4000" b="1" dirty="0">
                <a:solidFill>
                  <a:srgbClr val="FF0000"/>
                </a:solidFill>
                <a:latin typeface="Times New Roman" panose="02020603050405020304" pitchFamily="18" charset="0"/>
                <a:cs typeface="Times New Roman" panose="02020603050405020304" pitchFamily="18" charset="0"/>
              </a:rPr>
              <a:t>References</a:t>
            </a:r>
            <a:endParaRPr lang="en-IN" altLang="en-US" sz="4000" b="1" dirty="0">
              <a:solidFill>
                <a:srgbClr val="FF0000"/>
              </a:solidFill>
              <a:latin typeface="Times New Roman" panose="02020603050405020304" pitchFamily="18" charset="0"/>
              <a:cs typeface="Times New Roman" panose="02020603050405020304" pitchFamily="18" charset="0"/>
            </a:endParaRPr>
          </a:p>
        </p:txBody>
      </p:sp>
      <p:sp>
        <p:nvSpPr>
          <p:cNvPr id="4" name="Date Placeholder 3"/>
          <p:cNvSpPr>
            <a:spLocks noGrp="1"/>
          </p:cNvSpPr>
          <p:nvPr>
            <p:ph type="dt" sz="quarter" idx="10"/>
          </p:nvPr>
        </p:nvSpPr>
        <p:spPr/>
        <p:txBody>
          <a:bodyPr/>
          <a:lstStyle/>
          <a:p>
            <a:pPr>
              <a:defRPr/>
            </a:pPr>
            <a:endParaRPr lang="en-US"/>
          </a:p>
        </p:txBody>
      </p:sp>
      <p:sp>
        <p:nvSpPr>
          <p:cNvPr id="13316" name="Google Shape;110;p16"/>
          <p:cNvSpPr txBox="1">
            <a:spLocks/>
          </p:cNvSpPr>
          <p:nvPr/>
        </p:nvSpPr>
        <p:spPr bwMode="auto">
          <a:xfrm>
            <a:off x="479376" y="1426344"/>
            <a:ext cx="11460467" cy="51125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5" tIns="45700" rIns="91425" bIns="45700"/>
          <a:lstStyle>
            <a:lvl1pPr marL="228600" indent="-2286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marL="342900" lvl="0" indent="-342900" algn="just" defTabSz="914400">
              <a:buFont typeface="+mj-lt"/>
              <a:buAutoNum type="arabicPeriod"/>
            </a:pPr>
            <a:r>
              <a:rPr kumimoji="0" lang="en-US" altLang="en-US"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Subhash</a:t>
            </a: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S., P. N. Srivatsa, S. </a:t>
            </a:r>
            <a:r>
              <a:rPr kumimoji="0" lang="en-US" altLang="en-US"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Siddesh</a:t>
            </a: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 </a:t>
            </a:r>
            <a:r>
              <a:rPr kumimoji="0" lang="en-US" altLang="en-US"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Ullas</a:t>
            </a: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and B. Santhosh, AI-Based Voice Assistant for Accessibility, </a:t>
            </a:r>
            <a:r>
              <a:rPr kumimoji="0" lang="en-US" altLang="en-US"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2020 Fourth World Conference on Smart Trends in Systems, Security and Sustainability (WorldS4)</a:t>
            </a: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pp. 593–596, 2020.</a:t>
            </a:r>
          </a:p>
          <a:p>
            <a:pPr marL="342900" lvl="0" indent="-342900" algn="just" defTabSz="914400">
              <a:buFont typeface="+mj-lt"/>
              <a:buAutoNum type="arabicPeriod"/>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342900" lvl="0" indent="-342900" algn="just" defTabSz="914400">
              <a:buFont typeface="+mj-lt"/>
              <a:buAutoNum type="arabicPeriod"/>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Felix S. M., S. Kumar, and A. </a:t>
            </a:r>
            <a:r>
              <a:rPr kumimoji="0" lang="en-US" altLang="en-US"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Veeramuthu</a:t>
            </a: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 Smart Personal AI Assistant for Visually Impaired People, </a:t>
            </a:r>
            <a:r>
              <a:rPr kumimoji="0" lang="en-US" altLang="en-US"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2018 2nd International Conference on Trends in Electronics and Informatics (ICOEI)</a:t>
            </a: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pp. 112–117, 2018.</a:t>
            </a:r>
          </a:p>
          <a:p>
            <a:pPr marL="342900" lvl="0" indent="-342900" algn="just" defTabSz="914400">
              <a:buFont typeface="+mj-lt"/>
              <a:buAutoNum type="arabicPeriod"/>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342900" lvl="0" indent="-342900" algn="just" defTabSz="914400">
              <a:buFont typeface="+mj-lt"/>
              <a:buAutoNum type="arabicPeriod"/>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Chen R., Z. Tian, H. Liu, F. Zhao, and S. Zhang, Construction of a Voice-Driven Life Assistant System for Visually Impaired People, </a:t>
            </a:r>
            <a:r>
              <a:rPr kumimoji="0" lang="en-US" altLang="en-US"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2018 International Conference on Artificial Intelligence and Big Data (ICAIBD)</a:t>
            </a: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pp. 87–92, 2018.</a:t>
            </a:r>
          </a:p>
          <a:p>
            <a:pPr marL="342900" lvl="0" indent="-342900" algn="just" defTabSz="914400">
              <a:buFont typeface="+mj-lt"/>
              <a:buAutoNum type="arabicPeriod"/>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342900" lvl="0" indent="-342900" algn="just" defTabSz="914400">
              <a:buFont typeface="+mj-lt"/>
              <a:buAutoNum type="arabicPeriod"/>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Rani P. J., J. </a:t>
            </a:r>
            <a:r>
              <a:rPr kumimoji="0" lang="en-US" altLang="en-US"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Bakthakumar</a:t>
            </a: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B. P. </a:t>
            </a:r>
            <a:r>
              <a:rPr kumimoji="0" lang="en-US" altLang="en-US"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Kumaar</a:t>
            </a: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U. P. </a:t>
            </a:r>
            <a:r>
              <a:rPr kumimoji="0" lang="en-US" altLang="en-US"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Kumaar</a:t>
            </a: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and S. Kumar, Voice Controlled Home Automation Using Natural Language Processing (NLP) and </a:t>
            </a:r>
            <a:r>
              <a:rPr kumimoji="0" lang="en-US" altLang="en-US"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IoT</a:t>
            </a: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2017 Third International Conference on Science Technology Engineering &amp; Management (ICONSTEM)</a:t>
            </a: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pp. 45–50, 2017.</a:t>
            </a:r>
          </a:p>
          <a:p>
            <a:pPr marL="342900" lvl="0" indent="-342900" algn="just" defTabSz="914400">
              <a:buFont typeface="+mj-lt"/>
              <a:buAutoNum type="arabicPeriod"/>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342900" lvl="0" indent="-342900" algn="just" defTabSz="914400">
              <a:buFont typeface="+mj-lt"/>
              <a:buAutoNum type="arabicPeriod"/>
            </a:pPr>
            <a:r>
              <a:rPr kumimoji="0" lang="en-US" altLang="en-US"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Iannizzotto</a:t>
            </a: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G., L. L. Bello, A. </a:t>
            </a:r>
            <a:r>
              <a:rPr kumimoji="0" lang="en-US" altLang="en-US"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Nucita</a:t>
            </a: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and G. M. Grasso, A Vision and Speech Enabled Customizable Virtual Assistant for Smart Environments, </a:t>
            </a:r>
            <a:r>
              <a:rPr kumimoji="0" lang="en-US" altLang="en-US"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2018 11th International Conference on Human System Interaction (HSI)</a:t>
            </a: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pp. 50–56, 2018.</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quarter" idx="10"/>
          </p:nvPr>
        </p:nvSpPr>
        <p:spPr/>
        <p:txBody>
          <a:bodyPr/>
          <a:lstStyle/>
          <a:p>
            <a:pPr>
              <a:defRPr/>
            </a:pPr>
            <a:endParaRPr lang="en-US"/>
          </a:p>
        </p:txBody>
      </p:sp>
      <p:sp>
        <p:nvSpPr>
          <p:cNvPr id="14339" name="TextBox 3"/>
          <p:cNvSpPr txBox="1">
            <a:spLocks noChangeArrowheads="1"/>
          </p:cNvSpPr>
          <p:nvPr/>
        </p:nvSpPr>
        <p:spPr bwMode="auto">
          <a:xfrm>
            <a:off x="3581400" y="2590800"/>
            <a:ext cx="46482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eaLnBrk="1" hangingPunct="1">
              <a:spcBef>
                <a:spcPts val="575"/>
              </a:spcBef>
              <a:buSzPts val="1500"/>
            </a:pPr>
            <a:r>
              <a:rPr lang="en-IN" altLang="en-US" sz="5400" b="1">
                <a:latin typeface="Times New Roman" panose="02020603050405020304" pitchFamily="18" charset="0"/>
                <a:cs typeface="Times New Roman" panose="02020603050405020304" pitchFamily="18" charset="0"/>
                <a:sym typeface="Times New Roman" panose="02020603050405020304" pitchFamily="18" charset="0"/>
              </a:rPr>
              <a:t>THANK YOU</a:t>
            </a:r>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aa0e8f73-967c-4e13-b55c-6b4dcdfd4341"/>
    <lcf76f155ced4ddcb4097134ff3c332f xmlns="9091ee48-ca27-4fcf-b5de-98ddf097c65b">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8F1BCB14E108D43AB233A31F986D556" ma:contentTypeVersion="15" ma:contentTypeDescription="Create a new document." ma:contentTypeScope="" ma:versionID="606eb99ade008cbd837459e6299ff69f">
  <xsd:schema xmlns:xsd="http://www.w3.org/2001/XMLSchema" xmlns:xs="http://www.w3.org/2001/XMLSchema" xmlns:p="http://schemas.microsoft.com/office/2006/metadata/properties" xmlns:ns2="9091ee48-ca27-4fcf-b5de-98ddf097c65b" xmlns:ns3="aa0e8f73-967c-4e13-b55c-6b4dcdfd4341" targetNamespace="http://schemas.microsoft.com/office/2006/metadata/properties" ma:root="true" ma:fieldsID="4f0695f8f66d9a55fcdb756ad6a4800d" ns2:_="" ns3:_="">
    <xsd:import namespace="9091ee48-ca27-4fcf-b5de-98ddf097c65b"/>
    <xsd:import namespace="aa0e8f73-967c-4e13-b55c-6b4dcdfd434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Location"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091ee48-ca27-4fcf-b5de-98ddf097c65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8a8dc31b-8fe8-4e59-b85a-c7b64a9b44e1"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a0e8f73-967c-4e13-b55c-6b4dcdfd4341"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a7c6695d-8cf1-4d67-be06-2ceec35c97d8}" ma:internalName="TaxCatchAll" ma:showField="CatchAllData" ma:web="aa0e8f73-967c-4e13-b55c-6b4dcdfd4341">
      <xsd:complexType>
        <xsd:complexContent>
          <xsd:extension base="dms:MultiChoiceLookup">
            <xsd:sequence>
              <xsd:element name="Value" type="dms:Lookup" maxOccurs="unbounded" minOccurs="0" nillable="true"/>
            </xsd:sequence>
          </xsd:extension>
        </xsd:complexContent>
      </xsd:complex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B7B56AF-BF8B-45D5-99FE-8572FA6C1777}">
  <ds:schemaRefs>
    <ds:schemaRef ds:uri="http://purl.org/dc/elements/1.1/"/>
    <ds:schemaRef ds:uri="http://schemas.openxmlformats.org/package/2006/metadata/core-properties"/>
    <ds:schemaRef ds:uri="http://purl.org/dc/terms/"/>
    <ds:schemaRef ds:uri="http://schemas.microsoft.com/office/infopath/2007/PartnerControls"/>
    <ds:schemaRef ds:uri="http://schemas.microsoft.com/office/2006/documentManagement/types"/>
    <ds:schemaRef ds:uri="http://schemas.microsoft.com/office/2006/metadata/properties"/>
    <ds:schemaRef ds:uri="aa0e8f73-967c-4e13-b55c-6b4dcdfd4341"/>
    <ds:schemaRef ds:uri="9091ee48-ca27-4fcf-b5de-98ddf097c65b"/>
    <ds:schemaRef ds:uri="http://www.w3.org/XML/1998/namespace"/>
    <ds:schemaRef ds:uri="http://purl.org/dc/dcmitype/"/>
  </ds:schemaRefs>
</ds:datastoreItem>
</file>

<file path=customXml/itemProps2.xml><?xml version="1.0" encoding="utf-8"?>
<ds:datastoreItem xmlns:ds="http://schemas.openxmlformats.org/officeDocument/2006/customXml" ds:itemID="{A91E36E6-5217-4E12-971E-AF9D2089B059}">
  <ds:schemaRefs>
    <ds:schemaRef ds:uri="http://schemas.microsoft.com/sharepoint/v3/contenttype/forms"/>
  </ds:schemaRefs>
</ds:datastoreItem>
</file>

<file path=customXml/itemProps3.xml><?xml version="1.0" encoding="utf-8"?>
<ds:datastoreItem xmlns:ds="http://schemas.openxmlformats.org/officeDocument/2006/customXml" ds:itemID="{FFB38897-1384-41D0-8D2B-BBB64548DD6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091ee48-ca27-4fcf-b5de-98ddf097c65b"/>
    <ds:schemaRef ds:uri="aa0e8f73-967c-4e13-b55c-6b4dcdfd434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 2013 - 2022</Template>
  <TotalTime>2612</TotalTime>
  <Words>1272</Words>
  <Application>Microsoft Office PowerPoint</Application>
  <PresentationFormat>Widescreen</PresentationFormat>
  <Paragraphs>107</Paragraphs>
  <Slides>15</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Arial</vt:lpstr>
      <vt:lpstr>Calibri</vt:lpstr>
      <vt:lpstr>Calibri Light</vt:lpstr>
      <vt:lpstr>Helvetica</vt:lpstr>
      <vt:lpstr>Times New Roman</vt:lpstr>
      <vt:lpstr>Office Theme</vt:lpstr>
      <vt:lpstr>   </vt:lpstr>
      <vt:lpstr>Contents</vt:lpstr>
      <vt:lpstr>Abstract</vt:lpstr>
      <vt:lpstr>Literature Survey Summary</vt:lpstr>
      <vt:lpstr>Architecture Diagram </vt:lpstr>
      <vt:lpstr>Architecture Diagram </vt:lpstr>
      <vt:lpstr>Architecture Diagram </vt:lpstr>
      <vt:lpstr>Detailed description of the drawings </vt:lpstr>
      <vt:lpstr>Detailed description of the drawings </vt:lpstr>
      <vt:lpstr>Detailed description of the invention</vt:lpstr>
      <vt:lpstr>Methodology</vt:lpstr>
      <vt:lpstr>Implementation details</vt:lpstr>
      <vt:lpstr> Conclusion</vt:lpstr>
      <vt:lpstr>References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Welcome</dc:creator>
  <cp:lastModifiedBy>Aashif AK</cp:lastModifiedBy>
  <cp:revision>174</cp:revision>
  <dcterms:created xsi:type="dcterms:W3CDTF">2006-08-16T00:00:00Z</dcterms:created>
  <dcterms:modified xsi:type="dcterms:W3CDTF">2026-01-30T16:11:23Z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1033-12.2.0.13489</vt:lpwstr>
  </property>
  <property fmtid="{D5CDD505-2E9C-101B-9397-08002B2CF9AE}" pid="3" name="ICV">
    <vt:lpwstr>770EA04E17C140C9921074617930298C_13</vt:lpwstr>
  </property>
  <property fmtid="{D5CDD505-2E9C-101B-9397-08002B2CF9AE}" pid="4" name="ContentTypeId">
    <vt:lpwstr>0x01010098F1BCB14E108D43AB233A31F986D556</vt:lpwstr>
  </property>
</Properties>
</file>
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71" r:id="rId4"/>
    <p:sldId id="258" r:id="rId5"/>
    <p:sldId id="263" r:id="rId6"/>
    <p:sldId id="270" r:id="rId7"/>
    <p:sldId id="268" r:id="rId8"/>
    <p:sldId id="272" r:id="rId9"/>
    <p:sldId id="262" r:id="rId1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337" autoAdjust="0"/>
  </p:normalViewPr>
  <p:slideViewPr>
    <p:cSldViewPr snapToGrid="0">
      <p:cViewPr varScale="1">
        <p:scale>
          <a:sx n="60" d="100"/>
          <a:sy n="60" d="100"/>
        </p:scale>
        <p:origin x="96" y="11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289A0A-592F-4579-AE78-0E63EB14E26A}" type="datetimeFigureOut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088AB0-1C3E-4E44-AC89-1F2440C19E66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91889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88AB0-1C3E-4E44-AC89-1F2440C19E66}" type="slidenum">
              <a:rPr lang="en-IN" smtClean="0"/>
              <a:pPr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13773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5088AB0-1C3E-4E44-AC89-1F2440C19E66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34044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62F60-AFDA-6F9D-EDFD-B6CA1F6BC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B8FD2C-99F7-6E39-DE12-35A2F121D3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5FB768-DF2D-4119-C21B-0B4AC5E12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258022-64EF-452F-8D36-0822664E8985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06A2C-9C11-9CB8-3952-D6D6C85503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E62E5-EA5E-5D9F-71C0-299658447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8770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41727-0587-C93F-0A1F-54810F2E9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5858B-7655-B37D-2A31-C7776A7E4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D0B98-D37C-68E8-C29D-14D989333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9E186-6116-4DA0-9085-C1235117DB6B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9B6F-1E25-BD8B-C408-C4B43528B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8C1E0-63BD-645C-5B4F-18218519B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682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8A14C-F613-7B41-7BBA-DB4F68C0B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62C3A-CF0F-418D-0344-5C612DCF98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A01DD-32EC-E22F-3176-1A1111DF0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76FE1-C54F-4FDD-A6FB-58FD7630B3D2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0E9C1-31B9-80E8-83DB-127F8E58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EE83D-71AB-DBCB-DEF1-EFEBB5A8B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25152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74E-E56D-6D38-EC46-BC49BE25F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ACDC3-A16E-5C0A-9B10-889E3D376A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E16DEF-B047-7F93-6164-B866F372B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D9045-B626-01F9-A7DC-F111C05E87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7A854-7F67-4017-9F1B-EDC8264659C5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FE9830-2172-DF70-801D-4BCCFB0E7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F35B6-178F-EB97-0198-DF2AF90B6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1285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13F22-0FFB-DE7A-8F99-D1ADAB84D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0843C-3EF8-9034-0086-725C7D4D75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57A3A-422B-55D8-3836-CFBCECFBD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F7572F-CC63-C837-C408-3E6068897B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C4691F-60A1-5FE9-5E9D-AD7C048E90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E029D7-B0AC-DA37-76B7-39649C3F2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121448-6933-4BB0-B792-C1E582F9D1FA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3332AE8-E8B4-BAEE-05A0-F28B95A4E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D5BC1F-DF7F-B933-3AEF-F0AE9472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79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BD144-E72E-91CD-1D1C-6EB603DAB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127F4-D84B-5E1E-AA33-B693166A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C10BDD-C7BF-4BEB-8E7F-F79F7321F5B8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705E8E-69F0-8211-A74B-81C22AC4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06144E-558C-05FB-C410-409D9EF53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5436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810A82-FE88-69A2-CAD9-24ED8E6D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E40BC-515D-4E09-A178-D303E1A3E17B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766B3F-1B21-9AD0-6A58-154CE32BA5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4E1FA-83D4-5B49-CC4F-958BECFE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60893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CD62B-AEB2-951E-3C5A-2EA8E558D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CD460-19E2-CDCB-F17B-DB323CDDF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CA72A-EAF4-FF30-5D30-4E983A6726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B9A4A-ECBE-638C-8EBD-41BA4BD0E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F0C54-21AD-4FB5-9865-70BB251358AA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84685-9F13-F5E1-33AC-3B6AA8AFE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00E65-3B9F-0731-381E-58025D8B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8541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74088-8C0D-6206-B6F0-E28D6812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C6B9F8-A727-4F40-40F3-3718DAF96E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D07272-8F1A-B142-03B4-F519D13FB4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C2CBB-EA74-B9AE-4CD0-EB1D3120E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18FA60-D1E1-456E-BA02-2BA934B9F55C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07C20-C51D-BECD-4223-715BABD4D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5AAAB-CCAB-8479-414C-E2BF302F2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86909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1A792-18D1-A836-F5A5-E70E3F7E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BAE985-1BC7-55DE-C90E-2709E0FE0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97E7D-824B-6D0D-7C29-A02640178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12B54-1760-41F2-8318-530517A222A4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5E4CD-49AC-7897-6730-1408663A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82C68-6057-D205-9E55-AD8D09C9C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62475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3F2B124-768F-395F-C031-DA5912C201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7B30FA-8240-E267-DEFA-1D263117A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C639B-A0CB-0BD4-E72D-0EE7C4E37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F4FCE-2F2D-4C01-ACCD-36BE74E81988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AB932-A650-3506-C695-B72532FEB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Brain Tumor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F9C298-D994-7F9B-79E7-F46B57B2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322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B0C0EE-FE7D-7D3B-7EF9-D34804D73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785E00-6403-6214-F030-5ECD589652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9D3DE-9799-EE6D-B837-E93E6865AE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51571-2412-45EA-922C-E514E61E09A6}" type="datetime1">
              <a:rPr lang="en-IN" smtClean="0"/>
              <a:pPr/>
              <a:t>05-01-2026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F92753-DD29-6192-AF9C-98B2017025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Brain Tumor Detection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E5E367-EE42-3716-6960-6F5DBF23E0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F20539-7144-4945-B20A-62B30D853D34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4477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D54ABCD-813C-C929-4EDB-66B1AEF26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1</a:t>
            </a:fld>
            <a:endParaRPr lang="en-IN" dirty="0"/>
          </a:p>
        </p:txBody>
      </p:sp>
      <p:pic>
        <p:nvPicPr>
          <p:cNvPr id="7" name="Picture 6" descr="C:\Users\STAFFS\Desktop\MCET LOGO NEW_1 (1).jpg">
            <a:extLst>
              <a:ext uri="{FF2B5EF4-FFF2-40B4-BE49-F238E27FC236}">
                <a16:creationId xmlns:a16="http://schemas.microsoft.com/office/drawing/2014/main" id="{5AF28D87-2CCB-A06A-A65D-1B0650C6D701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219" y="394883"/>
            <a:ext cx="158496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38E22EC-708E-8A41-C406-4B9ACB0A32CB}"/>
              </a:ext>
            </a:extLst>
          </p:cNvPr>
          <p:cNvSpPr/>
          <p:nvPr/>
        </p:nvSpPr>
        <p:spPr>
          <a:xfrm>
            <a:off x="1821543" y="399002"/>
            <a:ext cx="85344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Dr.Mahalingam College of Engineering &amp; Technology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Department of Artificial Intelligence &amp; Data Science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Project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Zeroth Review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46ACD962-78D8-948E-0E31-48FC33FA7792}"/>
              </a:ext>
            </a:extLst>
          </p:cNvPr>
          <p:cNvSpPr txBox="1">
            <a:spLocks/>
          </p:cNvSpPr>
          <p:nvPr/>
        </p:nvSpPr>
        <p:spPr>
          <a:xfrm>
            <a:off x="1088571" y="1683000"/>
            <a:ext cx="10265229" cy="4877446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indent="-274320">
              <a:lnSpc>
                <a:spcPct val="170000"/>
              </a:lnSpc>
              <a:spcBef>
                <a:spcPts val="580"/>
              </a:spcBef>
              <a:defRPr/>
            </a:pPr>
            <a:r>
              <a:rPr lang="en-IN" sz="9600" dirty="0">
                <a:latin typeface="Times New Roman" panose="02020603050405020304" pitchFamily="18" charset="0"/>
                <a:cs typeface="Times New Roman" pitchFamily="18" charset="0"/>
              </a:rPr>
              <a:t> </a:t>
            </a:r>
            <a:r>
              <a:rPr lang="en-IN" sz="8600" dirty="0">
                <a:latin typeface="Times New Roman" panose="02020603050405020304" pitchFamily="18" charset="0"/>
                <a:cs typeface="Times New Roman" pitchFamily="18" charset="0"/>
              </a:rPr>
              <a:t>Title: </a:t>
            </a:r>
            <a:r>
              <a:rPr lang="en-US" sz="8800" dirty="0">
                <a:latin typeface="Times New Roman" pitchFamily="18" charset="0"/>
                <a:cs typeface="Times New Roman" pitchFamily="18" charset="0"/>
              </a:rPr>
              <a:t>AI Based Coding Assistant for Differently-Abled People</a:t>
            </a:r>
          </a:p>
          <a:p>
            <a:pPr marL="274320" indent="-274320" algn="just">
              <a:lnSpc>
                <a:spcPct val="170000"/>
              </a:lnSpc>
              <a:spcBef>
                <a:spcPts val="580"/>
              </a:spcBef>
              <a:defRPr/>
            </a:pPr>
            <a:r>
              <a:rPr lang="en-IN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Batch Number  </a:t>
            </a:r>
            <a:r>
              <a:rPr lang="en-IN" sz="7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: </a:t>
            </a: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20</a:t>
            </a:r>
          </a:p>
          <a:p>
            <a:pPr algn="l">
              <a:spcBef>
                <a:spcPts val="580"/>
              </a:spcBef>
              <a:defRPr/>
            </a:pPr>
            <a:endParaRPr lang="en-IN" sz="7200" dirty="0">
              <a:solidFill>
                <a:srgbClr val="0070C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>
              <a:spcBef>
                <a:spcPts val="580"/>
              </a:spcBef>
              <a:defRPr/>
            </a:pPr>
            <a:r>
              <a:rPr lang="en-IN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Domain:  </a:t>
            </a:r>
            <a:r>
              <a:rPr lang="en-IN" sz="7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Artificial Intelligence</a:t>
            </a:r>
          </a:p>
          <a:p>
            <a:pPr algn="l">
              <a:spcBef>
                <a:spcPts val="580"/>
              </a:spcBef>
              <a:defRPr/>
            </a:pPr>
            <a:endParaRPr lang="en-IN" sz="7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algn="l">
              <a:spcBef>
                <a:spcPts val="580"/>
              </a:spcBef>
              <a:defRPr/>
            </a:pPr>
            <a:r>
              <a:rPr lang="en-IN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Team Members:</a:t>
            </a:r>
          </a:p>
          <a:p>
            <a:pPr algn="l">
              <a:spcBef>
                <a:spcPts val="580"/>
              </a:spcBef>
              <a:defRPr/>
            </a:pPr>
            <a:endParaRPr lang="en-IN" sz="7200" dirty="0">
              <a:solidFill>
                <a:srgbClr val="FF0000"/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457200" indent="-457200" algn="l">
              <a:spcBef>
                <a:spcPts val="580"/>
              </a:spcBef>
              <a:buFont typeface="Wingdings 2" panose="05020102010507070707" pitchFamily="18" charset="2"/>
              <a:buAutoNum type="arabicPeriod"/>
              <a:defRPr/>
            </a:pPr>
            <a:r>
              <a:rPr lang="en-US" altLang="en-IN" sz="6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itchFamily="18" charset="0"/>
              </a:rPr>
              <a:t>SHARANYA  T                            (727622BAD007)</a:t>
            </a:r>
            <a:endParaRPr lang="x-none" altLang="en-IN" sz="6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457200" indent="-457200" algn="l">
              <a:spcBef>
                <a:spcPts val="580"/>
              </a:spcBef>
              <a:buFont typeface="Wingdings 2" panose="05020102010507070707" pitchFamily="18" charset="2"/>
              <a:buAutoNum type="arabicPeriod"/>
              <a:defRPr/>
            </a:pPr>
            <a:r>
              <a:rPr lang="en-IN" sz="62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itchFamily="18" charset="0"/>
                <a:sym typeface="Times New Roman"/>
              </a:rPr>
              <a:t>SANTHOSH S          	         (727622BAD073)</a:t>
            </a:r>
          </a:p>
          <a:p>
            <a:pPr marL="457200" indent="-457200" algn="l">
              <a:spcBef>
                <a:spcPts val="580"/>
              </a:spcBef>
              <a:buFont typeface="Wingdings 2" panose="05020102010507070707" pitchFamily="18" charset="2"/>
              <a:buAutoNum type="arabicPeriod"/>
              <a:defRPr/>
            </a:pPr>
            <a:r>
              <a:rPr lang="en-IN" altLang="en-IN" sz="6200" b="1" dirty="0">
                <a:solidFill>
                  <a:srgbClr val="0C0C0C"/>
                </a:solidFill>
                <a:latin typeface="Times New Roman" panose="02020603050405020304" pitchFamily="18" charset="0"/>
                <a:cs typeface="Times New Roman" pitchFamily="18" charset="0"/>
                <a:sym typeface="Times New Roman"/>
              </a:rPr>
              <a:t>AASHIF SHADIN K N               (</a:t>
            </a:r>
            <a:r>
              <a:rPr lang="en-IN" sz="62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itchFamily="18" charset="0"/>
                <a:sym typeface="Times New Roman"/>
              </a:rPr>
              <a:t>727622BAD099)</a:t>
            </a:r>
          </a:p>
          <a:p>
            <a:pPr marL="274320" indent="-274320" algn="l">
              <a:spcBef>
                <a:spcPts val="580"/>
              </a:spcBef>
              <a:defRPr/>
            </a:pPr>
            <a:endParaRPr lang="en-IN" sz="72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  <a:p>
            <a:pPr marL="274320" indent="-274320" algn="l">
              <a:spcBef>
                <a:spcPts val="580"/>
              </a:spcBef>
              <a:defRPr/>
            </a:pPr>
            <a:r>
              <a:rPr lang="en-IN" sz="7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itchFamily="18" charset="0"/>
              </a:rPr>
              <a:t>Guide: </a:t>
            </a:r>
          </a:p>
          <a:p>
            <a:pPr marL="274320" indent="-274320" algn="l">
              <a:spcBef>
                <a:spcPts val="580"/>
              </a:spcBef>
              <a:defRPr/>
            </a:pPr>
            <a:r>
              <a:rPr lang="en-IN" sz="72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itchFamily="18" charset="0"/>
                <a:sym typeface="Times New Roman"/>
              </a:rPr>
              <a:t>        Ms M </a:t>
            </a:r>
            <a:r>
              <a:rPr lang="en-IN" sz="7200" b="1" dirty="0" err="1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itchFamily="18" charset="0"/>
                <a:sym typeface="Times New Roman"/>
              </a:rPr>
              <a:t>Rajalakshmi</a:t>
            </a:r>
            <a:r>
              <a:rPr lang="en-IN" sz="7200" b="1" dirty="0">
                <a:solidFill>
                  <a:srgbClr val="0C0C0C"/>
                </a:solidFill>
                <a:latin typeface="Times New Roman" panose="02020603050405020304" pitchFamily="18" charset="0"/>
                <a:ea typeface="Times New Roman"/>
                <a:cs typeface="Times New Roman" pitchFamily="18" charset="0"/>
                <a:sym typeface="Times New Roman"/>
              </a:rPr>
              <a:t> AP/AI &amp; DS</a:t>
            </a:r>
            <a:endParaRPr lang="en-IN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l">
              <a:buFontTx/>
              <a:buNone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8" algn="l">
              <a:buFontTx/>
              <a:buNone/>
              <a:defRPr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pPr lvl="8" algn="l">
              <a:buFontTx/>
              <a:buNone/>
              <a:defRPr/>
            </a:pP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992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027A181D-EBAD-0414-FD4D-6B59F6DB7DC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3444" y="463395"/>
            <a:ext cx="2766706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36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556A106-A493-7A7B-A32A-55F5FB1FA223}"/>
              </a:ext>
            </a:extLst>
          </p:cNvPr>
          <p:cNvSpPr txBox="1"/>
          <p:nvPr/>
        </p:nvSpPr>
        <p:spPr>
          <a:xfrm>
            <a:off x="841043" y="1247686"/>
            <a:ext cx="6735413" cy="2689006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6870" indent="-344805">
              <a:lnSpc>
                <a:spcPct val="150000"/>
              </a:lnSpc>
              <a:spcBef>
                <a:spcPts val="700"/>
              </a:spcBef>
              <a:buClr>
                <a:srgbClr val="D24717"/>
              </a:buClr>
              <a:buSzPct val="45000"/>
              <a:buFont typeface="Segoe UI Symbol"/>
              <a:buChar char="⚫"/>
              <a:tabLst>
                <a:tab pos="356870" algn="l"/>
                <a:tab pos="357505" algn="l"/>
              </a:tabLst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pPr marL="356870" indent="-344805">
              <a:lnSpc>
                <a:spcPct val="150000"/>
              </a:lnSpc>
              <a:spcBef>
                <a:spcPts val="700"/>
              </a:spcBef>
              <a:buClr>
                <a:srgbClr val="D24717"/>
              </a:buClr>
              <a:buSzPct val="45000"/>
              <a:buFont typeface="Segoe UI Symbol"/>
              <a:buChar char="⚫"/>
              <a:tabLst>
                <a:tab pos="356870" algn="l"/>
                <a:tab pos="357505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Problem</a:t>
            </a:r>
            <a:r>
              <a:rPr sz="2000" spc="-65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Statement</a:t>
            </a:r>
            <a:endParaRPr lang="en-US" sz="2000" spc="-10" dirty="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50000"/>
              </a:lnSpc>
              <a:spcBef>
                <a:spcPts val="700"/>
              </a:spcBef>
              <a:buClr>
                <a:srgbClr val="D24717"/>
              </a:buClr>
              <a:buSzPct val="45000"/>
              <a:buFont typeface="Segoe UI Symbol"/>
              <a:buChar char="⚫"/>
              <a:tabLst>
                <a:tab pos="356870" algn="l"/>
                <a:tab pos="357505" algn="l"/>
              </a:tabLst>
            </a:pPr>
            <a:r>
              <a:rPr lang="en-IN" sz="2000" spc="-10" dirty="0">
                <a:latin typeface="Times New Roman" pitchFamily="18" charset="0"/>
                <a:cs typeface="Times New Roman" pitchFamily="18" charset="0"/>
              </a:rPr>
              <a:t>Objective</a:t>
            </a:r>
            <a:endParaRPr lang="en-US" sz="2000" spc="-10" dirty="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50000"/>
              </a:lnSpc>
              <a:spcBef>
                <a:spcPts val="700"/>
              </a:spcBef>
              <a:buClr>
                <a:srgbClr val="D24717"/>
              </a:buClr>
              <a:buSzPct val="45000"/>
              <a:buFont typeface="Segoe UI Symbol"/>
              <a:buChar char="⚫"/>
              <a:tabLst>
                <a:tab pos="356870" algn="l"/>
                <a:tab pos="357505" algn="l"/>
              </a:tabLst>
            </a:pPr>
            <a:r>
              <a:rPr sz="2000" dirty="0">
                <a:latin typeface="Times New Roman" pitchFamily="18" charset="0"/>
                <a:cs typeface="Times New Roman" pitchFamily="18" charset="0"/>
              </a:rPr>
              <a:t>Software</a:t>
            </a:r>
            <a:r>
              <a:rPr sz="2000" spc="-5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2000" spc="-10" dirty="0">
                <a:latin typeface="Times New Roman" pitchFamily="18" charset="0"/>
                <a:cs typeface="Times New Roman" pitchFamily="18" charset="0"/>
              </a:rPr>
              <a:t>Requirements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  <a:p>
            <a:pPr marL="356870" indent="-344805">
              <a:lnSpc>
                <a:spcPct val="150000"/>
              </a:lnSpc>
              <a:spcBef>
                <a:spcPts val="600"/>
              </a:spcBef>
              <a:buClr>
                <a:srgbClr val="D24717"/>
              </a:buClr>
              <a:buSzPct val="45000"/>
              <a:buFont typeface="Segoe UI Symbol"/>
              <a:buChar char="⚫"/>
              <a:tabLst>
                <a:tab pos="356870" algn="l"/>
                <a:tab pos="357505" algn="l"/>
              </a:tabLst>
            </a:pPr>
            <a:r>
              <a:rPr sz="2000" spc="-10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4311EEA-C58B-85F5-DDDC-15D3AFA00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535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971A4-B3E4-22FA-B03F-159E61C32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936C4913-20EE-923E-99A7-F653A2008B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11777" y="138702"/>
            <a:ext cx="10515600" cy="1325563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US" sz="36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IN" sz="36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NTRODUCTION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A5B609-DE67-55EE-0729-28693195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623082"/>
            <a:ext cx="958865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Programming is a fundamental skill, but traditional code editors rely heavily on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 interfaces and keyboard/mouse navigation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Differently-abled users, especially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blind users or those with limited hand mobility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face challenges in writing, editing, and understanding code.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This project develops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VS Code Extension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voice-driven coding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auditory feedback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promoting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independent coding and inclusivity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5536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174E69-BB6C-2614-2CB9-7E89FE4E6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dirty="0" smtClean="0"/>
              <a:pPr/>
              <a:t>4</a:t>
            </a:fld>
            <a:endParaRPr lang="en-IN" dirty="0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1F3324E3-AA40-8393-BBFD-08866A4D1A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93443" y="661769"/>
            <a:ext cx="7706175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3600" b="1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6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3960B02C-F050-F975-4955-B0BD52D99D5B}"/>
              </a:ext>
            </a:extLst>
          </p:cNvPr>
          <p:cNvSpPr txBox="1"/>
          <p:nvPr/>
        </p:nvSpPr>
        <p:spPr>
          <a:xfrm>
            <a:off x="993443" y="1432853"/>
            <a:ext cx="10502536" cy="41754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Differently-abled individuals, especially the blind or those with limited hand mobility, face challenges using traditional code editors.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editors rely heavily on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interfaces, keyboard shortcuts, and mouse navigation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it difficult to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write, edit, compile, and understand code independently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voice-based coding assistant that enables coding through verbal commands and AI-driven suggestions.</a:t>
            </a:r>
          </a:p>
          <a:p>
            <a:pPr algn="just"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dependency, promote accessibility, and enable participation in programming education and careers.</a:t>
            </a:r>
          </a:p>
          <a:p>
            <a:pPr algn="just">
              <a:lnSpc>
                <a:spcPct val="150000"/>
              </a:lnSpc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24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8D89C-1E54-32BD-94D2-919FC3948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DE51D3FA-CA01-EDE3-D38E-0351AA8EDAD1}"/>
              </a:ext>
            </a:extLst>
          </p:cNvPr>
          <p:cNvSpPr txBox="1">
            <a:spLocks/>
          </p:cNvSpPr>
          <p:nvPr/>
        </p:nvSpPr>
        <p:spPr>
          <a:xfrm>
            <a:off x="524052" y="538393"/>
            <a:ext cx="4377690" cy="568104"/>
          </a:xfrm>
          <a:prstGeom prst="rect">
            <a:avLst/>
          </a:prstGeom>
        </p:spPr>
        <p:txBody>
          <a:bodyPr vert="horz" wrap="square" lIns="0" tIns="1397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3600" b="1" spc="-1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</p:txBody>
      </p:sp>
      <p:sp>
        <p:nvSpPr>
          <p:cNvPr id="19" name="Rectangle 13"/>
          <p:cNvSpPr>
            <a:spLocks noGrp="1" noChangeArrowheads="1"/>
          </p:cNvSpPr>
          <p:nvPr>
            <p:ph idx="1"/>
          </p:nvPr>
        </p:nvSpPr>
        <p:spPr bwMode="auto">
          <a:xfrm>
            <a:off x="1203959" y="1331377"/>
            <a:ext cx="9429206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 Extension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differently-abled users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especially blind users, to code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Provide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AI-powered code suggestions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 (LLM)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like          OpenAI GPT.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Ensure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full accessibility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keyboard shortcuts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compatibility with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screen readers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(NVDA,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VoiceOver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Enable users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save and export code files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easily within VS Code.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Create 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inclusive coding environment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reducing the digital divide and empowering differently-abled programmers.</a:t>
            </a:r>
          </a:p>
        </p:txBody>
      </p:sp>
    </p:spTree>
    <p:extLst>
      <p:ext uri="{BB962C8B-B14F-4D97-AF65-F5344CB8AC3E}">
        <p14:creationId xmlns:p14="http://schemas.microsoft.com/office/powerpoint/2010/main" val="3664224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57175"/>
            <a:ext cx="10515600" cy="1433513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SOFTWARE REQUIREMENTS</a:t>
            </a:r>
            <a:endParaRPr lang="en-IN" sz="32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20539-7144-4945-B20A-62B30D853D34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944114" y="1113471"/>
            <a:ext cx="10683594" cy="6036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Studio Code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NVDA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VoiceOver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ChromeVox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(Screen readers)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&amp; Text-to-Speech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</a:p>
          <a:p>
            <a:pPr>
              <a:lnSpc>
                <a:spcPct val="150000"/>
              </a:lnSpc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APIs &amp; Browser Services   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API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Storage API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Chrome Downloads API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based LLM</a:t>
            </a:r>
            <a:br>
              <a:rPr lang="es-E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87F0D56A-B436-E3CA-1F45-D65738FDB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36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D59E875-7953-705B-5CB6-8202EFF7E5BC}"/>
              </a:ext>
            </a:extLst>
          </p:cNvPr>
          <p:cNvSpPr txBox="1"/>
          <p:nvPr/>
        </p:nvSpPr>
        <p:spPr>
          <a:xfrm flipV="1">
            <a:off x="2640476" y="4183354"/>
            <a:ext cx="5953722" cy="4571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93750"/>
              <a:buFont typeface="Segoe UI Symbol"/>
              <a:buChar char="⚫"/>
              <a:tabLst>
                <a:tab pos="356870" algn="l"/>
                <a:tab pos="357505" algn="l"/>
              </a:tabLst>
            </a:pPr>
            <a:endParaRPr sz="20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555303"/>
            <a:ext cx="1038715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CodeWithDisability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Voice Command-Based Integrated Development Environment for Hands-Free Programming. Elsevier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(2025)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Authors: Param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Shuklaa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Krish Shah 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Impact of Generative AI Coding Assistants on Developers with Visual Impairments (2025)   Author(s): Emily Johnson, Michael Brown, ACM</a:t>
            </a:r>
          </a:p>
          <a:p>
            <a:pPr marL="0" marR="0" lvl="0" indent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AI-Powered Assistive Technologies for Improved Accessibility (2024)</a:t>
            </a:r>
            <a:b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Author(s): Sarah Lee, Daniel Kim, ResearchGate</a:t>
            </a:r>
          </a:p>
        </p:txBody>
      </p:sp>
    </p:spTree>
    <p:extLst>
      <p:ext uri="{BB962C8B-B14F-4D97-AF65-F5344CB8AC3E}">
        <p14:creationId xmlns:p14="http://schemas.microsoft.com/office/powerpoint/2010/main" val="3037757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87F0D56A-B436-E3CA-1F45-D65738FDB6F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lang="en-IN" sz="36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1D59E875-7953-705B-5CB6-8202EFF7E5BC}"/>
              </a:ext>
            </a:extLst>
          </p:cNvPr>
          <p:cNvSpPr txBox="1"/>
          <p:nvPr/>
        </p:nvSpPr>
        <p:spPr>
          <a:xfrm flipV="1">
            <a:off x="2640476" y="4183354"/>
            <a:ext cx="5953722" cy="45719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6870" indent="-344805">
              <a:lnSpc>
                <a:spcPct val="100000"/>
              </a:lnSpc>
              <a:spcBef>
                <a:spcPts val="695"/>
              </a:spcBef>
              <a:buClr>
                <a:srgbClr val="D24717"/>
              </a:buClr>
              <a:buSzPct val="93750"/>
              <a:buFont typeface="Segoe UI Symbol"/>
              <a:buChar char="⚫"/>
              <a:tabLst>
                <a:tab pos="356870" algn="l"/>
                <a:tab pos="357505" algn="l"/>
              </a:tabLst>
            </a:pPr>
            <a:endParaRPr sz="2000" dirty="0">
              <a:solidFill>
                <a:srgbClr val="0070C0"/>
              </a:solidFill>
              <a:latin typeface="Arial MT"/>
              <a:cs typeface="Arial MT"/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79269" y="1685833"/>
            <a:ext cx="11669485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Generative Artificial Intelligence and Web Accessibility: Towards an Inclusive and Sustainable Future(2025)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Author(s): Ahmed Patel, Maria Gonzalez,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ResearchGate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 for Visual Studio Code (2025)</a:t>
            </a:r>
            <a:b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Author(s):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Bartaz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GitHub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33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>
            <a:extLst>
              <a:ext uri="{FF2B5EF4-FFF2-40B4-BE49-F238E27FC236}">
                <a16:creationId xmlns:a16="http://schemas.microsoft.com/office/drawing/2014/main" id="{E04355A8-A94B-C1D1-F2AD-CBE17C450B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87040" y="2560307"/>
            <a:ext cx="609600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  <a:tabLst>
                <a:tab pos="1892300" algn="l"/>
              </a:tabLst>
            </a:pPr>
            <a:r>
              <a:rPr lang="en-US" sz="7200" b="1" dirty="0">
                <a:solidFill>
                  <a:srgbClr val="FF0000"/>
                </a:solidFill>
                <a:latin typeface="Times New Roman"/>
                <a:cs typeface="Times New Roman"/>
              </a:rPr>
              <a:t>THANK YOU</a:t>
            </a:r>
            <a:endParaRPr sz="7200" b="1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9226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929</TotalTime>
  <Words>494</Words>
  <Application>Microsoft Office PowerPoint</Application>
  <PresentationFormat>Widescreen</PresentationFormat>
  <Paragraphs>70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Arial MT</vt:lpstr>
      <vt:lpstr>Calibri</vt:lpstr>
      <vt:lpstr>Calibri Light</vt:lpstr>
      <vt:lpstr>Segoe UI Symbol</vt:lpstr>
      <vt:lpstr>Times New Roman</vt:lpstr>
      <vt:lpstr>Wingdings 2</vt:lpstr>
      <vt:lpstr>Office Theme</vt:lpstr>
      <vt:lpstr>PowerPoint Presentation</vt:lpstr>
      <vt:lpstr>CONTENTS</vt:lpstr>
      <vt:lpstr>INTRODUCTION</vt:lpstr>
      <vt:lpstr>PROBLEM STATEMENT</vt:lpstr>
      <vt:lpstr>PowerPoint Presentation</vt:lpstr>
      <vt:lpstr>SOFTWARE REQUIREMENTS</vt:lpstr>
      <vt:lpstr>REFERENCES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m.santheepkumar107@gmail.com</dc:creator>
  <cp:lastModifiedBy>Aashif AK</cp:lastModifiedBy>
  <cp:revision>58</cp:revision>
  <dcterms:created xsi:type="dcterms:W3CDTF">2023-03-16T08:45:29Z</dcterms:created>
  <dcterms:modified xsi:type="dcterms:W3CDTF">2026-01-05T14:17:01Z</dcterms:modified>
</cp:coreProperties>
</file>